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38"/>
  </p:notesMasterIdLst>
  <p:sldIdLst>
    <p:sldId id="256" r:id="rId5"/>
    <p:sldId id="257" r:id="rId6"/>
    <p:sldId id="258" r:id="rId7"/>
    <p:sldId id="259" r:id="rId8"/>
    <p:sldId id="260" r:id="rId9"/>
    <p:sldId id="267" r:id="rId10"/>
    <p:sldId id="263" r:id="rId11"/>
    <p:sldId id="292" r:id="rId12"/>
    <p:sldId id="270" r:id="rId13"/>
    <p:sldId id="294" r:id="rId14"/>
    <p:sldId id="298" r:id="rId15"/>
    <p:sldId id="297" r:id="rId16"/>
    <p:sldId id="300" r:id="rId17"/>
    <p:sldId id="303" r:id="rId18"/>
    <p:sldId id="266" r:id="rId19"/>
    <p:sldId id="264" r:id="rId20"/>
    <p:sldId id="280" r:id="rId21"/>
    <p:sldId id="302" r:id="rId22"/>
    <p:sldId id="276" r:id="rId23"/>
    <p:sldId id="304" r:id="rId24"/>
    <p:sldId id="278" r:id="rId25"/>
    <p:sldId id="305" r:id="rId26"/>
    <p:sldId id="306" r:id="rId27"/>
    <p:sldId id="279" r:id="rId28"/>
    <p:sldId id="272" r:id="rId29"/>
    <p:sldId id="308" r:id="rId30"/>
    <p:sldId id="281" r:id="rId31"/>
    <p:sldId id="282" r:id="rId32"/>
    <p:sldId id="283" r:id="rId33"/>
    <p:sldId id="284" r:id="rId34"/>
    <p:sldId id="285" r:id="rId35"/>
    <p:sldId id="286" r:id="rId36"/>
    <p:sldId id="287" r:id="rId37"/>
  </p:sldIdLst>
  <p:sldSz cx="18288000" cy="10287000"/>
  <p:notesSz cx="6858000" cy="9144000"/>
  <p:embeddedFontLst>
    <p:embeddedFont>
      <p:font typeface="Aileron" panose="020B0604020202020204" charset="0"/>
      <p:regular r:id="rId39"/>
    </p:embeddedFont>
    <p:embeddedFont>
      <p:font typeface="Aileron Heavy" panose="020B0604020202020204" charset="0"/>
      <p:regular r:id="rId40"/>
    </p:embeddedFont>
    <p:embeddedFont>
      <p:font typeface="Aileron Ultra-Bold" panose="020B0604020202020204" charset="0"/>
      <p:regular r:id="rId41"/>
    </p:embeddedFont>
    <p:embeddedFont>
      <p:font typeface="Arial Black" panose="020B0A04020102020204" pitchFamily="34" charset="0"/>
      <p:bold r:id="rId42"/>
    </p:embeddedFont>
    <p:embeddedFont>
      <p:font typeface="Arimo" panose="020B0604020202020204" charset="0"/>
      <p:regular r:id="rId43"/>
    </p:embeddedFont>
    <p:embeddedFont>
      <p:font typeface="Arimo Bold" panose="020B0604020202020204" charset="0"/>
      <p:regular r:id="rId44"/>
    </p:embeddedFont>
    <p:embeddedFont>
      <p:font typeface="Open Sans Bold" panose="020B0604020202020204" charset="0"/>
      <p:regular r:id="rId45"/>
    </p:embeddedFont>
    <p:embeddedFont>
      <p:font typeface="TT Rounds Condensed" panose="020B0604020202020204" charset="0"/>
      <p:regular r:id="rId46"/>
    </p:embeddedFont>
    <p:embeddedFont>
      <p:font typeface="TT Rounds Condensed Bold" panose="020B0604020202020204" charset="0"/>
      <p:regular r:id="rId4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a:srgbClr val="0076C4"/>
    <a:srgbClr val="00AFEF"/>
    <a:srgbClr val="ADCA61"/>
    <a:srgbClr val="5D8A45"/>
    <a:srgbClr val="456F4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60" d="100"/>
          <a:sy n="60" d="100"/>
        </p:scale>
        <p:origin x="370" y="-35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1.fntdata"/><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4.fntdata"/><Relationship Id="rId47" Type="http://schemas.openxmlformats.org/officeDocument/2006/relationships/font" Target="fonts/font9.fntdata"/><Relationship Id="rId50"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font" Target="fonts/font2.fntdata"/><Relationship Id="rId45" Type="http://schemas.openxmlformats.org/officeDocument/2006/relationships/font" Target="fonts/font7.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6.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5.fntdata"/><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 Id="rId46" Type="http://schemas.openxmlformats.org/officeDocument/2006/relationships/font" Target="fonts/font8.fntdata"/><Relationship Id="rId20" Type="http://schemas.openxmlformats.org/officeDocument/2006/relationships/slide" Target="slides/slide16.xml"/><Relationship Id="rId41" Type="http://schemas.openxmlformats.org/officeDocument/2006/relationships/font" Target="fonts/font3.fntdata"/><Relationship Id="rId1" Type="http://schemas.openxmlformats.org/officeDocument/2006/relationships/customXml" Target="../customXml/item1.xml"/><Relationship Id="rId6"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SN"/>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ED810A-2FFA-49CD-8FCA-1CE4B38C97E6}" type="datetimeFigureOut">
              <a:rPr lang="fr-SN" smtClean="0"/>
              <a:t>25/07/2024</a:t>
            </a:fld>
            <a:endParaRPr lang="fr-SN"/>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SN"/>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SN"/>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SN"/>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F1F6AB-657F-4612-9C73-A857ED24E125}" type="slidenum">
              <a:rPr lang="fr-SN" smtClean="0"/>
              <a:t>‹N°›</a:t>
            </a:fld>
            <a:endParaRPr lang="fr-SN"/>
          </a:p>
        </p:txBody>
      </p:sp>
    </p:spTree>
    <p:extLst>
      <p:ext uri="{BB962C8B-B14F-4D97-AF65-F5344CB8AC3E}">
        <p14:creationId xmlns:p14="http://schemas.microsoft.com/office/powerpoint/2010/main" val="1646659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SN" dirty="0"/>
          </a:p>
        </p:txBody>
      </p:sp>
      <p:sp>
        <p:nvSpPr>
          <p:cNvPr id="4" name="Espace réservé du numéro de diapositive 3"/>
          <p:cNvSpPr>
            <a:spLocks noGrp="1"/>
          </p:cNvSpPr>
          <p:nvPr>
            <p:ph type="sldNum" sz="quarter" idx="5"/>
          </p:nvPr>
        </p:nvSpPr>
        <p:spPr/>
        <p:txBody>
          <a:bodyPr/>
          <a:lstStyle/>
          <a:p>
            <a:fld id="{FDF1F6AB-657F-4612-9C73-A857ED24E125}" type="slidenum">
              <a:rPr lang="fr-SN" smtClean="0"/>
              <a:t>17</a:t>
            </a:fld>
            <a:endParaRPr lang="fr-SN"/>
          </a:p>
        </p:txBody>
      </p:sp>
    </p:spTree>
    <p:extLst>
      <p:ext uri="{BB962C8B-B14F-4D97-AF65-F5344CB8AC3E}">
        <p14:creationId xmlns:p14="http://schemas.microsoft.com/office/powerpoint/2010/main" val="16410760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SN" dirty="0"/>
          </a:p>
        </p:txBody>
      </p:sp>
      <p:sp>
        <p:nvSpPr>
          <p:cNvPr id="4" name="Espace réservé du numéro de diapositive 3"/>
          <p:cNvSpPr>
            <a:spLocks noGrp="1"/>
          </p:cNvSpPr>
          <p:nvPr>
            <p:ph type="sldNum" sz="quarter" idx="5"/>
          </p:nvPr>
        </p:nvSpPr>
        <p:spPr/>
        <p:txBody>
          <a:bodyPr/>
          <a:lstStyle/>
          <a:p>
            <a:fld id="{FDF1F6AB-657F-4612-9C73-A857ED24E125}" type="slidenum">
              <a:rPr lang="fr-SN" smtClean="0"/>
              <a:t>25</a:t>
            </a:fld>
            <a:endParaRPr lang="fr-SN"/>
          </a:p>
        </p:txBody>
      </p:sp>
    </p:spTree>
    <p:extLst>
      <p:ext uri="{BB962C8B-B14F-4D97-AF65-F5344CB8AC3E}">
        <p14:creationId xmlns:p14="http://schemas.microsoft.com/office/powerpoint/2010/main" val="33032688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SN" dirty="0"/>
          </a:p>
        </p:txBody>
      </p:sp>
      <p:sp>
        <p:nvSpPr>
          <p:cNvPr id="4" name="Espace réservé du numéro de diapositive 3"/>
          <p:cNvSpPr>
            <a:spLocks noGrp="1"/>
          </p:cNvSpPr>
          <p:nvPr>
            <p:ph type="sldNum" sz="quarter" idx="5"/>
          </p:nvPr>
        </p:nvSpPr>
        <p:spPr/>
        <p:txBody>
          <a:bodyPr/>
          <a:lstStyle/>
          <a:p>
            <a:fld id="{FDF1F6AB-657F-4612-9C73-A857ED24E125}" type="slidenum">
              <a:rPr lang="fr-SN" smtClean="0"/>
              <a:t>26</a:t>
            </a:fld>
            <a:endParaRPr lang="fr-SN"/>
          </a:p>
        </p:txBody>
      </p:sp>
    </p:spTree>
    <p:extLst>
      <p:ext uri="{BB962C8B-B14F-4D97-AF65-F5344CB8AC3E}">
        <p14:creationId xmlns:p14="http://schemas.microsoft.com/office/powerpoint/2010/main" val="15497914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7/24/2024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7/24/2024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jpe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9.jpeg"/><Relationship Id="rId5" Type="http://schemas.openxmlformats.org/officeDocument/2006/relationships/image" Target="../media/image8.pn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6.svg"/><Relationship Id="rId5" Type="http://schemas.openxmlformats.org/officeDocument/2006/relationships/image" Target="../media/image15.pn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png"/></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21.jpeg"/><Relationship Id="rId4" Type="http://schemas.openxmlformats.org/officeDocument/2006/relationships/image" Target="../media/image4.sv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23.jpeg"/><Relationship Id="rId4" Type="http://schemas.openxmlformats.org/officeDocument/2006/relationships/image" Target="../media/image4.sv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4.svg"/></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28.jpeg"/><Relationship Id="rId5" Type="http://schemas.openxmlformats.org/officeDocument/2006/relationships/image" Target="../media/image27.png"/><Relationship Id="rId4" Type="http://schemas.openxmlformats.org/officeDocument/2006/relationships/image" Target="../media/image26.jpe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7.png"/><Relationship Id="rId7" Type="http://schemas.openxmlformats.org/officeDocument/2006/relationships/image" Target="../media/image40.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38.png"/><Relationship Id="rId10" Type="http://schemas.openxmlformats.org/officeDocument/2006/relationships/image" Target="../media/image43.jpeg"/><Relationship Id="rId4" Type="http://schemas.openxmlformats.org/officeDocument/2006/relationships/image" Target="../media/image37.jpeg"/><Relationship Id="rId9" Type="http://schemas.openxmlformats.org/officeDocument/2006/relationships/image" Target="../media/image42.png"/></Relationships>
</file>

<file path=ppt/slides/_rels/slide26.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7.png"/><Relationship Id="rId7" Type="http://schemas.openxmlformats.org/officeDocument/2006/relationships/image" Target="../media/image47.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51.png"/><Relationship Id="rId4" Type="http://schemas.openxmlformats.org/officeDocument/2006/relationships/image" Target="../media/image50.png"/></Relationships>
</file>

<file path=ppt/slides/_rels/slide2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54.png"/><Relationship Id="rId4" Type="http://schemas.openxmlformats.org/officeDocument/2006/relationships/image" Target="../media/image53.png"/></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7.xml"/><Relationship Id="rId4" Type="http://schemas.openxmlformats.org/officeDocument/2006/relationships/image" Target="../media/image5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fr-SN"/>
          </a:p>
        </p:txBody>
      </p:sp>
      <p:sp>
        <p:nvSpPr>
          <p:cNvPr id="3" name="TextBox 3"/>
          <p:cNvSpPr txBox="1"/>
          <p:nvPr/>
        </p:nvSpPr>
        <p:spPr>
          <a:xfrm>
            <a:off x="13899152" y="7458371"/>
            <a:ext cx="3021343" cy="2078727"/>
          </a:xfrm>
          <a:prstGeom prst="rect">
            <a:avLst/>
          </a:prstGeom>
        </p:spPr>
        <p:txBody>
          <a:bodyPr lIns="0" tIns="0" rIns="0" bIns="0" rtlCol="0" anchor="t">
            <a:spAutoFit/>
          </a:bodyPr>
          <a:lstStyle/>
          <a:p>
            <a:pPr algn="l">
              <a:lnSpc>
                <a:spcPts val="4860"/>
              </a:lnSpc>
            </a:pPr>
            <a:r>
              <a:rPr lang="en-US" sz="2700" spc="25">
                <a:solidFill>
                  <a:srgbClr val="000000"/>
                </a:solidFill>
                <a:latin typeface="TT Rounds Condensed Bold"/>
                <a:ea typeface="TT Rounds Condensed Bold"/>
                <a:cs typeface="TT Rounds Condensed Bold"/>
                <a:sym typeface="TT Rounds Condensed Bold"/>
              </a:rPr>
              <a:t>Présenté par :</a:t>
            </a:r>
          </a:p>
          <a:p>
            <a:pPr algn="l">
              <a:lnSpc>
                <a:spcPts val="3240"/>
              </a:lnSpc>
            </a:pPr>
            <a:r>
              <a:rPr lang="en-US" sz="2700" spc="25">
                <a:solidFill>
                  <a:srgbClr val="000000"/>
                </a:solidFill>
                <a:latin typeface="TT Rounds Condensed"/>
                <a:ea typeface="TT Rounds Condensed"/>
                <a:cs typeface="TT Rounds Condensed"/>
                <a:sym typeface="TT Rounds Condensed"/>
              </a:rPr>
              <a:t>Abdou Aziz KANE  Marame NIANG </a:t>
            </a:r>
          </a:p>
          <a:p>
            <a:pPr algn="l">
              <a:lnSpc>
                <a:spcPts val="3240"/>
              </a:lnSpc>
            </a:pPr>
            <a:endParaRPr lang="en-US" sz="2700" spc="25">
              <a:solidFill>
                <a:srgbClr val="000000"/>
              </a:solidFill>
              <a:latin typeface="TT Rounds Condensed"/>
              <a:ea typeface="TT Rounds Condensed"/>
              <a:cs typeface="TT Rounds Condensed"/>
              <a:sym typeface="TT Rounds Condensed"/>
            </a:endParaRPr>
          </a:p>
        </p:txBody>
      </p:sp>
      <p:sp>
        <p:nvSpPr>
          <p:cNvPr id="4" name="TextBox 4"/>
          <p:cNvSpPr txBox="1"/>
          <p:nvPr/>
        </p:nvSpPr>
        <p:spPr>
          <a:xfrm>
            <a:off x="8566701" y="4365723"/>
            <a:ext cx="8865585" cy="923925"/>
          </a:xfrm>
          <a:prstGeom prst="rect">
            <a:avLst/>
          </a:prstGeom>
        </p:spPr>
        <p:txBody>
          <a:bodyPr lIns="0" tIns="0" rIns="0" bIns="0" rtlCol="0" anchor="t">
            <a:spAutoFit/>
          </a:bodyPr>
          <a:lstStyle/>
          <a:p>
            <a:pPr algn="ctr">
              <a:lnSpc>
                <a:spcPts val="3600"/>
              </a:lnSpc>
            </a:pPr>
            <a:r>
              <a:rPr lang="en-US" sz="3000" spc="28" dirty="0">
                <a:solidFill>
                  <a:srgbClr val="000000"/>
                </a:solidFill>
                <a:latin typeface="TT Rounds Condensed Bold"/>
                <a:ea typeface="TT Rounds Condensed Bold"/>
                <a:cs typeface="TT Rounds Condensed Bold"/>
                <a:sym typeface="TT Rounds Condensed Bold"/>
              </a:rPr>
              <a:t>Gestion </a:t>
            </a:r>
            <a:r>
              <a:rPr lang="en-US" sz="3000" spc="28" dirty="0" err="1">
                <a:solidFill>
                  <a:srgbClr val="000000"/>
                </a:solidFill>
                <a:latin typeface="TT Rounds Condensed Bold"/>
                <a:ea typeface="TT Rounds Condensed Bold"/>
                <a:cs typeface="TT Rounds Condensed Bold"/>
                <a:sym typeface="TT Rounds Condensed Bold"/>
              </a:rPr>
              <a:t>automatisée</a:t>
            </a:r>
            <a:r>
              <a:rPr lang="en-US" sz="3000" spc="28" dirty="0">
                <a:solidFill>
                  <a:srgbClr val="000000"/>
                </a:solidFill>
                <a:latin typeface="TT Rounds Condensed Bold"/>
                <a:ea typeface="TT Rounds Condensed Bold"/>
                <a:cs typeface="TT Rounds Condensed Bold"/>
                <a:sym typeface="TT Rounds Condensed Bold"/>
              </a:rPr>
              <a:t> des </a:t>
            </a:r>
            <a:r>
              <a:rPr lang="en-US" sz="3000" spc="28" dirty="0" err="1">
                <a:solidFill>
                  <a:srgbClr val="000000"/>
                </a:solidFill>
                <a:latin typeface="TT Rounds Condensed Bold"/>
                <a:ea typeface="TT Rounds Condensed Bold"/>
                <a:cs typeface="TT Rounds Condensed Bold"/>
                <a:sym typeface="TT Rounds Condensed Bold"/>
              </a:rPr>
              <a:t>ordures</a:t>
            </a:r>
            <a:r>
              <a:rPr lang="en-US" sz="3000" spc="28" dirty="0">
                <a:solidFill>
                  <a:srgbClr val="000000"/>
                </a:solidFill>
                <a:latin typeface="TT Rounds Condensed Bold"/>
                <a:ea typeface="TT Rounds Condensed Bold"/>
                <a:cs typeface="TT Rounds Condensed Bold"/>
                <a:sym typeface="TT Rounds Condensed Bold"/>
              </a:rPr>
              <a:t> mise </a:t>
            </a:r>
            <a:r>
              <a:rPr lang="en-US" sz="3000" spc="28" dirty="0" err="1">
                <a:solidFill>
                  <a:srgbClr val="000000"/>
                </a:solidFill>
                <a:latin typeface="TT Rounds Condensed Bold"/>
                <a:ea typeface="TT Rounds Condensed Bold"/>
                <a:cs typeface="TT Rounds Condensed Bold"/>
                <a:sym typeface="TT Rounds Condensed Bold"/>
              </a:rPr>
              <a:t>en</a:t>
            </a:r>
            <a:r>
              <a:rPr lang="en-US" sz="3000" spc="28" dirty="0">
                <a:solidFill>
                  <a:srgbClr val="000000"/>
                </a:solidFill>
                <a:latin typeface="TT Rounds Condensed Bold"/>
                <a:ea typeface="TT Rounds Condensed Bold"/>
                <a:cs typeface="TT Rounds Condensed Bold"/>
                <a:sym typeface="TT Rounds Condensed Bold"/>
              </a:rPr>
              <a:t> place d'un </a:t>
            </a:r>
            <a:r>
              <a:rPr lang="en-US" sz="3000" spc="28" dirty="0" err="1">
                <a:solidFill>
                  <a:srgbClr val="000000"/>
                </a:solidFill>
                <a:latin typeface="TT Rounds Condensed Bold"/>
                <a:ea typeface="TT Rounds Condensed Bold"/>
                <a:cs typeface="TT Rounds Condensed Bold"/>
                <a:sym typeface="TT Rounds Condensed Bold"/>
              </a:rPr>
              <a:t>système</a:t>
            </a:r>
            <a:r>
              <a:rPr lang="en-US" sz="3000" spc="28" dirty="0">
                <a:solidFill>
                  <a:srgbClr val="000000"/>
                </a:solidFill>
                <a:latin typeface="TT Rounds Condensed Bold"/>
                <a:ea typeface="TT Rounds Condensed Bold"/>
                <a:cs typeface="TT Rounds Condensed Bold"/>
                <a:sym typeface="TT Rounds Condensed Bold"/>
              </a:rPr>
              <a:t> </a:t>
            </a:r>
            <a:r>
              <a:rPr lang="en-US" sz="3000" spc="28" dirty="0" err="1">
                <a:solidFill>
                  <a:srgbClr val="000000"/>
                </a:solidFill>
                <a:latin typeface="TT Rounds Condensed Bold"/>
                <a:ea typeface="TT Rounds Condensed Bold"/>
                <a:cs typeface="TT Rounds Condensed Bold"/>
                <a:sym typeface="TT Rounds Condensed Bold"/>
              </a:rPr>
              <a:t>alerte</a:t>
            </a:r>
            <a:r>
              <a:rPr lang="en-US" sz="3000" spc="28" dirty="0">
                <a:solidFill>
                  <a:srgbClr val="000000"/>
                </a:solidFill>
                <a:latin typeface="TT Rounds Condensed Bold"/>
                <a:ea typeface="TT Rounds Condensed Bold"/>
                <a:cs typeface="TT Rounds Condensed Bold"/>
                <a:sym typeface="TT Rounds Condensed Bold"/>
              </a:rPr>
              <a:t> d'un point de </a:t>
            </a:r>
            <a:r>
              <a:rPr lang="en-US" sz="3000" spc="28" dirty="0" err="1">
                <a:solidFill>
                  <a:srgbClr val="000000"/>
                </a:solidFill>
                <a:latin typeface="TT Rounds Condensed Bold"/>
                <a:ea typeface="TT Rounds Condensed Bold"/>
                <a:cs typeface="TT Rounds Condensed Bold"/>
                <a:sym typeface="TT Rounds Condensed Bold"/>
              </a:rPr>
              <a:t>collecte</a:t>
            </a:r>
            <a:r>
              <a:rPr lang="en-US" sz="3000" spc="28" dirty="0">
                <a:solidFill>
                  <a:srgbClr val="000000"/>
                </a:solidFill>
                <a:latin typeface="TT Rounds Condensed Bold"/>
                <a:ea typeface="TT Rounds Condensed Bold"/>
                <a:cs typeface="TT Rounds Condensed Bold"/>
                <a:sym typeface="TT Rounds Condensed Bold"/>
              </a:rPr>
              <a:t> UCG </a:t>
            </a:r>
          </a:p>
        </p:txBody>
      </p:sp>
      <p:sp>
        <p:nvSpPr>
          <p:cNvPr id="5" name="TextBox 5"/>
          <p:cNvSpPr txBox="1"/>
          <p:nvPr/>
        </p:nvSpPr>
        <p:spPr>
          <a:xfrm>
            <a:off x="9235440" y="5931295"/>
            <a:ext cx="4788218" cy="379751"/>
          </a:xfrm>
          <a:prstGeom prst="rect">
            <a:avLst/>
          </a:prstGeom>
        </p:spPr>
        <p:txBody>
          <a:bodyPr lIns="0" tIns="0" rIns="0" bIns="0" rtlCol="0" anchor="t">
            <a:spAutoFit/>
          </a:bodyPr>
          <a:lstStyle/>
          <a:p>
            <a:pPr algn="ctr">
              <a:lnSpc>
                <a:spcPts val="2520"/>
              </a:lnSpc>
            </a:pPr>
            <a:r>
              <a:rPr lang="en-US" sz="2100" spc="19">
                <a:solidFill>
                  <a:srgbClr val="FFFFFF"/>
                </a:solidFill>
                <a:latin typeface="TT Rounds Condensed"/>
                <a:ea typeface="TT Rounds Condensed"/>
                <a:cs typeface="TT Rounds Condensed"/>
                <a:sym typeface="TT Rounds Condensed"/>
              </a:rPr>
              <a:t>Mémoire de Master</a:t>
            </a:r>
          </a:p>
        </p:txBody>
      </p:sp>
      <p:sp>
        <p:nvSpPr>
          <p:cNvPr id="6" name="TextBox 6"/>
          <p:cNvSpPr txBox="1"/>
          <p:nvPr/>
        </p:nvSpPr>
        <p:spPr>
          <a:xfrm>
            <a:off x="6103914" y="2350602"/>
            <a:ext cx="6804139" cy="1303080"/>
          </a:xfrm>
          <a:prstGeom prst="rect">
            <a:avLst/>
          </a:prstGeom>
        </p:spPr>
        <p:txBody>
          <a:bodyPr lIns="0" tIns="0" rIns="0" bIns="0" rtlCol="0" anchor="t">
            <a:spAutoFit/>
          </a:bodyPr>
          <a:lstStyle/>
          <a:p>
            <a:pPr algn="ctr">
              <a:lnSpc>
                <a:spcPts val="3240"/>
              </a:lnSpc>
            </a:pPr>
            <a:r>
              <a:rPr lang="en-US" sz="2700" spc="25">
                <a:solidFill>
                  <a:srgbClr val="264356"/>
                </a:solidFill>
                <a:latin typeface="TT Rounds Condensed Bold"/>
                <a:ea typeface="TT Rounds Condensed Bold"/>
                <a:cs typeface="TT Rounds Condensed Bold"/>
                <a:sym typeface="TT Rounds Condensed Bold"/>
              </a:rPr>
              <a:t>Pole Sciences, Technologies et Numérique</a:t>
            </a:r>
          </a:p>
          <a:p>
            <a:pPr algn="ctr">
              <a:lnSpc>
                <a:spcPts val="3240"/>
              </a:lnSpc>
            </a:pPr>
            <a:endParaRPr lang="en-US" sz="2700" spc="25">
              <a:solidFill>
                <a:srgbClr val="264356"/>
              </a:solidFill>
              <a:latin typeface="TT Rounds Condensed Bold"/>
              <a:ea typeface="TT Rounds Condensed Bold"/>
              <a:cs typeface="TT Rounds Condensed Bold"/>
              <a:sym typeface="TT Rounds Condensed Bold"/>
            </a:endParaRPr>
          </a:p>
          <a:p>
            <a:pPr algn="ctr">
              <a:lnSpc>
                <a:spcPts val="3240"/>
              </a:lnSpc>
            </a:pPr>
            <a:r>
              <a:rPr lang="en-US" sz="2700" spc="25">
                <a:solidFill>
                  <a:srgbClr val="264356"/>
                </a:solidFill>
                <a:latin typeface="TT Rounds Condensed Bold"/>
                <a:ea typeface="TT Rounds Condensed Bold"/>
                <a:cs typeface="TT Rounds Condensed Bold"/>
                <a:sym typeface="TT Rounds Condensed Bold"/>
              </a:rPr>
              <a:t>Ingénierie Logicielle</a:t>
            </a:r>
          </a:p>
        </p:txBody>
      </p:sp>
      <p:sp>
        <p:nvSpPr>
          <p:cNvPr id="7" name="TextBox 7"/>
          <p:cNvSpPr txBox="1"/>
          <p:nvPr/>
        </p:nvSpPr>
        <p:spPr>
          <a:xfrm>
            <a:off x="7565324" y="7457704"/>
            <a:ext cx="3725469" cy="1487805"/>
          </a:xfrm>
          <a:prstGeom prst="rect">
            <a:avLst/>
          </a:prstGeom>
        </p:spPr>
        <p:txBody>
          <a:bodyPr lIns="0" tIns="0" rIns="0" bIns="0" rtlCol="0" anchor="t">
            <a:spAutoFit/>
          </a:bodyPr>
          <a:lstStyle/>
          <a:p>
            <a:pPr algn="l">
              <a:lnSpc>
                <a:spcPts val="4860"/>
              </a:lnSpc>
            </a:pPr>
            <a:r>
              <a:rPr lang="en-US" sz="2700" spc="25">
                <a:solidFill>
                  <a:srgbClr val="000000"/>
                </a:solidFill>
                <a:latin typeface="TT Rounds Condensed Bold"/>
                <a:ea typeface="TT Rounds Condensed Bold"/>
                <a:cs typeface="TT Rounds Condensed Bold"/>
                <a:sym typeface="TT Rounds Condensed Bold"/>
              </a:rPr>
              <a:t>Professeurs encadreurs</a:t>
            </a:r>
            <a:r>
              <a:rPr lang="en-US" sz="2700" spc="25">
                <a:solidFill>
                  <a:srgbClr val="000000"/>
                </a:solidFill>
                <a:latin typeface="TT Rounds Condensed"/>
                <a:ea typeface="TT Rounds Condensed"/>
                <a:cs typeface="TT Rounds Condensed"/>
                <a:sym typeface="TT Rounds Condensed"/>
              </a:rPr>
              <a:t>:</a:t>
            </a:r>
          </a:p>
          <a:p>
            <a:pPr algn="l">
              <a:lnSpc>
                <a:spcPts val="3240"/>
              </a:lnSpc>
            </a:pPr>
            <a:r>
              <a:rPr lang="en-US" sz="2700" spc="24">
                <a:solidFill>
                  <a:srgbClr val="000000"/>
                </a:solidFill>
                <a:latin typeface="TT Rounds Condensed"/>
                <a:ea typeface="TT Rounds Condensed"/>
                <a:cs typeface="TT Rounds Condensed"/>
                <a:sym typeface="TT Rounds Condensed"/>
              </a:rPr>
              <a:t>Dr Ndéye Arame DIAGO </a:t>
            </a:r>
          </a:p>
          <a:p>
            <a:pPr algn="l">
              <a:lnSpc>
                <a:spcPts val="3240"/>
              </a:lnSpc>
            </a:pPr>
            <a:r>
              <a:rPr lang="en-US" sz="2700" spc="25">
                <a:solidFill>
                  <a:srgbClr val="000000"/>
                </a:solidFill>
                <a:latin typeface="TT Rounds Condensed"/>
                <a:ea typeface="TT Rounds Condensed"/>
                <a:cs typeface="TT Rounds Condensed"/>
                <a:sym typeface="TT Rounds Condensed"/>
              </a:rPr>
              <a:t>Dr Marie Hélène MBALLO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fr-SN" dirty="0"/>
          </a:p>
        </p:txBody>
      </p:sp>
      <p:grpSp>
        <p:nvGrpSpPr>
          <p:cNvPr id="3" name="Group 3"/>
          <p:cNvGrpSpPr/>
          <p:nvPr/>
        </p:nvGrpSpPr>
        <p:grpSpPr>
          <a:xfrm>
            <a:off x="9614484" y="2240660"/>
            <a:ext cx="6683828" cy="7641771"/>
            <a:chOff x="0" y="0"/>
            <a:chExt cx="8911770" cy="10189028"/>
          </a:xfrm>
        </p:grpSpPr>
        <p:sp>
          <p:nvSpPr>
            <p:cNvPr id="4" name="Freeform 4"/>
            <p:cNvSpPr/>
            <p:nvPr/>
          </p:nvSpPr>
          <p:spPr>
            <a:xfrm>
              <a:off x="0" y="0"/>
              <a:ext cx="8911590" cy="10189083"/>
            </a:xfrm>
            <a:custGeom>
              <a:avLst/>
              <a:gdLst/>
              <a:ahLst/>
              <a:cxnLst/>
              <a:rect l="l" t="t" r="r" b="b"/>
              <a:pathLst>
                <a:path w="8911590" h="10189083">
                  <a:moveTo>
                    <a:pt x="0" y="1485265"/>
                  </a:moveTo>
                  <a:cubicBezTo>
                    <a:pt x="0" y="664972"/>
                    <a:pt x="664972" y="0"/>
                    <a:pt x="1485265" y="0"/>
                  </a:cubicBezTo>
                  <a:lnTo>
                    <a:pt x="7426325" y="0"/>
                  </a:lnTo>
                  <a:cubicBezTo>
                    <a:pt x="8246618" y="0"/>
                    <a:pt x="8911590" y="664972"/>
                    <a:pt x="8911590" y="1485265"/>
                  </a:cubicBezTo>
                  <a:lnTo>
                    <a:pt x="8911590" y="8703691"/>
                  </a:lnTo>
                  <a:cubicBezTo>
                    <a:pt x="8911590" y="9523985"/>
                    <a:pt x="8246618" y="10188956"/>
                    <a:pt x="7426325" y="10188956"/>
                  </a:cubicBezTo>
                  <a:lnTo>
                    <a:pt x="1485265" y="10188956"/>
                  </a:lnTo>
                  <a:cubicBezTo>
                    <a:pt x="664972" y="10189083"/>
                    <a:pt x="0" y="9523984"/>
                    <a:pt x="0" y="8703691"/>
                  </a:cubicBezTo>
                  <a:close/>
                </a:path>
              </a:pathLst>
            </a:custGeom>
            <a:gradFill rotWithShape="1">
              <a:gsLst>
                <a:gs pos="0">
                  <a:srgbClr val="00B0F0">
                    <a:alpha val="100000"/>
                  </a:srgbClr>
                </a:gs>
                <a:gs pos="100000">
                  <a:srgbClr val="0070C0">
                    <a:alpha val="100000"/>
                  </a:srgbClr>
                </a:gs>
              </a:gsLst>
              <a:lin ang="10800000"/>
            </a:gradFill>
          </p:spPr>
          <p:txBody>
            <a:bodyPr/>
            <a:lstStyle/>
            <a:p>
              <a:endParaRPr lang="fr-SN" dirty="0"/>
            </a:p>
          </p:txBody>
        </p:sp>
      </p:grpSp>
      <p:sp>
        <p:nvSpPr>
          <p:cNvPr id="5" name="Freeform 5"/>
          <p:cNvSpPr/>
          <p:nvPr/>
        </p:nvSpPr>
        <p:spPr>
          <a:xfrm>
            <a:off x="9993268" y="6777484"/>
            <a:ext cx="1202271" cy="2446824"/>
          </a:xfrm>
          <a:custGeom>
            <a:avLst/>
            <a:gdLst/>
            <a:ahLst/>
            <a:cxnLst/>
            <a:rect l="l" t="t" r="r" b="b"/>
            <a:pathLst>
              <a:path w="1202271" h="2446824">
                <a:moveTo>
                  <a:pt x="0" y="0"/>
                </a:moveTo>
                <a:lnTo>
                  <a:pt x="1202272" y="0"/>
                </a:lnTo>
                <a:lnTo>
                  <a:pt x="1202272" y="2446824"/>
                </a:lnTo>
                <a:lnTo>
                  <a:pt x="0" y="244682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fr-SN"/>
          </a:p>
        </p:txBody>
      </p:sp>
      <p:sp>
        <p:nvSpPr>
          <p:cNvPr id="6" name="TextBox 6"/>
          <p:cNvSpPr txBox="1"/>
          <p:nvPr/>
        </p:nvSpPr>
        <p:spPr>
          <a:xfrm>
            <a:off x="1185280" y="2072759"/>
            <a:ext cx="4086849" cy="540276"/>
          </a:xfrm>
          <a:prstGeom prst="rect">
            <a:avLst/>
          </a:prstGeom>
        </p:spPr>
        <p:txBody>
          <a:bodyPr lIns="0" tIns="0" rIns="0" bIns="0" rtlCol="0" anchor="t">
            <a:spAutoFit/>
          </a:bodyPr>
          <a:lstStyle/>
          <a:p>
            <a:pPr algn="l">
              <a:lnSpc>
                <a:spcPts val="6000"/>
              </a:lnSpc>
            </a:pPr>
            <a:r>
              <a:rPr lang="en-US" sz="7800">
                <a:solidFill>
                  <a:srgbClr val="000000"/>
                </a:solidFill>
                <a:latin typeface="Arimo"/>
                <a:ea typeface="Arimo"/>
                <a:cs typeface="Arimo"/>
                <a:sym typeface="Arimo"/>
              </a:rPr>
              <a:t>Plan</a:t>
            </a:r>
          </a:p>
        </p:txBody>
      </p:sp>
      <p:grpSp>
        <p:nvGrpSpPr>
          <p:cNvPr id="7" name="Group 7"/>
          <p:cNvGrpSpPr/>
          <p:nvPr/>
        </p:nvGrpSpPr>
        <p:grpSpPr>
          <a:xfrm>
            <a:off x="848184" y="2976323"/>
            <a:ext cx="7828732" cy="561691"/>
            <a:chOff x="0" y="0"/>
            <a:chExt cx="10438310" cy="748922"/>
          </a:xfrm>
        </p:grpSpPr>
        <p:sp>
          <p:nvSpPr>
            <p:cNvPr id="8" name="Freeform 8"/>
            <p:cNvSpPr/>
            <p:nvPr/>
          </p:nvSpPr>
          <p:spPr>
            <a:xfrm>
              <a:off x="0" y="0"/>
              <a:ext cx="10438257" cy="748919"/>
            </a:xfrm>
            <a:custGeom>
              <a:avLst/>
              <a:gdLst/>
              <a:ahLst/>
              <a:cxnLst/>
              <a:rect l="l" t="t" r="r" b="b"/>
              <a:pathLst>
                <a:path w="10438257" h="748919">
                  <a:moveTo>
                    <a:pt x="0" y="0"/>
                  </a:moveTo>
                  <a:lnTo>
                    <a:pt x="10438257" y="0"/>
                  </a:lnTo>
                  <a:lnTo>
                    <a:pt x="10438257" y="748919"/>
                  </a:lnTo>
                  <a:lnTo>
                    <a:pt x="0" y="748919"/>
                  </a:lnTo>
                  <a:close/>
                </a:path>
              </a:pathLst>
            </a:custGeom>
            <a:solidFill>
              <a:srgbClr val="FFFFFF"/>
            </a:solidFill>
          </p:spPr>
          <p:txBody>
            <a:bodyPr/>
            <a:lstStyle/>
            <a:p>
              <a:endParaRPr lang="fr-SN"/>
            </a:p>
          </p:txBody>
        </p:sp>
        <p:sp>
          <p:nvSpPr>
            <p:cNvPr id="9" name="TextBox 9"/>
            <p:cNvSpPr txBox="1"/>
            <p:nvPr/>
          </p:nvSpPr>
          <p:spPr>
            <a:xfrm>
              <a:off x="0" y="9525"/>
              <a:ext cx="10438310" cy="739397"/>
            </a:xfrm>
            <a:prstGeom prst="rect">
              <a:avLst/>
            </a:prstGeom>
          </p:spPr>
          <p:txBody>
            <a:bodyPr lIns="50800" tIns="50800" rIns="50800" bIns="50800" rtlCol="0" anchor="t"/>
            <a:lstStyle/>
            <a:p>
              <a:pPr algn="l">
                <a:lnSpc>
                  <a:spcPts val="3300"/>
                </a:lnSpc>
              </a:pPr>
              <a:r>
                <a:rPr lang="en-US" sz="3000">
                  <a:solidFill>
                    <a:srgbClr val="000000"/>
                  </a:solidFill>
                  <a:latin typeface="Arimo"/>
                  <a:ea typeface="Arimo"/>
                  <a:cs typeface="Arimo"/>
                  <a:sym typeface="Arimo"/>
                </a:rPr>
                <a:t>I. Introduction</a:t>
              </a:r>
            </a:p>
          </p:txBody>
        </p:sp>
      </p:grpSp>
      <p:sp>
        <p:nvSpPr>
          <p:cNvPr id="10" name="Freeform 10"/>
          <p:cNvSpPr/>
          <p:nvPr/>
        </p:nvSpPr>
        <p:spPr>
          <a:xfrm>
            <a:off x="10306050" y="1912144"/>
            <a:ext cx="6684169" cy="7641431"/>
          </a:xfrm>
          <a:prstGeom prst="roundRect">
            <a:avLst/>
          </a:prstGeom>
          <a:blipFill>
            <a:blip r:embed="rId5"/>
            <a:stretch>
              <a:fillRect r="-4"/>
            </a:stretch>
          </a:blipFill>
        </p:spPr>
        <p:txBody>
          <a:bodyPr/>
          <a:lstStyle/>
          <a:p>
            <a:endParaRPr lang="fr-SN"/>
          </a:p>
        </p:txBody>
      </p:sp>
      <p:grpSp>
        <p:nvGrpSpPr>
          <p:cNvPr id="11" name="Group 11"/>
          <p:cNvGrpSpPr/>
          <p:nvPr/>
        </p:nvGrpSpPr>
        <p:grpSpPr>
          <a:xfrm>
            <a:off x="848184" y="3635403"/>
            <a:ext cx="7828732" cy="561691"/>
            <a:chOff x="0" y="0"/>
            <a:chExt cx="10438310" cy="748922"/>
          </a:xfrm>
        </p:grpSpPr>
        <p:sp>
          <p:nvSpPr>
            <p:cNvPr id="12" name="Freeform 12"/>
            <p:cNvSpPr/>
            <p:nvPr/>
          </p:nvSpPr>
          <p:spPr>
            <a:xfrm>
              <a:off x="0" y="0"/>
              <a:ext cx="10438257" cy="748919"/>
            </a:xfrm>
            <a:custGeom>
              <a:avLst/>
              <a:gdLst/>
              <a:ahLst/>
              <a:cxnLst/>
              <a:rect l="l" t="t" r="r" b="b"/>
              <a:pathLst>
                <a:path w="10438257" h="748919">
                  <a:moveTo>
                    <a:pt x="0" y="0"/>
                  </a:moveTo>
                  <a:lnTo>
                    <a:pt x="10438257" y="0"/>
                  </a:lnTo>
                  <a:lnTo>
                    <a:pt x="10438257" y="748919"/>
                  </a:lnTo>
                  <a:lnTo>
                    <a:pt x="0" y="748919"/>
                  </a:lnTo>
                  <a:close/>
                </a:path>
              </a:pathLst>
            </a:custGeom>
            <a:solidFill>
              <a:srgbClr val="FFFFFF"/>
            </a:solidFill>
          </p:spPr>
          <p:txBody>
            <a:bodyPr/>
            <a:lstStyle/>
            <a:p>
              <a:endParaRPr lang="fr-SN"/>
            </a:p>
          </p:txBody>
        </p:sp>
        <p:sp>
          <p:nvSpPr>
            <p:cNvPr id="13" name="TextBox 13"/>
            <p:cNvSpPr txBox="1"/>
            <p:nvPr/>
          </p:nvSpPr>
          <p:spPr>
            <a:xfrm>
              <a:off x="0" y="9525"/>
              <a:ext cx="10438310" cy="739397"/>
            </a:xfrm>
            <a:prstGeom prst="rect">
              <a:avLst/>
            </a:prstGeom>
          </p:spPr>
          <p:txBody>
            <a:bodyPr lIns="50800" tIns="50800" rIns="50800" bIns="50800" rtlCol="0" anchor="t"/>
            <a:lstStyle/>
            <a:p>
              <a:pPr algn="l">
                <a:lnSpc>
                  <a:spcPts val="3300"/>
                </a:lnSpc>
              </a:pPr>
              <a:r>
                <a:rPr lang="en-US" sz="3000">
                  <a:solidFill>
                    <a:srgbClr val="000000"/>
                  </a:solidFill>
                  <a:latin typeface="Arimo"/>
                  <a:ea typeface="Arimo"/>
                  <a:cs typeface="Arimo"/>
                  <a:sym typeface="Arimo"/>
                </a:rPr>
                <a:t>II. Généralité</a:t>
              </a:r>
            </a:p>
          </p:txBody>
        </p:sp>
      </p:grpSp>
      <p:grpSp>
        <p:nvGrpSpPr>
          <p:cNvPr id="14" name="Group 14"/>
          <p:cNvGrpSpPr/>
          <p:nvPr/>
        </p:nvGrpSpPr>
        <p:grpSpPr>
          <a:xfrm>
            <a:off x="848184" y="4312298"/>
            <a:ext cx="7828732" cy="561691"/>
            <a:chOff x="0" y="0"/>
            <a:chExt cx="10438310" cy="748922"/>
          </a:xfrm>
        </p:grpSpPr>
        <p:sp>
          <p:nvSpPr>
            <p:cNvPr id="15" name="Freeform 15"/>
            <p:cNvSpPr/>
            <p:nvPr/>
          </p:nvSpPr>
          <p:spPr>
            <a:xfrm>
              <a:off x="0" y="0"/>
              <a:ext cx="10438257" cy="748919"/>
            </a:xfrm>
            <a:custGeom>
              <a:avLst/>
              <a:gdLst/>
              <a:ahLst/>
              <a:cxnLst/>
              <a:rect l="l" t="t" r="r" b="b"/>
              <a:pathLst>
                <a:path w="10438257" h="748919">
                  <a:moveTo>
                    <a:pt x="0" y="0"/>
                  </a:moveTo>
                  <a:lnTo>
                    <a:pt x="10438257" y="0"/>
                  </a:lnTo>
                  <a:lnTo>
                    <a:pt x="10438257" y="748919"/>
                  </a:lnTo>
                  <a:lnTo>
                    <a:pt x="0" y="748919"/>
                  </a:lnTo>
                  <a:close/>
                </a:path>
              </a:pathLst>
            </a:custGeom>
            <a:solidFill>
              <a:srgbClr val="FFFFFF"/>
            </a:solidFill>
          </p:spPr>
          <p:txBody>
            <a:bodyPr/>
            <a:lstStyle/>
            <a:p>
              <a:endParaRPr lang="fr-SN"/>
            </a:p>
          </p:txBody>
        </p:sp>
        <p:sp>
          <p:nvSpPr>
            <p:cNvPr id="16" name="TextBox 16"/>
            <p:cNvSpPr txBox="1"/>
            <p:nvPr/>
          </p:nvSpPr>
          <p:spPr>
            <a:xfrm>
              <a:off x="0" y="9525"/>
              <a:ext cx="10438310" cy="739397"/>
            </a:xfrm>
            <a:prstGeom prst="rect">
              <a:avLst/>
            </a:prstGeom>
          </p:spPr>
          <p:txBody>
            <a:bodyPr lIns="50800" tIns="50800" rIns="50800" bIns="50800" rtlCol="0" anchor="t"/>
            <a:lstStyle/>
            <a:p>
              <a:pPr algn="l">
                <a:lnSpc>
                  <a:spcPts val="3300"/>
                </a:lnSpc>
              </a:pPr>
              <a:r>
                <a:rPr lang="en-US" sz="3000" dirty="0">
                  <a:solidFill>
                    <a:srgbClr val="000000"/>
                  </a:solidFill>
                  <a:latin typeface="Arimo"/>
                  <a:ea typeface="Arimo"/>
                  <a:cs typeface="Arimo"/>
                  <a:sym typeface="Arimo"/>
                </a:rPr>
                <a:t>III. Internet des objects</a:t>
              </a:r>
            </a:p>
          </p:txBody>
        </p:sp>
      </p:grpSp>
      <p:grpSp>
        <p:nvGrpSpPr>
          <p:cNvPr id="17" name="Group 17"/>
          <p:cNvGrpSpPr/>
          <p:nvPr/>
        </p:nvGrpSpPr>
        <p:grpSpPr>
          <a:xfrm>
            <a:off x="848184" y="4989190"/>
            <a:ext cx="7828732" cy="561691"/>
            <a:chOff x="0" y="0"/>
            <a:chExt cx="10438310" cy="748922"/>
          </a:xfrm>
        </p:grpSpPr>
        <p:sp>
          <p:nvSpPr>
            <p:cNvPr id="18" name="Freeform 18"/>
            <p:cNvSpPr/>
            <p:nvPr/>
          </p:nvSpPr>
          <p:spPr>
            <a:xfrm>
              <a:off x="0" y="0"/>
              <a:ext cx="10438257" cy="748919"/>
            </a:xfrm>
            <a:custGeom>
              <a:avLst/>
              <a:gdLst/>
              <a:ahLst/>
              <a:cxnLst/>
              <a:rect l="l" t="t" r="r" b="b"/>
              <a:pathLst>
                <a:path w="10438257" h="748919">
                  <a:moveTo>
                    <a:pt x="0" y="0"/>
                  </a:moveTo>
                  <a:lnTo>
                    <a:pt x="10438257" y="0"/>
                  </a:lnTo>
                  <a:lnTo>
                    <a:pt x="10438257" y="748919"/>
                  </a:lnTo>
                  <a:lnTo>
                    <a:pt x="0" y="748919"/>
                  </a:lnTo>
                  <a:close/>
                </a:path>
              </a:pathLst>
            </a:custGeom>
            <a:solidFill>
              <a:srgbClr val="FFFFFF"/>
            </a:solidFill>
          </p:spPr>
          <p:txBody>
            <a:bodyPr/>
            <a:lstStyle/>
            <a:p>
              <a:endParaRPr lang="fr-SN"/>
            </a:p>
          </p:txBody>
        </p:sp>
        <p:sp>
          <p:nvSpPr>
            <p:cNvPr id="19" name="TextBox 19"/>
            <p:cNvSpPr txBox="1"/>
            <p:nvPr/>
          </p:nvSpPr>
          <p:spPr>
            <a:xfrm>
              <a:off x="0" y="9525"/>
              <a:ext cx="10438310" cy="739397"/>
            </a:xfrm>
            <a:prstGeom prst="rect">
              <a:avLst/>
            </a:prstGeom>
          </p:spPr>
          <p:txBody>
            <a:bodyPr lIns="50800" tIns="50800" rIns="50800" bIns="50800" rtlCol="0" anchor="t"/>
            <a:lstStyle/>
            <a:p>
              <a:pPr algn="l">
                <a:lnSpc>
                  <a:spcPts val="3300"/>
                </a:lnSpc>
              </a:pPr>
              <a:r>
                <a:rPr lang="en-US" sz="3000" dirty="0">
                  <a:solidFill>
                    <a:srgbClr val="000000"/>
                  </a:solidFill>
                  <a:latin typeface="Arimo"/>
                  <a:ea typeface="Arimo"/>
                  <a:cs typeface="Arimo"/>
                  <a:sym typeface="Arimo"/>
                </a:rPr>
                <a:t>IV. Solutions</a:t>
              </a:r>
            </a:p>
          </p:txBody>
        </p:sp>
      </p:grpSp>
      <p:sp>
        <p:nvSpPr>
          <p:cNvPr id="20" name="TextBox 20"/>
          <p:cNvSpPr txBox="1"/>
          <p:nvPr/>
        </p:nvSpPr>
        <p:spPr>
          <a:xfrm>
            <a:off x="17127734" y="9791700"/>
            <a:ext cx="855466" cy="245260"/>
          </a:xfrm>
          <a:prstGeom prst="rect">
            <a:avLst/>
          </a:prstGeom>
        </p:spPr>
        <p:txBody>
          <a:bodyPr wrap="square" lIns="0" tIns="0" rIns="0" bIns="0" rtlCol="0" anchor="t">
            <a:spAutoFit/>
          </a:bodyPr>
          <a:lstStyle/>
          <a:p>
            <a:pPr algn="ctr">
              <a:lnSpc>
                <a:spcPts val="1980"/>
              </a:lnSpc>
            </a:pPr>
            <a:r>
              <a:rPr lang="en-US" sz="1650" spc="15" dirty="0">
                <a:solidFill>
                  <a:srgbClr val="0070C0"/>
                </a:solidFill>
                <a:latin typeface="TT Rounds Condensed"/>
                <a:ea typeface="TT Rounds Condensed"/>
                <a:cs typeface="TT Rounds Condensed"/>
                <a:sym typeface="TT Rounds Condensed"/>
              </a:rPr>
              <a:t>02 | </a:t>
            </a:r>
            <a:r>
              <a:rPr lang="en-US" sz="1650" spc="15" dirty="0">
                <a:solidFill>
                  <a:srgbClr val="0070C0"/>
                </a:solidFill>
                <a:latin typeface="Arial Black" panose="020B0A04020102020204" pitchFamily="34" charset="0"/>
                <a:ea typeface="TT Rounds Condensed"/>
                <a:cs typeface="TT Rounds Condensed"/>
                <a:sym typeface="TT Rounds Condensed"/>
              </a:rPr>
              <a:t>33</a:t>
            </a:r>
            <a:endParaRPr lang="en-US" sz="1650" spc="15" dirty="0">
              <a:solidFill>
                <a:srgbClr val="0070C0"/>
              </a:solidFill>
              <a:latin typeface="Arial Black" panose="020B0A04020102020204" pitchFamily="34" charset="0"/>
              <a:ea typeface="TT Rounds Condensed Bold"/>
              <a:cs typeface="TT Rounds Condensed Bold"/>
              <a:sym typeface="TT Rounds Condensed Bold"/>
            </a:endParaRPr>
          </a:p>
        </p:txBody>
      </p:sp>
      <p:grpSp>
        <p:nvGrpSpPr>
          <p:cNvPr id="21" name="Group 21"/>
          <p:cNvGrpSpPr/>
          <p:nvPr/>
        </p:nvGrpSpPr>
        <p:grpSpPr>
          <a:xfrm>
            <a:off x="762001" y="5676900"/>
            <a:ext cx="7828732" cy="561691"/>
            <a:chOff x="0" y="0"/>
            <a:chExt cx="10438310" cy="748922"/>
          </a:xfrm>
        </p:grpSpPr>
        <p:sp>
          <p:nvSpPr>
            <p:cNvPr id="22" name="Freeform 22"/>
            <p:cNvSpPr/>
            <p:nvPr/>
          </p:nvSpPr>
          <p:spPr>
            <a:xfrm>
              <a:off x="0" y="0"/>
              <a:ext cx="10438257" cy="748919"/>
            </a:xfrm>
            <a:custGeom>
              <a:avLst/>
              <a:gdLst/>
              <a:ahLst/>
              <a:cxnLst/>
              <a:rect l="l" t="t" r="r" b="b"/>
              <a:pathLst>
                <a:path w="10438257" h="748919">
                  <a:moveTo>
                    <a:pt x="0" y="0"/>
                  </a:moveTo>
                  <a:lnTo>
                    <a:pt x="10438257" y="0"/>
                  </a:lnTo>
                  <a:lnTo>
                    <a:pt x="10438257" y="748919"/>
                  </a:lnTo>
                  <a:lnTo>
                    <a:pt x="0" y="748919"/>
                  </a:lnTo>
                  <a:close/>
                </a:path>
              </a:pathLst>
            </a:custGeom>
            <a:solidFill>
              <a:srgbClr val="FFFFFF"/>
            </a:solidFill>
          </p:spPr>
          <p:txBody>
            <a:bodyPr/>
            <a:lstStyle/>
            <a:p>
              <a:endParaRPr lang="fr-SN"/>
            </a:p>
          </p:txBody>
        </p:sp>
        <p:sp>
          <p:nvSpPr>
            <p:cNvPr id="23" name="TextBox 23"/>
            <p:cNvSpPr txBox="1"/>
            <p:nvPr/>
          </p:nvSpPr>
          <p:spPr>
            <a:xfrm>
              <a:off x="0" y="9525"/>
              <a:ext cx="10438310" cy="739397"/>
            </a:xfrm>
            <a:prstGeom prst="rect">
              <a:avLst/>
            </a:prstGeom>
          </p:spPr>
          <p:txBody>
            <a:bodyPr lIns="50800" tIns="50800" rIns="50800" bIns="50800" rtlCol="0" anchor="t"/>
            <a:lstStyle/>
            <a:p>
              <a:pPr algn="l">
                <a:lnSpc>
                  <a:spcPts val="3300"/>
                </a:lnSpc>
              </a:pPr>
              <a:r>
                <a:rPr lang="en-US" sz="3000" dirty="0">
                  <a:solidFill>
                    <a:srgbClr val="000000"/>
                  </a:solidFill>
                  <a:latin typeface="Arimo"/>
                  <a:ea typeface="Arimo"/>
                  <a:cs typeface="Arimo"/>
                  <a:sym typeface="Arimo"/>
                </a:rPr>
                <a:t>IV. </a:t>
              </a:r>
              <a:r>
                <a:rPr lang="en-US" sz="3000" dirty="0" err="1">
                  <a:solidFill>
                    <a:srgbClr val="000000"/>
                  </a:solidFill>
                  <a:latin typeface="Arimo"/>
                  <a:ea typeface="Arimo"/>
                  <a:cs typeface="Arimo"/>
                  <a:sym typeface="Arimo"/>
                </a:rPr>
                <a:t>Réalisation</a:t>
              </a:r>
              <a:endParaRPr lang="en-US" sz="3000" dirty="0">
                <a:solidFill>
                  <a:srgbClr val="000000"/>
                </a:solidFill>
                <a:latin typeface="Arimo"/>
                <a:ea typeface="Arimo"/>
                <a:cs typeface="Arimo"/>
                <a:sym typeface="Arimo"/>
              </a:endParaRPr>
            </a:p>
          </p:txBody>
        </p:sp>
      </p:grpSp>
      <p:grpSp>
        <p:nvGrpSpPr>
          <p:cNvPr id="27" name="Group 27"/>
          <p:cNvGrpSpPr/>
          <p:nvPr/>
        </p:nvGrpSpPr>
        <p:grpSpPr>
          <a:xfrm>
            <a:off x="762000" y="6335980"/>
            <a:ext cx="7828732" cy="561691"/>
            <a:chOff x="0" y="0"/>
            <a:chExt cx="10438310" cy="748922"/>
          </a:xfrm>
        </p:grpSpPr>
        <p:sp>
          <p:nvSpPr>
            <p:cNvPr id="28" name="Freeform 28"/>
            <p:cNvSpPr/>
            <p:nvPr/>
          </p:nvSpPr>
          <p:spPr>
            <a:xfrm>
              <a:off x="0" y="0"/>
              <a:ext cx="10438257" cy="748919"/>
            </a:xfrm>
            <a:custGeom>
              <a:avLst/>
              <a:gdLst/>
              <a:ahLst/>
              <a:cxnLst/>
              <a:rect l="l" t="t" r="r" b="b"/>
              <a:pathLst>
                <a:path w="10438257" h="748919">
                  <a:moveTo>
                    <a:pt x="0" y="0"/>
                  </a:moveTo>
                  <a:lnTo>
                    <a:pt x="10438257" y="0"/>
                  </a:lnTo>
                  <a:lnTo>
                    <a:pt x="10438257" y="748919"/>
                  </a:lnTo>
                  <a:lnTo>
                    <a:pt x="0" y="748919"/>
                  </a:lnTo>
                  <a:close/>
                </a:path>
              </a:pathLst>
            </a:custGeom>
            <a:solidFill>
              <a:srgbClr val="FFFFFF"/>
            </a:solidFill>
          </p:spPr>
          <p:txBody>
            <a:bodyPr/>
            <a:lstStyle/>
            <a:p>
              <a:endParaRPr lang="fr-SN"/>
            </a:p>
          </p:txBody>
        </p:sp>
        <p:sp>
          <p:nvSpPr>
            <p:cNvPr id="29" name="TextBox 29"/>
            <p:cNvSpPr txBox="1"/>
            <p:nvPr/>
          </p:nvSpPr>
          <p:spPr>
            <a:xfrm>
              <a:off x="0" y="9525"/>
              <a:ext cx="10438310" cy="739397"/>
            </a:xfrm>
            <a:prstGeom prst="rect">
              <a:avLst/>
            </a:prstGeom>
          </p:spPr>
          <p:txBody>
            <a:bodyPr lIns="50800" tIns="50800" rIns="50800" bIns="50800" rtlCol="0" anchor="t"/>
            <a:lstStyle/>
            <a:p>
              <a:pPr algn="l">
                <a:lnSpc>
                  <a:spcPts val="3300"/>
                </a:lnSpc>
              </a:pPr>
              <a:r>
                <a:rPr lang="en-US" sz="3000">
                  <a:solidFill>
                    <a:srgbClr val="000000"/>
                  </a:solidFill>
                  <a:latin typeface="Arimo"/>
                  <a:ea typeface="Arimo"/>
                  <a:cs typeface="Arimo"/>
                  <a:sym typeface="Arimo"/>
                </a:rPr>
                <a:t>IV. Démonstration</a:t>
              </a:r>
            </a:p>
          </p:txBody>
        </p:sp>
      </p:grpSp>
      <p:grpSp>
        <p:nvGrpSpPr>
          <p:cNvPr id="30" name="Group 30"/>
          <p:cNvGrpSpPr/>
          <p:nvPr/>
        </p:nvGrpSpPr>
        <p:grpSpPr>
          <a:xfrm>
            <a:off x="762000" y="6988791"/>
            <a:ext cx="7828732" cy="561691"/>
            <a:chOff x="0" y="0"/>
            <a:chExt cx="10438310" cy="748922"/>
          </a:xfrm>
        </p:grpSpPr>
        <p:sp>
          <p:nvSpPr>
            <p:cNvPr id="31" name="Freeform 31"/>
            <p:cNvSpPr/>
            <p:nvPr/>
          </p:nvSpPr>
          <p:spPr>
            <a:xfrm>
              <a:off x="0" y="0"/>
              <a:ext cx="10438257" cy="748919"/>
            </a:xfrm>
            <a:custGeom>
              <a:avLst/>
              <a:gdLst/>
              <a:ahLst/>
              <a:cxnLst/>
              <a:rect l="l" t="t" r="r" b="b"/>
              <a:pathLst>
                <a:path w="10438257" h="748919">
                  <a:moveTo>
                    <a:pt x="0" y="0"/>
                  </a:moveTo>
                  <a:lnTo>
                    <a:pt x="10438257" y="0"/>
                  </a:lnTo>
                  <a:lnTo>
                    <a:pt x="10438257" y="748919"/>
                  </a:lnTo>
                  <a:lnTo>
                    <a:pt x="0" y="748919"/>
                  </a:lnTo>
                  <a:close/>
                </a:path>
              </a:pathLst>
            </a:custGeom>
            <a:solidFill>
              <a:srgbClr val="FFFFFF"/>
            </a:solidFill>
          </p:spPr>
          <p:txBody>
            <a:bodyPr/>
            <a:lstStyle/>
            <a:p>
              <a:endParaRPr lang="fr-SN"/>
            </a:p>
          </p:txBody>
        </p:sp>
        <p:sp>
          <p:nvSpPr>
            <p:cNvPr id="32" name="TextBox 32"/>
            <p:cNvSpPr txBox="1"/>
            <p:nvPr/>
          </p:nvSpPr>
          <p:spPr>
            <a:xfrm>
              <a:off x="0" y="9525"/>
              <a:ext cx="10438310" cy="739397"/>
            </a:xfrm>
            <a:prstGeom prst="rect">
              <a:avLst/>
            </a:prstGeom>
          </p:spPr>
          <p:txBody>
            <a:bodyPr lIns="50800" tIns="50800" rIns="50800" bIns="50800" rtlCol="0" anchor="t"/>
            <a:lstStyle/>
            <a:p>
              <a:pPr algn="l">
                <a:lnSpc>
                  <a:spcPts val="3300"/>
                </a:lnSpc>
              </a:pPr>
              <a:r>
                <a:rPr lang="en-US" sz="3000">
                  <a:solidFill>
                    <a:srgbClr val="000000"/>
                  </a:solidFill>
                  <a:latin typeface="Arimo"/>
                  <a:ea typeface="Arimo"/>
                  <a:cs typeface="Arimo"/>
                  <a:sym typeface="Arimo"/>
                </a:rPr>
                <a:t>IV. Conclusion</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fr-SN"/>
          </a:p>
        </p:txBody>
      </p:sp>
      <p:sp>
        <p:nvSpPr>
          <p:cNvPr id="3" name="TextBox 3"/>
          <p:cNvSpPr txBox="1"/>
          <p:nvPr/>
        </p:nvSpPr>
        <p:spPr>
          <a:xfrm>
            <a:off x="3529347" y="4335937"/>
            <a:ext cx="11823072" cy="761843"/>
          </a:xfrm>
          <a:prstGeom prst="rect">
            <a:avLst/>
          </a:prstGeom>
        </p:spPr>
        <p:txBody>
          <a:bodyPr lIns="0" tIns="0" rIns="0" bIns="0" rtlCol="0" anchor="t">
            <a:spAutoFit/>
          </a:bodyPr>
          <a:lstStyle/>
          <a:p>
            <a:pPr algn="ctr">
              <a:lnSpc>
                <a:spcPts val="6000"/>
              </a:lnSpc>
            </a:pPr>
            <a:r>
              <a:rPr lang="en-US" sz="6000" dirty="0">
                <a:solidFill>
                  <a:srgbClr val="FFFFFF"/>
                </a:solidFill>
                <a:latin typeface="Arimo Bold"/>
                <a:ea typeface="Arimo Bold"/>
                <a:cs typeface="Arimo Bold"/>
                <a:sym typeface="Arimo Bold"/>
              </a:rPr>
              <a:t>INTRODUCTION</a:t>
            </a:r>
          </a:p>
        </p:txBody>
      </p:sp>
      <p:sp>
        <p:nvSpPr>
          <p:cNvPr id="7" name="TextBox 20">
            <a:extLst>
              <a:ext uri="{FF2B5EF4-FFF2-40B4-BE49-F238E27FC236}">
                <a16:creationId xmlns:a16="http://schemas.microsoft.com/office/drawing/2014/main" id="{E80695A5-7C71-3B99-DE01-C1EB12CA4134}"/>
              </a:ext>
            </a:extLst>
          </p:cNvPr>
          <p:cNvSpPr txBox="1"/>
          <p:nvPr/>
        </p:nvSpPr>
        <p:spPr>
          <a:xfrm>
            <a:off x="17127734" y="9791700"/>
            <a:ext cx="855466" cy="245260"/>
          </a:xfrm>
          <a:prstGeom prst="rect">
            <a:avLst/>
          </a:prstGeom>
        </p:spPr>
        <p:txBody>
          <a:bodyPr wrap="square" lIns="0" tIns="0" rIns="0" bIns="0" rtlCol="0" anchor="t">
            <a:spAutoFit/>
          </a:bodyPr>
          <a:lstStyle/>
          <a:p>
            <a:pPr algn="ctr">
              <a:lnSpc>
                <a:spcPts val="1980"/>
              </a:lnSpc>
            </a:pPr>
            <a:r>
              <a:rPr lang="en-US" sz="1650" spc="15" dirty="0">
                <a:solidFill>
                  <a:schemeClr val="bg1"/>
                </a:solidFill>
                <a:latin typeface="TT Rounds Condensed"/>
                <a:ea typeface="TT Rounds Condensed"/>
                <a:cs typeface="TT Rounds Condensed"/>
                <a:sym typeface="TT Rounds Condensed"/>
              </a:rPr>
              <a:t>03 | </a:t>
            </a:r>
            <a:r>
              <a:rPr lang="en-US" sz="1650" spc="15" dirty="0">
                <a:solidFill>
                  <a:schemeClr val="bg1"/>
                </a:solidFill>
                <a:latin typeface="Arial Black" panose="020B0A04020102020204" pitchFamily="34" charset="0"/>
                <a:ea typeface="TT Rounds Condensed"/>
                <a:cs typeface="TT Rounds Condensed"/>
                <a:sym typeface="TT Rounds Condensed"/>
              </a:rPr>
              <a:t>33</a:t>
            </a:r>
            <a:endParaRPr lang="en-US" sz="1650" spc="15" dirty="0">
              <a:solidFill>
                <a:schemeClr val="bg1"/>
              </a:solidFill>
              <a:latin typeface="Arial Black" panose="020B0A04020102020204" pitchFamily="34" charset="0"/>
              <a:ea typeface="TT Rounds Condensed Bold"/>
              <a:cs typeface="TT Rounds Condensed Bold"/>
              <a:sym typeface="TT Rounds Condensed 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prstGeom prst="flowChartPunchedTape">
            <a:avLst/>
          </a:prstGeom>
          <a:blipFill>
            <a:blip r:embed="rId2"/>
            <a:stretch>
              <a:fillRect/>
            </a:stretch>
          </a:blipFill>
        </p:spPr>
        <p:txBody>
          <a:bodyPr/>
          <a:lstStyle/>
          <a:p>
            <a:endParaRPr lang="fr-SN"/>
          </a:p>
        </p:txBody>
      </p:sp>
      <p:sp>
        <p:nvSpPr>
          <p:cNvPr id="3" name="TextBox 3"/>
          <p:cNvSpPr txBox="1"/>
          <p:nvPr/>
        </p:nvSpPr>
        <p:spPr>
          <a:xfrm>
            <a:off x="2852454" y="483052"/>
            <a:ext cx="11823072" cy="769441"/>
          </a:xfrm>
          <a:prstGeom prst="rect">
            <a:avLst/>
          </a:prstGeom>
        </p:spPr>
        <p:txBody>
          <a:bodyPr lIns="0" tIns="0" rIns="0" bIns="0" rtlCol="0" anchor="t">
            <a:spAutoFit/>
          </a:bodyPr>
          <a:lstStyle/>
          <a:p>
            <a:pPr algn="ctr">
              <a:lnSpc>
                <a:spcPts val="6000"/>
              </a:lnSpc>
            </a:pPr>
            <a:r>
              <a:rPr lang="en-US" sz="5400" dirty="0">
                <a:solidFill>
                  <a:srgbClr val="0070C0"/>
                </a:solidFill>
                <a:latin typeface="Arial Black" panose="020B0A04020102020204" pitchFamily="34" charset="0"/>
                <a:ea typeface="Arimo Bold"/>
                <a:cs typeface="Arimo Bold"/>
                <a:sym typeface="Arimo Bold"/>
              </a:rPr>
              <a:t>Introduction</a:t>
            </a:r>
          </a:p>
        </p:txBody>
      </p:sp>
      <p:grpSp>
        <p:nvGrpSpPr>
          <p:cNvPr id="6" name="Group 6"/>
          <p:cNvGrpSpPr/>
          <p:nvPr/>
        </p:nvGrpSpPr>
        <p:grpSpPr>
          <a:xfrm>
            <a:off x="791190" y="1960288"/>
            <a:ext cx="6486145" cy="7415785"/>
            <a:chOff x="0" y="0"/>
            <a:chExt cx="8648192" cy="9887712"/>
          </a:xfrm>
        </p:grpSpPr>
        <p:sp>
          <p:nvSpPr>
            <p:cNvPr id="7" name="Freeform 7"/>
            <p:cNvSpPr/>
            <p:nvPr/>
          </p:nvSpPr>
          <p:spPr>
            <a:xfrm>
              <a:off x="0" y="0"/>
              <a:ext cx="8648192" cy="9887712"/>
            </a:xfrm>
            <a:custGeom>
              <a:avLst/>
              <a:gdLst/>
              <a:ahLst/>
              <a:cxnLst/>
              <a:rect l="l" t="t" r="r" b="b"/>
              <a:pathLst>
                <a:path w="8648192" h="9887712">
                  <a:moveTo>
                    <a:pt x="0" y="1441450"/>
                  </a:moveTo>
                  <a:cubicBezTo>
                    <a:pt x="0" y="645287"/>
                    <a:pt x="645287" y="0"/>
                    <a:pt x="1441450" y="0"/>
                  </a:cubicBezTo>
                  <a:lnTo>
                    <a:pt x="7206742" y="0"/>
                  </a:lnTo>
                  <a:cubicBezTo>
                    <a:pt x="8002778" y="0"/>
                    <a:pt x="8648192" y="645287"/>
                    <a:pt x="8648192" y="1441450"/>
                  </a:cubicBezTo>
                  <a:lnTo>
                    <a:pt x="8648192" y="8446262"/>
                  </a:lnTo>
                  <a:cubicBezTo>
                    <a:pt x="8648192" y="9242298"/>
                    <a:pt x="8002905" y="9887712"/>
                    <a:pt x="7206742" y="9887712"/>
                  </a:cubicBezTo>
                  <a:lnTo>
                    <a:pt x="1441450" y="9887712"/>
                  </a:lnTo>
                  <a:cubicBezTo>
                    <a:pt x="645287" y="9887585"/>
                    <a:pt x="0" y="9242298"/>
                    <a:pt x="0" y="8446262"/>
                  </a:cubicBezTo>
                  <a:close/>
                </a:path>
              </a:pathLst>
            </a:custGeom>
            <a:gradFill rotWithShape="1">
              <a:gsLst>
                <a:gs pos="0">
                  <a:srgbClr val="00B0F0">
                    <a:alpha val="100000"/>
                  </a:srgbClr>
                </a:gs>
                <a:gs pos="100000">
                  <a:srgbClr val="0070C0">
                    <a:alpha val="100000"/>
                  </a:srgbClr>
                </a:gs>
              </a:gsLst>
              <a:lin ang="10800000"/>
            </a:gradFill>
          </p:spPr>
          <p:txBody>
            <a:bodyPr/>
            <a:lstStyle/>
            <a:p>
              <a:endParaRPr lang="fr-SN" dirty="0"/>
            </a:p>
          </p:txBody>
        </p:sp>
      </p:grpSp>
      <p:sp>
        <p:nvSpPr>
          <p:cNvPr id="8" name="Freeform 8"/>
          <p:cNvSpPr/>
          <p:nvPr/>
        </p:nvSpPr>
        <p:spPr>
          <a:xfrm>
            <a:off x="1169974" y="6497114"/>
            <a:ext cx="1202271" cy="2446824"/>
          </a:xfrm>
          <a:custGeom>
            <a:avLst/>
            <a:gdLst/>
            <a:ahLst/>
            <a:cxnLst/>
            <a:rect l="l" t="t" r="r" b="b"/>
            <a:pathLst>
              <a:path w="1202271" h="2446824">
                <a:moveTo>
                  <a:pt x="0" y="0"/>
                </a:moveTo>
                <a:lnTo>
                  <a:pt x="1202272" y="0"/>
                </a:lnTo>
                <a:lnTo>
                  <a:pt x="1202272" y="2446823"/>
                </a:lnTo>
                <a:lnTo>
                  <a:pt x="0" y="244682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fr-SN"/>
          </a:p>
        </p:txBody>
      </p:sp>
      <p:sp>
        <p:nvSpPr>
          <p:cNvPr id="9" name="Freeform 9"/>
          <p:cNvSpPr/>
          <p:nvPr/>
        </p:nvSpPr>
        <p:spPr>
          <a:xfrm>
            <a:off x="1313280" y="1366815"/>
            <a:ext cx="6342816" cy="7641431"/>
          </a:xfrm>
          <a:prstGeom prst="flowChartAlternateProcess">
            <a:avLst/>
          </a:prstGeom>
          <a:blipFill>
            <a:blip r:embed="rId5"/>
            <a:stretch>
              <a:fillRect/>
            </a:stretch>
          </a:blipFill>
        </p:spPr>
        <p:txBody>
          <a:bodyPr/>
          <a:lstStyle/>
          <a:p>
            <a:endParaRPr lang="fr-SN"/>
          </a:p>
        </p:txBody>
      </p:sp>
      <p:pic>
        <p:nvPicPr>
          <p:cNvPr id="1026" name="Picture 2" descr="90 images libres de droit, photos de 90 | Depositphotos">
            <a:extLst>
              <a:ext uri="{FF2B5EF4-FFF2-40B4-BE49-F238E27FC236}">
                <a16:creationId xmlns:a16="http://schemas.microsoft.com/office/drawing/2014/main" id="{FAE1C543-7E71-19AA-4149-098D37C0E8B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72090" y="7484115"/>
            <a:ext cx="1870325" cy="1409700"/>
          </a:xfrm>
          <a:prstGeom prst="rect">
            <a:avLst/>
          </a:prstGeom>
          <a:noFill/>
          <a:extLst>
            <a:ext uri="{909E8E84-426E-40DD-AFC4-6F175D3DCCD1}">
              <a14:hiddenFill xmlns:a14="http://schemas.microsoft.com/office/drawing/2010/main">
                <a:solidFill>
                  <a:srgbClr val="FFFFFF"/>
                </a:solidFill>
              </a14:hiddenFill>
            </a:ext>
          </a:extLst>
        </p:spPr>
      </p:pic>
      <p:grpSp>
        <p:nvGrpSpPr>
          <p:cNvPr id="22" name="Group 7">
            <a:extLst>
              <a:ext uri="{FF2B5EF4-FFF2-40B4-BE49-F238E27FC236}">
                <a16:creationId xmlns:a16="http://schemas.microsoft.com/office/drawing/2014/main" id="{980B71B0-344E-C4BB-E205-7EA05EF9E7E0}"/>
              </a:ext>
            </a:extLst>
          </p:cNvPr>
          <p:cNvGrpSpPr/>
          <p:nvPr/>
        </p:nvGrpSpPr>
        <p:grpSpPr>
          <a:xfrm>
            <a:off x="8969376" y="2067412"/>
            <a:ext cx="8785224" cy="2841000"/>
            <a:chOff x="0" y="0"/>
            <a:chExt cx="1948755" cy="748247"/>
          </a:xfrm>
        </p:grpSpPr>
        <p:sp>
          <p:nvSpPr>
            <p:cNvPr id="23" name="Freeform 8">
              <a:extLst>
                <a:ext uri="{FF2B5EF4-FFF2-40B4-BE49-F238E27FC236}">
                  <a16:creationId xmlns:a16="http://schemas.microsoft.com/office/drawing/2014/main" id="{7FB10F50-DCD5-0A4D-B74B-61BBC4B7135F}"/>
                </a:ext>
              </a:extLst>
            </p:cNvPr>
            <p:cNvSpPr/>
            <p:nvPr/>
          </p:nvSpPr>
          <p:spPr>
            <a:xfrm>
              <a:off x="0" y="0"/>
              <a:ext cx="1948755" cy="748247"/>
            </a:xfrm>
            <a:custGeom>
              <a:avLst/>
              <a:gdLst/>
              <a:ahLst/>
              <a:cxnLst/>
              <a:rect l="l" t="t" r="r" b="b"/>
              <a:pathLst>
                <a:path w="1948755" h="748247">
                  <a:moveTo>
                    <a:pt x="0" y="0"/>
                  </a:moveTo>
                  <a:lnTo>
                    <a:pt x="1948755" y="0"/>
                  </a:lnTo>
                  <a:lnTo>
                    <a:pt x="1948755" y="748247"/>
                  </a:lnTo>
                  <a:lnTo>
                    <a:pt x="0" y="748247"/>
                  </a:lnTo>
                  <a:close/>
                </a:path>
              </a:pathLst>
            </a:custGeom>
            <a:solidFill>
              <a:srgbClr val="000000">
                <a:alpha val="0"/>
              </a:srgbClr>
            </a:solidFill>
            <a:ln w="19050" cap="sq">
              <a:solidFill>
                <a:srgbClr val="D9D9D9"/>
              </a:solidFill>
              <a:prstDash val="solid"/>
              <a:miter/>
            </a:ln>
          </p:spPr>
          <p:txBody>
            <a:bodyPr/>
            <a:lstStyle/>
            <a:p>
              <a:endParaRPr lang="fr-SN"/>
            </a:p>
          </p:txBody>
        </p:sp>
        <p:sp>
          <p:nvSpPr>
            <p:cNvPr id="24" name="TextBox 9">
              <a:extLst>
                <a:ext uri="{FF2B5EF4-FFF2-40B4-BE49-F238E27FC236}">
                  <a16:creationId xmlns:a16="http://schemas.microsoft.com/office/drawing/2014/main" id="{D84438F6-311D-B99D-152F-13EC8CCFE9B5}"/>
                </a:ext>
              </a:extLst>
            </p:cNvPr>
            <p:cNvSpPr txBox="1"/>
            <p:nvPr/>
          </p:nvSpPr>
          <p:spPr>
            <a:xfrm>
              <a:off x="0" y="-47625"/>
              <a:ext cx="1948755" cy="795872"/>
            </a:xfrm>
            <a:prstGeom prst="rect">
              <a:avLst/>
            </a:prstGeom>
          </p:spPr>
          <p:txBody>
            <a:bodyPr lIns="50800" tIns="50800" rIns="50800" bIns="50800" rtlCol="0" anchor="ctr"/>
            <a:lstStyle/>
            <a:p>
              <a:pPr algn="ctr">
                <a:lnSpc>
                  <a:spcPts val="3499"/>
                </a:lnSpc>
              </a:pPr>
              <a:endParaRPr/>
            </a:p>
          </p:txBody>
        </p:sp>
      </p:grpSp>
      <p:grpSp>
        <p:nvGrpSpPr>
          <p:cNvPr id="25" name="Group 23">
            <a:extLst>
              <a:ext uri="{FF2B5EF4-FFF2-40B4-BE49-F238E27FC236}">
                <a16:creationId xmlns:a16="http://schemas.microsoft.com/office/drawing/2014/main" id="{4107FEA5-2C35-0CE1-9C3E-963A1EAA7653}"/>
              </a:ext>
            </a:extLst>
          </p:cNvPr>
          <p:cNvGrpSpPr/>
          <p:nvPr/>
        </p:nvGrpSpPr>
        <p:grpSpPr>
          <a:xfrm>
            <a:off x="8458200" y="3267348"/>
            <a:ext cx="1047163" cy="747035"/>
            <a:chOff x="0" y="0"/>
            <a:chExt cx="812800" cy="579843"/>
          </a:xfrm>
        </p:grpSpPr>
        <p:sp>
          <p:nvSpPr>
            <p:cNvPr id="26" name="Freeform 24">
              <a:extLst>
                <a:ext uri="{FF2B5EF4-FFF2-40B4-BE49-F238E27FC236}">
                  <a16:creationId xmlns:a16="http://schemas.microsoft.com/office/drawing/2014/main" id="{262BD533-1B6A-ADC1-B22F-7FAD8A83D86C}"/>
                </a:ext>
              </a:extLst>
            </p:cNvPr>
            <p:cNvSpPr/>
            <p:nvPr/>
          </p:nvSpPr>
          <p:spPr>
            <a:xfrm>
              <a:off x="0" y="0"/>
              <a:ext cx="812800" cy="579843"/>
            </a:xfrm>
            <a:custGeom>
              <a:avLst/>
              <a:gdLst/>
              <a:ahLst/>
              <a:cxnLst/>
              <a:rect l="l" t="t" r="r" b="b"/>
              <a:pathLst>
                <a:path w="812800" h="579843">
                  <a:moveTo>
                    <a:pt x="609600" y="0"/>
                  </a:moveTo>
                  <a:lnTo>
                    <a:pt x="0" y="0"/>
                  </a:lnTo>
                  <a:lnTo>
                    <a:pt x="0" y="579843"/>
                  </a:lnTo>
                  <a:lnTo>
                    <a:pt x="609600" y="579843"/>
                  </a:lnTo>
                  <a:lnTo>
                    <a:pt x="812800" y="289921"/>
                  </a:lnTo>
                  <a:lnTo>
                    <a:pt x="609600" y="0"/>
                  </a:lnTo>
                  <a:close/>
                </a:path>
              </a:pathLst>
            </a:custGeom>
            <a:solidFill>
              <a:srgbClr val="0076C4"/>
            </a:solidFill>
            <a:ln>
              <a:solidFill>
                <a:schemeClr val="accent1"/>
              </a:solidFill>
            </a:ln>
          </p:spPr>
          <p:txBody>
            <a:bodyPr/>
            <a:lstStyle/>
            <a:p>
              <a:endParaRPr lang="fr-SN"/>
            </a:p>
          </p:txBody>
        </p:sp>
        <p:sp>
          <p:nvSpPr>
            <p:cNvPr id="27" name="TextBox 25">
              <a:extLst>
                <a:ext uri="{FF2B5EF4-FFF2-40B4-BE49-F238E27FC236}">
                  <a16:creationId xmlns:a16="http://schemas.microsoft.com/office/drawing/2014/main" id="{7DF78667-1A3F-AF3A-7F8F-174BB062CBEC}"/>
                </a:ext>
              </a:extLst>
            </p:cNvPr>
            <p:cNvSpPr txBox="1"/>
            <p:nvPr/>
          </p:nvSpPr>
          <p:spPr>
            <a:xfrm>
              <a:off x="0" y="-66675"/>
              <a:ext cx="698500" cy="646518"/>
            </a:xfrm>
            <a:prstGeom prst="rect">
              <a:avLst/>
            </a:prstGeom>
          </p:spPr>
          <p:txBody>
            <a:bodyPr lIns="50800" tIns="50800" rIns="50800" bIns="50800" rtlCol="0" anchor="ctr"/>
            <a:lstStyle/>
            <a:p>
              <a:pPr algn="ctr">
                <a:lnSpc>
                  <a:spcPts val="4200"/>
                </a:lnSpc>
              </a:pPr>
              <a:r>
                <a:rPr lang="en-US" sz="3000" dirty="0">
                  <a:solidFill>
                    <a:srgbClr val="FFFFFF"/>
                  </a:solidFill>
                  <a:latin typeface="Aileron Heavy"/>
                  <a:ea typeface="Aileron Heavy"/>
                  <a:cs typeface="Aileron Heavy"/>
                  <a:sym typeface="Aileron Heavy"/>
                </a:rPr>
                <a:t>M</a:t>
              </a:r>
            </a:p>
          </p:txBody>
        </p:sp>
      </p:grpSp>
      <p:grpSp>
        <p:nvGrpSpPr>
          <p:cNvPr id="28" name="Group 35">
            <a:extLst>
              <a:ext uri="{FF2B5EF4-FFF2-40B4-BE49-F238E27FC236}">
                <a16:creationId xmlns:a16="http://schemas.microsoft.com/office/drawing/2014/main" id="{E1507181-2646-35FD-496C-55F8658E5BB6}"/>
              </a:ext>
            </a:extLst>
          </p:cNvPr>
          <p:cNvGrpSpPr/>
          <p:nvPr/>
        </p:nvGrpSpPr>
        <p:grpSpPr>
          <a:xfrm>
            <a:off x="9753600" y="2824856"/>
            <a:ext cx="8233305" cy="1568239"/>
            <a:chOff x="-1" y="-19049"/>
            <a:chExt cx="8362805" cy="1392775"/>
          </a:xfrm>
        </p:grpSpPr>
        <p:sp>
          <p:nvSpPr>
            <p:cNvPr id="29" name="TextBox 36">
              <a:extLst>
                <a:ext uri="{FF2B5EF4-FFF2-40B4-BE49-F238E27FC236}">
                  <a16:creationId xmlns:a16="http://schemas.microsoft.com/office/drawing/2014/main" id="{90D47900-8B81-D750-8B11-6F6999901663}"/>
                </a:ext>
              </a:extLst>
            </p:cNvPr>
            <p:cNvSpPr txBox="1"/>
            <p:nvPr/>
          </p:nvSpPr>
          <p:spPr>
            <a:xfrm>
              <a:off x="0" y="717708"/>
              <a:ext cx="7566245" cy="656018"/>
            </a:xfrm>
            <a:prstGeom prst="rect">
              <a:avLst/>
            </a:prstGeom>
          </p:spPr>
          <p:txBody>
            <a:bodyPr lIns="0" tIns="0" rIns="0" bIns="0" rtlCol="0" anchor="t">
              <a:spAutoFit/>
            </a:bodyPr>
            <a:lstStyle/>
            <a:p>
              <a:pPr algn="l"/>
              <a:r>
                <a:rPr lang="fr-FR" sz="2400" spc="31" dirty="0">
                  <a:solidFill>
                    <a:srgbClr val="000000"/>
                  </a:solidFill>
                  <a:latin typeface="Arial" panose="020B0604020202020204" pitchFamily="34" charset="0"/>
                  <a:ea typeface="Arimo" panose="020B0604020202020204" charset="0"/>
                  <a:cs typeface="Arial" panose="020B0604020202020204" pitchFamily="34" charset="0"/>
                  <a:sym typeface="Aileron"/>
                </a:rPr>
                <a:t>La gestion des ordures ménagères est un problème universel qui </a:t>
              </a:r>
              <a:r>
                <a:rPr lang="fr-FR" sz="2400" spc="31" dirty="0">
                  <a:latin typeface="Arial" panose="020B0604020202020204" pitchFamily="34" charset="0"/>
                  <a:ea typeface="Arimo" panose="020B0604020202020204" charset="0"/>
                  <a:cs typeface="Arial" panose="020B0604020202020204" pitchFamily="34" charset="0"/>
                  <a:sym typeface="Aileron"/>
                </a:rPr>
                <a:t>concerne</a:t>
              </a:r>
              <a:r>
                <a:rPr lang="fr-FR" sz="2400" spc="31" dirty="0">
                  <a:solidFill>
                    <a:srgbClr val="000000"/>
                  </a:solidFill>
                  <a:latin typeface="Arial" panose="020B0604020202020204" pitchFamily="34" charset="0"/>
                  <a:ea typeface="Arimo" panose="020B0604020202020204" charset="0"/>
                  <a:cs typeface="Arial" panose="020B0604020202020204" pitchFamily="34" charset="0"/>
                  <a:sym typeface="Aileron"/>
                </a:rPr>
                <a:t> chaque habitant de la planète. </a:t>
              </a:r>
            </a:p>
          </p:txBody>
        </p:sp>
        <p:sp>
          <p:nvSpPr>
            <p:cNvPr id="30" name="TextBox 37">
              <a:extLst>
                <a:ext uri="{FF2B5EF4-FFF2-40B4-BE49-F238E27FC236}">
                  <a16:creationId xmlns:a16="http://schemas.microsoft.com/office/drawing/2014/main" id="{AAF5FF60-47EC-65DD-C965-5686C6873BFA}"/>
                </a:ext>
              </a:extLst>
            </p:cNvPr>
            <p:cNvSpPr txBox="1"/>
            <p:nvPr/>
          </p:nvSpPr>
          <p:spPr>
            <a:xfrm>
              <a:off x="-1" y="-19049"/>
              <a:ext cx="8362805" cy="353065"/>
            </a:xfrm>
            <a:prstGeom prst="rect">
              <a:avLst/>
            </a:prstGeom>
          </p:spPr>
          <p:txBody>
            <a:bodyPr wrap="square" lIns="0" tIns="0" rIns="0" bIns="0" rtlCol="0" anchor="t">
              <a:spAutoFit/>
            </a:bodyPr>
            <a:lstStyle/>
            <a:p>
              <a:pPr marL="0" lvl="0" indent="0" algn="l">
                <a:lnSpc>
                  <a:spcPts val="3095"/>
                </a:lnSpc>
                <a:spcBef>
                  <a:spcPct val="0"/>
                </a:spcBef>
              </a:pPr>
              <a:r>
                <a:rPr lang="fr-FR" sz="2800" b="1" spc="93" dirty="0">
                  <a:solidFill>
                    <a:srgbClr val="000000"/>
                  </a:solidFill>
                  <a:latin typeface="Arial Black" panose="020B0A04020102020204" pitchFamily="34" charset="0"/>
                  <a:ea typeface="Arimo Bold" panose="020B0604020202020204" charset="0"/>
                  <a:cs typeface="Arimo Bold" panose="020B0604020202020204" charset="0"/>
                  <a:sym typeface="Aileron Bold"/>
                </a:rPr>
                <a:t>La gestion des ordures dans le monde</a:t>
              </a:r>
              <a:endParaRPr lang="en-US" sz="2800" b="1" spc="93" dirty="0">
                <a:solidFill>
                  <a:srgbClr val="000000"/>
                </a:solidFill>
                <a:latin typeface="Arial Black" panose="020B0A04020102020204" pitchFamily="34" charset="0"/>
                <a:ea typeface="Arimo Bold" panose="020B0604020202020204" charset="0"/>
                <a:cs typeface="Arimo Bold" panose="020B0604020202020204" charset="0"/>
                <a:sym typeface="Aileron Bold"/>
              </a:endParaRPr>
            </a:p>
          </p:txBody>
        </p:sp>
      </p:grpSp>
      <p:grpSp>
        <p:nvGrpSpPr>
          <p:cNvPr id="40" name="Group 7">
            <a:extLst>
              <a:ext uri="{FF2B5EF4-FFF2-40B4-BE49-F238E27FC236}">
                <a16:creationId xmlns:a16="http://schemas.microsoft.com/office/drawing/2014/main" id="{DF85DCB1-DC13-348B-E491-000383293A5A}"/>
              </a:ext>
            </a:extLst>
          </p:cNvPr>
          <p:cNvGrpSpPr/>
          <p:nvPr/>
        </p:nvGrpSpPr>
        <p:grpSpPr>
          <a:xfrm>
            <a:off x="8969376" y="6188700"/>
            <a:ext cx="8785224" cy="2841000"/>
            <a:chOff x="0" y="0"/>
            <a:chExt cx="1948755" cy="748247"/>
          </a:xfrm>
        </p:grpSpPr>
        <p:sp>
          <p:nvSpPr>
            <p:cNvPr id="41" name="Freeform 8">
              <a:extLst>
                <a:ext uri="{FF2B5EF4-FFF2-40B4-BE49-F238E27FC236}">
                  <a16:creationId xmlns:a16="http://schemas.microsoft.com/office/drawing/2014/main" id="{6EE77EFE-09DE-836A-3D47-5E3EF36ECE5B}"/>
                </a:ext>
              </a:extLst>
            </p:cNvPr>
            <p:cNvSpPr/>
            <p:nvPr/>
          </p:nvSpPr>
          <p:spPr>
            <a:xfrm>
              <a:off x="0" y="0"/>
              <a:ext cx="1948755" cy="748247"/>
            </a:xfrm>
            <a:custGeom>
              <a:avLst/>
              <a:gdLst/>
              <a:ahLst/>
              <a:cxnLst/>
              <a:rect l="l" t="t" r="r" b="b"/>
              <a:pathLst>
                <a:path w="1948755" h="748247">
                  <a:moveTo>
                    <a:pt x="0" y="0"/>
                  </a:moveTo>
                  <a:lnTo>
                    <a:pt x="1948755" y="0"/>
                  </a:lnTo>
                  <a:lnTo>
                    <a:pt x="1948755" y="748247"/>
                  </a:lnTo>
                  <a:lnTo>
                    <a:pt x="0" y="748247"/>
                  </a:lnTo>
                  <a:close/>
                </a:path>
              </a:pathLst>
            </a:custGeom>
            <a:solidFill>
              <a:srgbClr val="000000">
                <a:alpha val="0"/>
              </a:srgbClr>
            </a:solidFill>
            <a:ln w="19050" cap="sq">
              <a:solidFill>
                <a:srgbClr val="D9D9D9"/>
              </a:solidFill>
              <a:prstDash val="solid"/>
              <a:miter/>
            </a:ln>
          </p:spPr>
          <p:txBody>
            <a:bodyPr/>
            <a:lstStyle/>
            <a:p>
              <a:endParaRPr lang="fr-SN"/>
            </a:p>
          </p:txBody>
        </p:sp>
        <p:sp>
          <p:nvSpPr>
            <p:cNvPr id="42" name="TextBox 9">
              <a:extLst>
                <a:ext uri="{FF2B5EF4-FFF2-40B4-BE49-F238E27FC236}">
                  <a16:creationId xmlns:a16="http://schemas.microsoft.com/office/drawing/2014/main" id="{69E12DB4-47BA-DCE4-9F3B-3BCF5299E8B7}"/>
                </a:ext>
              </a:extLst>
            </p:cNvPr>
            <p:cNvSpPr txBox="1"/>
            <p:nvPr/>
          </p:nvSpPr>
          <p:spPr>
            <a:xfrm>
              <a:off x="0" y="-47625"/>
              <a:ext cx="1948755" cy="795872"/>
            </a:xfrm>
            <a:prstGeom prst="rect">
              <a:avLst/>
            </a:prstGeom>
          </p:spPr>
          <p:txBody>
            <a:bodyPr lIns="50800" tIns="50800" rIns="50800" bIns="50800" rtlCol="0" anchor="ctr"/>
            <a:lstStyle/>
            <a:p>
              <a:pPr algn="ctr">
                <a:lnSpc>
                  <a:spcPts val="3499"/>
                </a:lnSpc>
              </a:pPr>
              <a:endParaRPr/>
            </a:p>
          </p:txBody>
        </p:sp>
      </p:grpSp>
      <p:grpSp>
        <p:nvGrpSpPr>
          <p:cNvPr id="43" name="Group 23">
            <a:extLst>
              <a:ext uri="{FF2B5EF4-FFF2-40B4-BE49-F238E27FC236}">
                <a16:creationId xmlns:a16="http://schemas.microsoft.com/office/drawing/2014/main" id="{B22B1DD7-EAE3-04BA-8E92-83100D166ED5}"/>
              </a:ext>
            </a:extLst>
          </p:cNvPr>
          <p:cNvGrpSpPr/>
          <p:nvPr/>
        </p:nvGrpSpPr>
        <p:grpSpPr>
          <a:xfrm>
            <a:off x="8458200" y="7153548"/>
            <a:ext cx="1047163" cy="747035"/>
            <a:chOff x="0" y="0"/>
            <a:chExt cx="812800" cy="579843"/>
          </a:xfrm>
        </p:grpSpPr>
        <p:sp>
          <p:nvSpPr>
            <p:cNvPr id="44" name="Freeform 24">
              <a:extLst>
                <a:ext uri="{FF2B5EF4-FFF2-40B4-BE49-F238E27FC236}">
                  <a16:creationId xmlns:a16="http://schemas.microsoft.com/office/drawing/2014/main" id="{36D9883B-B32A-2AF4-A435-E2B5471D86D3}"/>
                </a:ext>
              </a:extLst>
            </p:cNvPr>
            <p:cNvSpPr/>
            <p:nvPr/>
          </p:nvSpPr>
          <p:spPr>
            <a:xfrm>
              <a:off x="0" y="0"/>
              <a:ext cx="812800" cy="579843"/>
            </a:xfrm>
            <a:custGeom>
              <a:avLst/>
              <a:gdLst/>
              <a:ahLst/>
              <a:cxnLst/>
              <a:rect l="l" t="t" r="r" b="b"/>
              <a:pathLst>
                <a:path w="812800" h="579843">
                  <a:moveTo>
                    <a:pt x="609600" y="0"/>
                  </a:moveTo>
                  <a:lnTo>
                    <a:pt x="0" y="0"/>
                  </a:lnTo>
                  <a:lnTo>
                    <a:pt x="0" y="579843"/>
                  </a:lnTo>
                  <a:lnTo>
                    <a:pt x="609600" y="579843"/>
                  </a:lnTo>
                  <a:lnTo>
                    <a:pt x="812800" y="289921"/>
                  </a:lnTo>
                  <a:lnTo>
                    <a:pt x="609600" y="0"/>
                  </a:lnTo>
                  <a:close/>
                </a:path>
              </a:pathLst>
            </a:custGeom>
            <a:solidFill>
              <a:srgbClr val="00AFEF"/>
            </a:solidFill>
          </p:spPr>
          <p:txBody>
            <a:bodyPr/>
            <a:lstStyle/>
            <a:p>
              <a:endParaRPr lang="fr-SN" dirty="0"/>
            </a:p>
          </p:txBody>
        </p:sp>
        <p:sp>
          <p:nvSpPr>
            <p:cNvPr id="45" name="TextBox 25">
              <a:extLst>
                <a:ext uri="{FF2B5EF4-FFF2-40B4-BE49-F238E27FC236}">
                  <a16:creationId xmlns:a16="http://schemas.microsoft.com/office/drawing/2014/main" id="{9830F2EA-B233-CEDA-3E67-C6B5134E8835}"/>
                </a:ext>
              </a:extLst>
            </p:cNvPr>
            <p:cNvSpPr txBox="1"/>
            <p:nvPr/>
          </p:nvSpPr>
          <p:spPr>
            <a:xfrm>
              <a:off x="0" y="-66675"/>
              <a:ext cx="698500" cy="646518"/>
            </a:xfrm>
            <a:prstGeom prst="rect">
              <a:avLst/>
            </a:prstGeom>
          </p:spPr>
          <p:txBody>
            <a:bodyPr lIns="50800" tIns="50800" rIns="50800" bIns="50800" rtlCol="0" anchor="ctr"/>
            <a:lstStyle/>
            <a:p>
              <a:pPr algn="ctr">
                <a:lnSpc>
                  <a:spcPts val="4200"/>
                </a:lnSpc>
              </a:pPr>
              <a:r>
                <a:rPr lang="en-US" sz="3000" dirty="0">
                  <a:solidFill>
                    <a:srgbClr val="FFFFFF"/>
                  </a:solidFill>
                  <a:latin typeface="Aileron Heavy"/>
                  <a:ea typeface="Aileron Heavy"/>
                  <a:cs typeface="Aileron Heavy"/>
                  <a:sym typeface="Aileron Heavy"/>
                </a:rPr>
                <a:t>S</a:t>
              </a:r>
            </a:p>
          </p:txBody>
        </p:sp>
      </p:grpSp>
      <p:grpSp>
        <p:nvGrpSpPr>
          <p:cNvPr id="46" name="Group 35">
            <a:extLst>
              <a:ext uri="{FF2B5EF4-FFF2-40B4-BE49-F238E27FC236}">
                <a16:creationId xmlns:a16="http://schemas.microsoft.com/office/drawing/2014/main" id="{F6751E85-97F7-3B6A-EB97-80BB1139CF79}"/>
              </a:ext>
            </a:extLst>
          </p:cNvPr>
          <p:cNvGrpSpPr/>
          <p:nvPr/>
        </p:nvGrpSpPr>
        <p:grpSpPr>
          <a:xfrm>
            <a:off x="9348137" y="6711056"/>
            <a:ext cx="7854544" cy="2029897"/>
            <a:chOff x="0" y="-19050"/>
            <a:chExt cx="7566245" cy="2706531"/>
          </a:xfrm>
        </p:grpSpPr>
        <p:sp>
          <p:nvSpPr>
            <p:cNvPr id="47" name="TextBox 36">
              <a:extLst>
                <a:ext uri="{FF2B5EF4-FFF2-40B4-BE49-F238E27FC236}">
                  <a16:creationId xmlns:a16="http://schemas.microsoft.com/office/drawing/2014/main" id="{8DDEA0D1-52D3-DD2A-A462-07653E568D01}"/>
                </a:ext>
              </a:extLst>
            </p:cNvPr>
            <p:cNvSpPr txBox="1"/>
            <p:nvPr/>
          </p:nvSpPr>
          <p:spPr>
            <a:xfrm>
              <a:off x="0" y="717709"/>
              <a:ext cx="7566245" cy="1969772"/>
            </a:xfrm>
            <a:prstGeom prst="rect">
              <a:avLst/>
            </a:prstGeom>
          </p:spPr>
          <p:txBody>
            <a:bodyPr lIns="0" tIns="0" rIns="0" bIns="0" rtlCol="0" anchor="t">
              <a:spAutoFit/>
            </a:bodyPr>
            <a:lstStyle/>
            <a:p>
              <a:pPr marL="291465" lvl="1" algn="just"/>
              <a:r>
                <a:rPr lang="en-US" sz="2400" spc="24" dirty="0">
                  <a:solidFill>
                    <a:srgbClr val="000000"/>
                  </a:solidFill>
                  <a:latin typeface="Arial" panose="020B0604020202020204" pitchFamily="34" charset="0"/>
                  <a:ea typeface="Arimo" panose="020B0604020202020204" charset="0"/>
                  <a:cs typeface="Arial" panose="020B0604020202020204" pitchFamily="34" charset="0"/>
                  <a:sym typeface="TT Rounds Condensed"/>
                </a:rPr>
                <a:t>Dans les pays </a:t>
              </a:r>
              <a:r>
                <a:rPr lang="en-US" sz="2400" spc="24" dirty="0" err="1">
                  <a:solidFill>
                    <a:srgbClr val="000000"/>
                  </a:solidFill>
                  <a:latin typeface="Arial" panose="020B0604020202020204" pitchFamily="34" charset="0"/>
                  <a:ea typeface="Arimo" panose="020B0604020202020204" charset="0"/>
                  <a:cs typeface="Arial" panose="020B0604020202020204" pitchFamily="34" charset="0"/>
                  <a:sym typeface="TT Rounds Condensed"/>
                </a:rPr>
                <a:t>en</a:t>
              </a:r>
              <a:r>
                <a:rPr lang="en-US" sz="2400" spc="24" dirty="0">
                  <a:solidFill>
                    <a:srgbClr val="000000"/>
                  </a:solidFill>
                  <a:latin typeface="Arial" panose="020B0604020202020204" pitchFamily="34" charset="0"/>
                  <a:ea typeface="Arimo" panose="020B0604020202020204" charset="0"/>
                  <a:cs typeface="Arial" panose="020B0604020202020204" pitchFamily="34" charset="0"/>
                  <a:sym typeface="TT Rounds Condensed"/>
                </a:rPr>
                <a:t> </a:t>
              </a:r>
              <a:r>
                <a:rPr lang="en-US" sz="2400" spc="24" dirty="0" err="1">
                  <a:solidFill>
                    <a:srgbClr val="000000"/>
                  </a:solidFill>
                  <a:latin typeface="Arial" panose="020B0604020202020204" pitchFamily="34" charset="0"/>
                  <a:ea typeface="Arimo" panose="020B0604020202020204" charset="0"/>
                  <a:cs typeface="Arial" panose="020B0604020202020204" pitchFamily="34" charset="0"/>
                  <a:sym typeface="TT Rounds Condensed"/>
                </a:rPr>
                <a:t>développement</a:t>
              </a:r>
              <a:r>
                <a:rPr lang="en-US" sz="2400" spc="24" dirty="0">
                  <a:solidFill>
                    <a:srgbClr val="000000"/>
                  </a:solidFill>
                  <a:latin typeface="Arial" panose="020B0604020202020204" pitchFamily="34" charset="0"/>
                  <a:ea typeface="Arimo" panose="020B0604020202020204" charset="0"/>
                  <a:cs typeface="Arial" panose="020B0604020202020204" pitchFamily="34" charset="0"/>
                  <a:sym typeface="TT Rounds Condensed"/>
                </a:rPr>
                <a:t>, </a:t>
              </a:r>
              <a:r>
                <a:rPr lang="en-US" sz="2400" spc="24" dirty="0" err="1">
                  <a:solidFill>
                    <a:srgbClr val="000000"/>
                  </a:solidFill>
                  <a:latin typeface="Arial" panose="020B0604020202020204" pitchFamily="34" charset="0"/>
                  <a:ea typeface="Arimo" panose="020B0604020202020204" charset="0"/>
                  <a:cs typeface="Arial" panose="020B0604020202020204" pitchFamily="34" charset="0"/>
                  <a:sym typeface="TT Rounds Condensed"/>
                </a:rPr>
                <a:t>comme</a:t>
              </a:r>
              <a:r>
                <a:rPr lang="en-US" sz="2400" spc="24" dirty="0">
                  <a:solidFill>
                    <a:srgbClr val="000000"/>
                  </a:solidFill>
                  <a:latin typeface="Arial" panose="020B0604020202020204" pitchFamily="34" charset="0"/>
                  <a:ea typeface="Arimo" panose="020B0604020202020204" charset="0"/>
                  <a:cs typeface="Arial" panose="020B0604020202020204" pitchFamily="34" charset="0"/>
                  <a:sym typeface="TT Rounds Condensed"/>
                </a:rPr>
                <a:t> le </a:t>
              </a:r>
              <a:r>
                <a:rPr lang="en-US" sz="2400" spc="24" dirty="0" err="1">
                  <a:solidFill>
                    <a:srgbClr val="000000"/>
                  </a:solidFill>
                  <a:latin typeface="Arial" panose="020B0604020202020204" pitchFamily="34" charset="0"/>
                  <a:ea typeface="Arimo" panose="020B0604020202020204" charset="0"/>
                  <a:cs typeface="Arial" panose="020B0604020202020204" pitchFamily="34" charset="0"/>
                  <a:sym typeface="TT Rounds Condensed"/>
                </a:rPr>
                <a:t>Sénégal</a:t>
              </a:r>
              <a:r>
                <a:rPr lang="en-US" sz="2400" spc="24" dirty="0">
                  <a:solidFill>
                    <a:srgbClr val="000000"/>
                  </a:solidFill>
                  <a:latin typeface="Arial" panose="020B0604020202020204" pitchFamily="34" charset="0"/>
                  <a:ea typeface="Arimo" panose="020B0604020202020204" charset="0"/>
                  <a:cs typeface="Arial" panose="020B0604020202020204" pitchFamily="34" charset="0"/>
                  <a:sym typeface="TT Rounds Condensed"/>
                </a:rPr>
                <a:t>, </a:t>
              </a:r>
              <a:r>
                <a:rPr lang="en-US" sz="2400" spc="24" dirty="0" err="1">
                  <a:solidFill>
                    <a:srgbClr val="000000"/>
                  </a:solidFill>
                  <a:latin typeface="Arial" panose="020B0604020202020204" pitchFamily="34" charset="0"/>
                  <a:ea typeface="Arimo" panose="020B0604020202020204" charset="0"/>
                  <a:cs typeface="Arial" panose="020B0604020202020204" pitchFamily="34" charset="0"/>
                  <a:sym typeface="TT Rounds Condensed"/>
                </a:rPr>
                <a:t>l'insalubrité</a:t>
              </a:r>
              <a:r>
                <a:rPr lang="en-US" sz="2400" spc="24" dirty="0">
                  <a:solidFill>
                    <a:srgbClr val="000000"/>
                  </a:solidFill>
                  <a:latin typeface="Arial" panose="020B0604020202020204" pitchFamily="34" charset="0"/>
                  <a:ea typeface="Arimo" panose="020B0604020202020204" charset="0"/>
                  <a:cs typeface="Arial" panose="020B0604020202020204" pitchFamily="34" charset="0"/>
                  <a:sym typeface="TT Rounds Condensed"/>
                </a:rPr>
                <a:t> </a:t>
              </a:r>
              <a:r>
                <a:rPr lang="en-US" sz="2400" spc="24" dirty="0" err="1">
                  <a:solidFill>
                    <a:srgbClr val="000000"/>
                  </a:solidFill>
                  <a:latin typeface="Arial" panose="020B0604020202020204" pitchFamily="34" charset="0"/>
                  <a:ea typeface="Arimo" panose="020B0604020202020204" charset="0"/>
                  <a:cs typeface="Arial" panose="020B0604020202020204" pitchFamily="34" charset="0"/>
                  <a:sym typeface="TT Rounds Condensed"/>
                </a:rPr>
                <a:t>publique</a:t>
              </a:r>
              <a:r>
                <a:rPr lang="en-US" sz="2400" spc="24" dirty="0">
                  <a:solidFill>
                    <a:srgbClr val="000000"/>
                  </a:solidFill>
                  <a:latin typeface="Arial" panose="020B0604020202020204" pitchFamily="34" charset="0"/>
                  <a:ea typeface="Arimo" panose="020B0604020202020204" charset="0"/>
                  <a:cs typeface="Arial" panose="020B0604020202020204" pitchFamily="34" charset="0"/>
                  <a:sym typeface="TT Rounds Condensed"/>
                </a:rPr>
                <a:t> </a:t>
              </a:r>
              <a:r>
                <a:rPr lang="en-US" sz="2400" spc="24" dirty="0" err="1">
                  <a:solidFill>
                    <a:srgbClr val="000000"/>
                  </a:solidFill>
                  <a:latin typeface="Arial" panose="020B0604020202020204" pitchFamily="34" charset="0"/>
                  <a:ea typeface="Arimo" panose="020B0604020202020204" charset="0"/>
                  <a:cs typeface="Arial" panose="020B0604020202020204" pitchFamily="34" charset="0"/>
                  <a:sym typeface="TT Rounds Condensed"/>
                </a:rPr>
                <a:t>est</a:t>
              </a:r>
              <a:r>
                <a:rPr lang="en-US" sz="2400" spc="24" dirty="0">
                  <a:solidFill>
                    <a:srgbClr val="000000"/>
                  </a:solidFill>
                  <a:latin typeface="Arial" panose="020B0604020202020204" pitchFamily="34" charset="0"/>
                  <a:ea typeface="Arimo" panose="020B0604020202020204" charset="0"/>
                  <a:cs typeface="Arial" panose="020B0604020202020204" pitchFamily="34" charset="0"/>
                  <a:sym typeface="TT Rounds Condensed"/>
                </a:rPr>
                <a:t> </a:t>
              </a:r>
              <a:r>
                <a:rPr lang="en-US" sz="2400" spc="24" dirty="0" err="1">
                  <a:solidFill>
                    <a:srgbClr val="000000"/>
                  </a:solidFill>
                  <a:latin typeface="Arial" panose="020B0604020202020204" pitchFamily="34" charset="0"/>
                  <a:ea typeface="Arimo" panose="020B0604020202020204" charset="0"/>
                  <a:cs typeface="Arial" panose="020B0604020202020204" pitchFamily="34" charset="0"/>
                  <a:sym typeface="TT Rounds Condensed"/>
                </a:rPr>
                <a:t>exacerbée</a:t>
              </a:r>
              <a:r>
                <a:rPr lang="en-US" sz="2400" spc="24" dirty="0">
                  <a:solidFill>
                    <a:srgbClr val="000000"/>
                  </a:solidFill>
                  <a:latin typeface="Arial" panose="020B0604020202020204" pitchFamily="34" charset="0"/>
                  <a:ea typeface="Arimo" panose="020B0604020202020204" charset="0"/>
                  <a:cs typeface="Arial" panose="020B0604020202020204" pitchFamily="34" charset="0"/>
                  <a:sym typeface="TT Rounds Condensed"/>
                </a:rPr>
                <a:t> par </a:t>
              </a:r>
              <a:r>
                <a:rPr lang="en-US" sz="2400" spc="24" dirty="0" err="1">
                  <a:solidFill>
                    <a:srgbClr val="000000"/>
                  </a:solidFill>
                  <a:latin typeface="Arial" panose="020B0604020202020204" pitchFamily="34" charset="0"/>
                  <a:ea typeface="Arimo" panose="020B0604020202020204" charset="0"/>
                  <a:cs typeface="Arial" panose="020B0604020202020204" pitchFamily="34" charset="0"/>
                  <a:sym typeface="TT Rounds Condensed"/>
                </a:rPr>
                <a:t>une</a:t>
              </a:r>
              <a:r>
                <a:rPr lang="en-US" sz="2400" spc="24" dirty="0">
                  <a:solidFill>
                    <a:srgbClr val="000000"/>
                  </a:solidFill>
                  <a:latin typeface="Arial" panose="020B0604020202020204" pitchFamily="34" charset="0"/>
                  <a:ea typeface="Arimo" panose="020B0604020202020204" charset="0"/>
                  <a:cs typeface="Arial" panose="020B0604020202020204" pitchFamily="34" charset="0"/>
                  <a:sym typeface="TT Rounds Condensed"/>
                </a:rPr>
                <a:t> gestion </a:t>
              </a:r>
              <a:r>
                <a:rPr lang="en-US" sz="2400" spc="24" dirty="0" err="1">
                  <a:solidFill>
                    <a:srgbClr val="000000"/>
                  </a:solidFill>
                  <a:latin typeface="Arial" panose="020B0604020202020204" pitchFamily="34" charset="0"/>
                  <a:ea typeface="Arimo" panose="020B0604020202020204" charset="0"/>
                  <a:cs typeface="Arial" panose="020B0604020202020204" pitchFamily="34" charset="0"/>
                  <a:sym typeface="TT Rounds Condensed"/>
                </a:rPr>
                <a:t>inefficace</a:t>
              </a:r>
              <a:r>
                <a:rPr lang="en-US" sz="2400" spc="24" dirty="0">
                  <a:solidFill>
                    <a:srgbClr val="000000"/>
                  </a:solidFill>
                  <a:latin typeface="Arial" panose="020B0604020202020204" pitchFamily="34" charset="0"/>
                  <a:ea typeface="Arimo" panose="020B0604020202020204" charset="0"/>
                  <a:cs typeface="Arial" panose="020B0604020202020204" pitchFamily="34" charset="0"/>
                  <a:sym typeface="TT Rounds Condensed"/>
                </a:rPr>
                <a:t> des </a:t>
              </a:r>
              <a:r>
                <a:rPr lang="en-US" sz="2400" spc="24" dirty="0" err="1">
                  <a:solidFill>
                    <a:srgbClr val="000000"/>
                  </a:solidFill>
                  <a:latin typeface="Arial" panose="020B0604020202020204" pitchFamily="34" charset="0"/>
                  <a:ea typeface="Arimo" panose="020B0604020202020204" charset="0"/>
                  <a:cs typeface="Arial" panose="020B0604020202020204" pitchFamily="34" charset="0"/>
                  <a:sym typeface="TT Rounds Condensed"/>
                </a:rPr>
                <a:t>déchets</a:t>
              </a:r>
              <a:r>
                <a:rPr lang="en-US" sz="2400" spc="24" dirty="0">
                  <a:solidFill>
                    <a:srgbClr val="000000"/>
                  </a:solidFill>
                  <a:latin typeface="Arial" panose="020B0604020202020204" pitchFamily="34" charset="0"/>
                  <a:ea typeface="Arimo" panose="020B0604020202020204" charset="0"/>
                  <a:cs typeface="Arial" panose="020B0604020202020204" pitchFamily="34" charset="0"/>
                  <a:sym typeface="TT Rounds Condensed"/>
                </a:rPr>
                <a:t>, </a:t>
              </a:r>
              <a:r>
                <a:rPr lang="en-US" sz="2400" spc="24" dirty="0" err="1">
                  <a:solidFill>
                    <a:srgbClr val="000000"/>
                  </a:solidFill>
                  <a:latin typeface="Arial" panose="020B0604020202020204" pitchFamily="34" charset="0"/>
                  <a:ea typeface="Arimo" panose="020B0604020202020204" charset="0"/>
                  <a:cs typeface="Arial" panose="020B0604020202020204" pitchFamily="34" charset="0"/>
                  <a:sym typeface="TT Rounds Condensed"/>
                </a:rPr>
                <a:t>mettant</a:t>
              </a:r>
              <a:r>
                <a:rPr lang="en-US" sz="2400" spc="24" dirty="0">
                  <a:solidFill>
                    <a:srgbClr val="000000"/>
                  </a:solidFill>
                  <a:latin typeface="Arial" panose="020B0604020202020204" pitchFamily="34" charset="0"/>
                  <a:ea typeface="Arimo" panose="020B0604020202020204" charset="0"/>
                  <a:cs typeface="Arial" panose="020B0604020202020204" pitchFamily="34" charset="0"/>
                  <a:sym typeface="TT Rounds Condensed"/>
                </a:rPr>
                <a:t> </a:t>
              </a:r>
              <a:r>
                <a:rPr lang="en-US" sz="2400" spc="24" dirty="0" err="1">
                  <a:solidFill>
                    <a:srgbClr val="000000"/>
                  </a:solidFill>
                  <a:latin typeface="Arial" panose="020B0604020202020204" pitchFamily="34" charset="0"/>
                  <a:ea typeface="Arimo" panose="020B0604020202020204" charset="0"/>
                  <a:cs typeface="Arial" panose="020B0604020202020204" pitchFamily="34" charset="0"/>
                  <a:sym typeface="TT Rounds Condensed"/>
                </a:rPr>
                <a:t>en</a:t>
              </a:r>
              <a:r>
                <a:rPr lang="en-US" sz="2400" spc="24" dirty="0">
                  <a:solidFill>
                    <a:srgbClr val="000000"/>
                  </a:solidFill>
                  <a:latin typeface="Arial" panose="020B0604020202020204" pitchFamily="34" charset="0"/>
                  <a:ea typeface="Arimo" panose="020B0604020202020204" charset="0"/>
                  <a:cs typeface="Arial" panose="020B0604020202020204" pitchFamily="34" charset="0"/>
                  <a:sym typeface="TT Rounds Condensed"/>
                </a:rPr>
                <a:t> danger la </a:t>
              </a:r>
              <a:r>
                <a:rPr lang="en-US" sz="2400" spc="24" dirty="0" err="1">
                  <a:solidFill>
                    <a:srgbClr val="000000"/>
                  </a:solidFill>
                  <a:latin typeface="Arial" panose="020B0604020202020204" pitchFamily="34" charset="0"/>
                  <a:ea typeface="Arimo" panose="020B0604020202020204" charset="0"/>
                  <a:cs typeface="Arial" panose="020B0604020202020204" pitchFamily="34" charset="0"/>
                  <a:sym typeface="TT Rounds Condensed"/>
                </a:rPr>
                <a:t>santé</a:t>
              </a:r>
              <a:r>
                <a:rPr lang="en-US" sz="2400" spc="24" dirty="0">
                  <a:solidFill>
                    <a:srgbClr val="000000"/>
                  </a:solidFill>
                  <a:latin typeface="Arial" panose="020B0604020202020204" pitchFamily="34" charset="0"/>
                  <a:ea typeface="Arimo" panose="020B0604020202020204" charset="0"/>
                  <a:cs typeface="Arial" panose="020B0604020202020204" pitchFamily="34" charset="0"/>
                  <a:sym typeface="TT Rounds Condensed"/>
                </a:rPr>
                <a:t> et </a:t>
              </a:r>
              <a:r>
                <a:rPr lang="en-US" sz="2400" spc="24" dirty="0" err="1">
                  <a:solidFill>
                    <a:srgbClr val="000000"/>
                  </a:solidFill>
                  <a:latin typeface="Arial" panose="020B0604020202020204" pitchFamily="34" charset="0"/>
                  <a:ea typeface="Arimo" panose="020B0604020202020204" charset="0"/>
                  <a:cs typeface="Arial" panose="020B0604020202020204" pitchFamily="34" charset="0"/>
                  <a:sym typeface="TT Rounds Condensed"/>
                </a:rPr>
                <a:t>l'environnement</a:t>
              </a:r>
              <a:r>
                <a:rPr lang="en-US" sz="2400" spc="24" dirty="0">
                  <a:solidFill>
                    <a:srgbClr val="000000"/>
                  </a:solidFill>
                  <a:latin typeface="Arial" panose="020B0604020202020204" pitchFamily="34" charset="0"/>
                  <a:ea typeface="Arimo" panose="020B0604020202020204" charset="0"/>
                  <a:cs typeface="Arial" panose="020B0604020202020204" pitchFamily="34" charset="0"/>
                  <a:sym typeface="TT Rounds Condensed"/>
                </a:rPr>
                <a:t>.</a:t>
              </a:r>
            </a:p>
          </p:txBody>
        </p:sp>
        <p:sp>
          <p:nvSpPr>
            <p:cNvPr id="48" name="TextBox 37">
              <a:extLst>
                <a:ext uri="{FF2B5EF4-FFF2-40B4-BE49-F238E27FC236}">
                  <a16:creationId xmlns:a16="http://schemas.microsoft.com/office/drawing/2014/main" id="{FB0041C8-1D3C-0BF1-83BD-08E0BE748570}"/>
                </a:ext>
              </a:extLst>
            </p:cNvPr>
            <p:cNvSpPr txBox="1"/>
            <p:nvPr/>
          </p:nvSpPr>
          <p:spPr>
            <a:xfrm>
              <a:off x="279641" y="-19050"/>
              <a:ext cx="7286604" cy="530060"/>
            </a:xfrm>
            <a:prstGeom prst="rect">
              <a:avLst/>
            </a:prstGeom>
          </p:spPr>
          <p:txBody>
            <a:bodyPr wrap="square" lIns="0" tIns="0" rIns="0" bIns="0" rtlCol="0" anchor="t">
              <a:spAutoFit/>
            </a:bodyPr>
            <a:lstStyle/>
            <a:p>
              <a:pPr marL="0" lvl="0" indent="0" algn="l">
                <a:lnSpc>
                  <a:spcPts val="3095"/>
                </a:lnSpc>
                <a:spcBef>
                  <a:spcPct val="0"/>
                </a:spcBef>
              </a:pPr>
              <a:r>
                <a:rPr lang="fr-FR" sz="2800" spc="93" dirty="0">
                  <a:solidFill>
                    <a:srgbClr val="000000"/>
                  </a:solidFill>
                  <a:latin typeface="Arial Black" panose="020B0A04020102020204" pitchFamily="34" charset="0"/>
                  <a:ea typeface="Arimo Bold" panose="020B0604020202020204" charset="0"/>
                  <a:cs typeface="Arimo Bold" panose="020B0604020202020204" charset="0"/>
                  <a:sym typeface="Aileron Bold"/>
                </a:rPr>
                <a:t>La gestion des ordures au Sénégal</a:t>
              </a:r>
              <a:endParaRPr lang="en-US" sz="2800" spc="93" dirty="0">
                <a:solidFill>
                  <a:srgbClr val="000000"/>
                </a:solidFill>
                <a:latin typeface="Arial Black" panose="020B0A04020102020204" pitchFamily="34" charset="0"/>
                <a:ea typeface="Arimo Bold" panose="020B0604020202020204" charset="0"/>
                <a:cs typeface="Arimo Bold" panose="020B0604020202020204" charset="0"/>
                <a:sym typeface="Aileron Bold"/>
              </a:endParaRPr>
            </a:p>
          </p:txBody>
        </p:sp>
      </p:grpSp>
      <p:sp>
        <p:nvSpPr>
          <p:cNvPr id="52" name="TextBox 20">
            <a:extLst>
              <a:ext uri="{FF2B5EF4-FFF2-40B4-BE49-F238E27FC236}">
                <a16:creationId xmlns:a16="http://schemas.microsoft.com/office/drawing/2014/main" id="{657E5FF6-606F-9305-4B50-FA8151D0240B}"/>
              </a:ext>
            </a:extLst>
          </p:cNvPr>
          <p:cNvSpPr txBox="1"/>
          <p:nvPr/>
        </p:nvSpPr>
        <p:spPr>
          <a:xfrm>
            <a:off x="17127734" y="9791700"/>
            <a:ext cx="855466" cy="245260"/>
          </a:xfrm>
          <a:prstGeom prst="rect">
            <a:avLst/>
          </a:prstGeom>
        </p:spPr>
        <p:txBody>
          <a:bodyPr wrap="square" lIns="0" tIns="0" rIns="0" bIns="0" rtlCol="0" anchor="t">
            <a:spAutoFit/>
          </a:bodyPr>
          <a:lstStyle/>
          <a:p>
            <a:pPr algn="ctr">
              <a:lnSpc>
                <a:spcPts val="1980"/>
              </a:lnSpc>
            </a:pPr>
            <a:r>
              <a:rPr lang="en-US" sz="1650" spc="15" dirty="0">
                <a:solidFill>
                  <a:srgbClr val="0070C0"/>
                </a:solidFill>
                <a:latin typeface="TT Rounds Condensed"/>
                <a:ea typeface="TT Rounds Condensed"/>
                <a:cs typeface="TT Rounds Condensed"/>
                <a:sym typeface="TT Rounds Condensed"/>
              </a:rPr>
              <a:t>04 |</a:t>
            </a:r>
            <a:r>
              <a:rPr lang="en-US" sz="1650" spc="15" dirty="0">
                <a:solidFill>
                  <a:srgbClr val="0070C0"/>
                </a:solidFill>
                <a:latin typeface="Arial Black" panose="020B0A04020102020204" pitchFamily="34" charset="0"/>
                <a:ea typeface="TT Rounds Condensed"/>
                <a:cs typeface="TT Rounds Condensed"/>
                <a:sym typeface="TT Rounds Condensed"/>
              </a:rPr>
              <a:t>33</a:t>
            </a:r>
            <a:endParaRPr lang="en-US" sz="1650" spc="15" dirty="0">
              <a:solidFill>
                <a:srgbClr val="0070C0"/>
              </a:solidFill>
              <a:latin typeface="Arial Black" panose="020B0A04020102020204" pitchFamily="34" charset="0"/>
              <a:ea typeface="TT Rounds Condensed Bold"/>
              <a:cs typeface="TT Rounds Condensed Bold"/>
              <a:sym typeface="TT Rounds Condensed Bo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fr-SN" dirty="0"/>
          </a:p>
        </p:txBody>
      </p:sp>
      <p:sp>
        <p:nvSpPr>
          <p:cNvPr id="3" name="TextBox 3"/>
          <p:cNvSpPr txBox="1"/>
          <p:nvPr/>
        </p:nvSpPr>
        <p:spPr>
          <a:xfrm>
            <a:off x="3232464" y="4229100"/>
            <a:ext cx="11823072" cy="761843"/>
          </a:xfrm>
          <a:prstGeom prst="rect">
            <a:avLst/>
          </a:prstGeom>
        </p:spPr>
        <p:txBody>
          <a:bodyPr lIns="0" tIns="0" rIns="0" bIns="0" rtlCol="0" anchor="t">
            <a:spAutoFit/>
          </a:bodyPr>
          <a:lstStyle/>
          <a:p>
            <a:pPr algn="ctr">
              <a:lnSpc>
                <a:spcPts val="6000"/>
              </a:lnSpc>
            </a:pPr>
            <a:r>
              <a:rPr lang="en-US" sz="6000" dirty="0">
                <a:solidFill>
                  <a:srgbClr val="FFFFFF"/>
                </a:solidFill>
                <a:latin typeface="Arimo Bold"/>
                <a:ea typeface="Arimo Bold"/>
                <a:cs typeface="Arimo Bold"/>
                <a:sym typeface="Arimo Bold"/>
              </a:rPr>
              <a:t>GENERALITE</a:t>
            </a:r>
          </a:p>
        </p:txBody>
      </p:sp>
      <p:sp>
        <p:nvSpPr>
          <p:cNvPr id="6" name="TextBox 20">
            <a:extLst>
              <a:ext uri="{FF2B5EF4-FFF2-40B4-BE49-F238E27FC236}">
                <a16:creationId xmlns:a16="http://schemas.microsoft.com/office/drawing/2014/main" id="{AB7AE910-DDF7-C398-9979-707266884536}"/>
              </a:ext>
            </a:extLst>
          </p:cNvPr>
          <p:cNvSpPr txBox="1"/>
          <p:nvPr/>
        </p:nvSpPr>
        <p:spPr>
          <a:xfrm>
            <a:off x="17127734" y="9791700"/>
            <a:ext cx="855466" cy="245260"/>
          </a:xfrm>
          <a:prstGeom prst="rect">
            <a:avLst/>
          </a:prstGeom>
        </p:spPr>
        <p:txBody>
          <a:bodyPr wrap="square" lIns="0" tIns="0" rIns="0" bIns="0" rtlCol="0" anchor="t">
            <a:spAutoFit/>
          </a:bodyPr>
          <a:lstStyle/>
          <a:p>
            <a:pPr algn="ctr">
              <a:lnSpc>
                <a:spcPts val="1980"/>
              </a:lnSpc>
            </a:pPr>
            <a:r>
              <a:rPr lang="en-US" sz="1650" spc="15" dirty="0">
                <a:solidFill>
                  <a:schemeClr val="bg1"/>
                </a:solidFill>
                <a:latin typeface="TT Rounds Condensed"/>
                <a:ea typeface="TT Rounds Condensed"/>
                <a:cs typeface="TT Rounds Condensed"/>
                <a:sym typeface="TT Rounds Condensed"/>
              </a:rPr>
              <a:t>05 | </a:t>
            </a:r>
            <a:r>
              <a:rPr lang="en-US" sz="1650" spc="15" dirty="0">
                <a:solidFill>
                  <a:schemeClr val="bg1"/>
                </a:solidFill>
                <a:latin typeface="Arial Black" panose="020B0A04020102020204" pitchFamily="34" charset="0"/>
                <a:ea typeface="TT Rounds Condensed"/>
                <a:cs typeface="TT Rounds Condensed"/>
                <a:sym typeface="TT Rounds Condensed"/>
              </a:rPr>
              <a:t>33</a:t>
            </a:r>
            <a:endParaRPr lang="en-US" sz="1650" spc="15" dirty="0">
              <a:solidFill>
                <a:schemeClr val="bg1"/>
              </a:solidFill>
              <a:latin typeface="Arial Black" panose="020B0A04020102020204" pitchFamily="34" charset="0"/>
              <a:ea typeface="TT Rounds Condensed Bold"/>
              <a:cs typeface="TT Rounds Condensed Bold"/>
              <a:sym typeface="TT Rounds Condensed Bo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525"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fr-SN"/>
          </a:p>
        </p:txBody>
      </p:sp>
      <p:grpSp>
        <p:nvGrpSpPr>
          <p:cNvPr id="7" name="Group 7"/>
          <p:cNvGrpSpPr/>
          <p:nvPr/>
        </p:nvGrpSpPr>
        <p:grpSpPr>
          <a:xfrm>
            <a:off x="6781800" y="6438900"/>
            <a:ext cx="10445138" cy="2841000"/>
            <a:chOff x="0" y="0"/>
            <a:chExt cx="1948755" cy="748247"/>
          </a:xfrm>
        </p:grpSpPr>
        <p:sp>
          <p:nvSpPr>
            <p:cNvPr id="8" name="Freeform 8"/>
            <p:cNvSpPr/>
            <p:nvPr/>
          </p:nvSpPr>
          <p:spPr>
            <a:xfrm>
              <a:off x="0" y="0"/>
              <a:ext cx="1948755" cy="748247"/>
            </a:xfrm>
            <a:custGeom>
              <a:avLst/>
              <a:gdLst/>
              <a:ahLst/>
              <a:cxnLst/>
              <a:rect l="l" t="t" r="r" b="b"/>
              <a:pathLst>
                <a:path w="1948755" h="748247">
                  <a:moveTo>
                    <a:pt x="0" y="0"/>
                  </a:moveTo>
                  <a:lnTo>
                    <a:pt x="1948755" y="0"/>
                  </a:lnTo>
                  <a:lnTo>
                    <a:pt x="1948755" y="748247"/>
                  </a:lnTo>
                  <a:lnTo>
                    <a:pt x="0" y="748247"/>
                  </a:lnTo>
                  <a:close/>
                </a:path>
              </a:pathLst>
            </a:custGeom>
            <a:solidFill>
              <a:srgbClr val="000000">
                <a:alpha val="0"/>
              </a:srgbClr>
            </a:solidFill>
            <a:ln w="19050" cap="sq">
              <a:solidFill>
                <a:srgbClr val="D9D9D9"/>
              </a:solidFill>
              <a:prstDash val="solid"/>
              <a:miter/>
            </a:ln>
          </p:spPr>
          <p:txBody>
            <a:bodyPr/>
            <a:lstStyle/>
            <a:p>
              <a:endParaRPr lang="fr-SN"/>
            </a:p>
          </p:txBody>
        </p:sp>
        <p:sp>
          <p:nvSpPr>
            <p:cNvPr id="9" name="TextBox 9"/>
            <p:cNvSpPr txBox="1"/>
            <p:nvPr/>
          </p:nvSpPr>
          <p:spPr>
            <a:xfrm>
              <a:off x="0" y="-47625"/>
              <a:ext cx="1948755" cy="795872"/>
            </a:xfrm>
            <a:prstGeom prst="rect">
              <a:avLst/>
            </a:prstGeom>
          </p:spPr>
          <p:txBody>
            <a:bodyPr lIns="50800" tIns="50800" rIns="50800" bIns="50800" rtlCol="0" anchor="ctr"/>
            <a:lstStyle/>
            <a:p>
              <a:pPr algn="ctr">
                <a:lnSpc>
                  <a:spcPts val="3499"/>
                </a:lnSpc>
              </a:pPr>
              <a:endParaRPr/>
            </a:p>
          </p:txBody>
        </p:sp>
      </p:grpSp>
      <p:grpSp>
        <p:nvGrpSpPr>
          <p:cNvPr id="13" name="Group 13"/>
          <p:cNvGrpSpPr/>
          <p:nvPr/>
        </p:nvGrpSpPr>
        <p:grpSpPr>
          <a:xfrm>
            <a:off x="1552282" y="2019300"/>
            <a:ext cx="9649118" cy="3021826"/>
            <a:chOff x="0" y="-47625"/>
            <a:chExt cx="1948755" cy="795872"/>
          </a:xfrm>
        </p:grpSpPr>
        <p:sp>
          <p:nvSpPr>
            <p:cNvPr id="14" name="Freeform 14"/>
            <p:cNvSpPr/>
            <p:nvPr/>
          </p:nvSpPr>
          <p:spPr>
            <a:xfrm>
              <a:off x="0" y="0"/>
              <a:ext cx="1948755" cy="748247"/>
            </a:xfrm>
            <a:custGeom>
              <a:avLst/>
              <a:gdLst/>
              <a:ahLst/>
              <a:cxnLst/>
              <a:rect l="l" t="t" r="r" b="b"/>
              <a:pathLst>
                <a:path w="1948755" h="748247">
                  <a:moveTo>
                    <a:pt x="0" y="0"/>
                  </a:moveTo>
                  <a:lnTo>
                    <a:pt x="1948755" y="0"/>
                  </a:lnTo>
                  <a:lnTo>
                    <a:pt x="1948755" y="748247"/>
                  </a:lnTo>
                  <a:lnTo>
                    <a:pt x="0" y="748247"/>
                  </a:lnTo>
                  <a:close/>
                </a:path>
              </a:pathLst>
            </a:custGeom>
            <a:solidFill>
              <a:srgbClr val="000000">
                <a:alpha val="0"/>
              </a:srgbClr>
            </a:solidFill>
            <a:ln w="19050" cap="sq">
              <a:solidFill>
                <a:srgbClr val="D9D9D9"/>
              </a:solidFill>
              <a:prstDash val="solid"/>
              <a:miter/>
            </a:ln>
          </p:spPr>
          <p:txBody>
            <a:bodyPr/>
            <a:lstStyle/>
            <a:p>
              <a:endParaRPr lang="fr-SN"/>
            </a:p>
          </p:txBody>
        </p:sp>
        <p:sp>
          <p:nvSpPr>
            <p:cNvPr id="15" name="TextBox 15"/>
            <p:cNvSpPr txBox="1"/>
            <p:nvPr/>
          </p:nvSpPr>
          <p:spPr>
            <a:xfrm>
              <a:off x="0" y="-47625"/>
              <a:ext cx="1948755" cy="795872"/>
            </a:xfrm>
            <a:prstGeom prst="rect">
              <a:avLst/>
            </a:prstGeom>
          </p:spPr>
          <p:txBody>
            <a:bodyPr lIns="50800" tIns="50800" rIns="50800" bIns="50800" rtlCol="0" anchor="ctr"/>
            <a:lstStyle/>
            <a:p>
              <a:pPr algn="ctr">
                <a:lnSpc>
                  <a:spcPts val="3499"/>
                </a:lnSpc>
              </a:pPr>
              <a:endParaRPr/>
            </a:p>
          </p:txBody>
        </p:sp>
      </p:grpSp>
      <p:sp>
        <p:nvSpPr>
          <p:cNvPr id="16" name="TextBox 16"/>
          <p:cNvSpPr txBox="1"/>
          <p:nvPr/>
        </p:nvSpPr>
        <p:spPr>
          <a:xfrm>
            <a:off x="1141608" y="4217707"/>
            <a:ext cx="598466" cy="481330"/>
          </a:xfrm>
          <a:prstGeom prst="rect">
            <a:avLst/>
          </a:prstGeom>
        </p:spPr>
        <p:txBody>
          <a:bodyPr lIns="0" tIns="0" rIns="0" bIns="0" rtlCol="0" anchor="t">
            <a:spAutoFit/>
          </a:bodyPr>
          <a:lstStyle/>
          <a:p>
            <a:pPr algn="ctr">
              <a:lnSpc>
                <a:spcPts val="3919"/>
              </a:lnSpc>
              <a:spcBef>
                <a:spcPct val="0"/>
              </a:spcBef>
            </a:pPr>
            <a:r>
              <a:rPr lang="en-US" sz="2800">
                <a:solidFill>
                  <a:srgbClr val="FFFFFF"/>
                </a:solidFill>
                <a:latin typeface="Aileron Heavy"/>
                <a:ea typeface="Aileron Heavy"/>
                <a:cs typeface="Aileron Heavy"/>
                <a:sym typeface="Aileron Heavy"/>
              </a:rPr>
              <a:t>S</a:t>
            </a:r>
          </a:p>
        </p:txBody>
      </p:sp>
      <p:grpSp>
        <p:nvGrpSpPr>
          <p:cNvPr id="20" name="Group 20"/>
          <p:cNvGrpSpPr/>
          <p:nvPr/>
        </p:nvGrpSpPr>
        <p:grpSpPr>
          <a:xfrm>
            <a:off x="1042464" y="3177265"/>
            <a:ext cx="1047163" cy="747035"/>
            <a:chOff x="0" y="0"/>
            <a:chExt cx="812800" cy="579843"/>
          </a:xfrm>
        </p:grpSpPr>
        <p:sp>
          <p:nvSpPr>
            <p:cNvPr id="21" name="Freeform 21"/>
            <p:cNvSpPr/>
            <p:nvPr/>
          </p:nvSpPr>
          <p:spPr>
            <a:xfrm>
              <a:off x="0" y="0"/>
              <a:ext cx="812800" cy="579843"/>
            </a:xfrm>
            <a:custGeom>
              <a:avLst/>
              <a:gdLst/>
              <a:ahLst/>
              <a:cxnLst/>
              <a:rect l="l" t="t" r="r" b="b"/>
              <a:pathLst>
                <a:path w="812800" h="579843">
                  <a:moveTo>
                    <a:pt x="609600" y="0"/>
                  </a:moveTo>
                  <a:lnTo>
                    <a:pt x="0" y="0"/>
                  </a:lnTo>
                  <a:lnTo>
                    <a:pt x="0" y="579843"/>
                  </a:lnTo>
                  <a:lnTo>
                    <a:pt x="609600" y="579843"/>
                  </a:lnTo>
                  <a:lnTo>
                    <a:pt x="812800" y="289921"/>
                  </a:lnTo>
                  <a:lnTo>
                    <a:pt x="609600" y="0"/>
                  </a:lnTo>
                  <a:close/>
                </a:path>
              </a:pathLst>
            </a:custGeom>
            <a:solidFill>
              <a:srgbClr val="0070C0"/>
            </a:solidFill>
          </p:spPr>
          <p:txBody>
            <a:bodyPr/>
            <a:lstStyle/>
            <a:p>
              <a:endParaRPr lang="fr-SN" dirty="0"/>
            </a:p>
          </p:txBody>
        </p:sp>
        <p:sp>
          <p:nvSpPr>
            <p:cNvPr id="22" name="TextBox 22"/>
            <p:cNvSpPr txBox="1"/>
            <p:nvPr/>
          </p:nvSpPr>
          <p:spPr>
            <a:xfrm>
              <a:off x="0" y="-66675"/>
              <a:ext cx="698500" cy="646518"/>
            </a:xfrm>
            <a:prstGeom prst="rect">
              <a:avLst/>
            </a:prstGeom>
          </p:spPr>
          <p:txBody>
            <a:bodyPr lIns="50800" tIns="50800" rIns="50800" bIns="50800" rtlCol="0" anchor="ctr"/>
            <a:lstStyle/>
            <a:p>
              <a:pPr algn="ctr">
                <a:lnSpc>
                  <a:spcPts val="4200"/>
                </a:lnSpc>
              </a:pPr>
              <a:r>
                <a:rPr lang="en-US" sz="3000" dirty="0">
                  <a:solidFill>
                    <a:srgbClr val="FFFFFF"/>
                  </a:solidFill>
                  <a:latin typeface="Aileron Ultra-Bold"/>
                  <a:ea typeface="Aileron Ultra-Bold"/>
                  <a:cs typeface="Aileron Ultra-Bold"/>
                  <a:sym typeface="Aileron Ultra-Bold"/>
                </a:rPr>
                <a:t>D</a:t>
              </a:r>
            </a:p>
          </p:txBody>
        </p:sp>
      </p:grpSp>
      <p:grpSp>
        <p:nvGrpSpPr>
          <p:cNvPr id="23" name="Group 23"/>
          <p:cNvGrpSpPr/>
          <p:nvPr/>
        </p:nvGrpSpPr>
        <p:grpSpPr>
          <a:xfrm>
            <a:off x="6248400" y="7520665"/>
            <a:ext cx="1047163" cy="747035"/>
            <a:chOff x="0" y="0"/>
            <a:chExt cx="812800" cy="579843"/>
          </a:xfrm>
        </p:grpSpPr>
        <p:sp>
          <p:nvSpPr>
            <p:cNvPr id="24" name="Freeform 24"/>
            <p:cNvSpPr/>
            <p:nvPr/>
          </p:nvSpPr>
          <p:spPr>
            <a:xfrm>
              <a:off x="0" y="0"/>
              <a:ext cx="812800" cy="579843"/>
            </a:xfrm>
            <a:custGeom>
              <a:avLst/>
              <a:gdLst/>
              <a:ahLst/>
              <a:cxnLst/>
              <a:rect l="l" t="t" r="r" b="b"/>
              <a:pathLst>
                <a:path w="812800" h="579843">
                  <a:moveTo>
                    <a:pt x="609600" y="0"/>
                  </a:moveTo>
                  <a:lnTo>
                    <a:pt x="0" y="0"/>
                  </a:lnTo>
                  <a:lnTo>
                    <a:pt x="0" y="579843"/>
                  </a:lnTo>
                  <a:lnTo>
                    <a:pt x="609600" y="579843"/>
                  </a:lnTo>
                  <a:lnTo>
                    <a:pt x="812800" y="289921"/>
                  </a:lnTo>
                  <a:lnTo>
                    <a:pt x="609600" y="0"/>
                  </a:lnTo>
                  <a:close/>
                </a:path>
              </a:pathLst>
            </a:custGeom>
            <a:solidFill>
              <a:srgbClr val="0076C4"/>
            </a:solidFill>
          </p:spPr>
          <p:txBody>
            <a:bodyPr/>
            <a:lstStyle/>
            <a:p>
              <a:endParaRPr lang="fr-SN" dirty="0"/>
            </a:p>
          </p:txBody>
        </p:sp>
        <p:sp>
          <p:nvSpPr>
            <p:cNvPr id="25" name="TextBox 25"/>
            <p:cNvSpPr txBox="1"/>
            <p:nvPr/>
          </p:nvSpPr>
          <p:spPr>
            <a:xfrm>
              <a:off x="0" y="-66675"/>
              <a:ext cx="698500" cy="646518"/>
            </a:xfrm>
            <a:prstGeom prst="rect">
              <a:avLst/>
            </a:prstGeom>
          </p:spPr>
          <p:txBody>
            <a:bodyPr lIns="50800" tIns="50800" rIns="50800" bIns="50800" rtlCol="0" anchor="ctr"/>
            <a:lstStyle/>
            <a:p>
              <a:pPr algn="ctr">
                <a:lnSpc>
                  <a:spcPts val="4200"/>
                </a:lnSpc>
              </a:pPr>
              <a:r>
                <a:rPr lang="en-US" sz="3000" dirty="0">
                  <a:solidFill>
                    <a:srgbClr val="FFFFFF"/>
                  </a:solidFill>
                  <a:latin typeface="Aileron Heavy"/>
                  <a:ea typeface="Aileron Heavy"/>
                  <a:cs typeface="Aileron Heavy"/>
                  <a:sym typeface="Aileron Heavy"/>
                </a:rPr>
                <a:t>C</a:t>
              </a:r>
            </a:p>
          </p:txBody>
        </p:sp>
      </p:grpSp>
      <p:sp>
        <p:nvSpPr>
          <p:cNvPr id="33" name="TextBox 33"/>
          <p:cNvSpPr txBox="1"/>
          <p:nvPr/>
        </p:nvSpPr>
        <p:spPr>
          <a:xfrm>
            <a:off x="2500302" y="2907526"/>
            <a:ext cx="8243898" cy="1038746"/>
          </a:xfrm>
          <a:prstGeom prst="rect">
            <a:avLst/>
          </a:prstGeom>
        </p:spPr>
        <p:txBody>
          <a:bodyPr wrap="square" lIns="0" tIns="0" rIns="0" bIns="0" rtlCol="0" anchor="t">
            <a:spAutoFit/>
          </a:bodyPr>
          <a:lstStyle/>
          <a:p>
            <a:pPr marL="291465" lvl="1" algn="just">
              <a:lnSpc>
                <a:spcPts val="2700"/>
              </a:lnSpc>
            </a:pPr>
            <a:r>
              <a:rPr lang="en-US" sz="2400" spc="25" dirty="0" err="1">
                <a:solidFill>
                  <a:schemeClr val="tx1">
                    <a:lumMod val="95000"/>
                    <a:lumOff val="5000"/>
                  </a:schemeClr>
                </a:solidFill>
                <a:latin typeface="Arial" panose="020B0604020202020204" pitchFamily="34" charset="0"/>
                <a:ea typeface="TT Rounds Condensed"/>
                <a:cs typeface="Arial" panose="020B0604020202020204" pitchFamily="34" charset="0"/>
                <a:sym typeface="TT Rounds Condensed"/>
              </a:rPr>
              <a:t>L'Unité</a:t>
            </a:r>
            <a:r>
              <a:rPr lang="en-US" sz="2400" spc="25" dirty="0">
                <a:solidFill>
                  <a:schemeClr val="tx1">
                    <a:lumMod val="95000"/>
                    <a:lumOff val="5000"/>
                  </a:schemeClr>
                </a:solidFill>
                <a:latin typeface="Arial" panose="020B0604020202020204" pitchFamily="34" charset="0"/>
                <a:ea typeface="TT Rounds Condensed"/>
                <a:cs typeface="Arial" panose="020B0604020202020204" pitchFamily="34" charset="0"/>
                <a:sym typeface="TT Rounds Condensed"/>
              </a:rPr>
              <a:t> de Coordination de la Gestion des </a:t>
            </a:r>
            <a:r>
              <a:rPr lang="en-US" sz="2400" spc="25" dirty="0" err="1">
                <a:solidFill>
                  <a:schemeClr val="tx1">
                    <a:lumMod val="95000"/>
                    <a:lumOff val="5000"/>
                  </a:schemeClr>
                </a:solidFill>
                <a:latin typeface="Arial" panose="020B0604020202020204" pitchFamily="34" charset="0"/>
                <a:ea typeface="TT Rounds Condensed"/>
                <a:cs typeface="Arial" panose="020B0604020202020204" pitchFamily="34" charset="0"/>
                <a:sym typeface="TT Rounds Condensed"/>
              </a:rPr>
              <a:t>Déchets</a:t>
            </a:r>
            <a:r>
              <a:rPr lang="en-US" sz="2400" spc="25" dirty="0">
                <a:solidFill>
                  <a:schemeClr val="tx1">
                    <a:lumMod val="95000"/>
                    <a:lumOff val="5000"/>
                  </a:schemeClr>
                </a:solidFill>
                <a:latin typeface="Arial" panose="020B0604020202020204" pitchFamily="34" charset="0"/>
                <a:ea typeface="TT Rounds Condensed"/>
                <a:cs typeface="Arial" panose="020B0604020202020204" pitchFamily="34" charset="0"/>
                <a:sym typeface="TT Rounds Condensed"/>
              </a:rPr>
              <a:t> </a:t>
            </a:r>
            <a:r>
              <a:rPr lang="en-US" sz="2400" spc="25" dirty="0" err="1">
                <a:solidFill>
                  <a:schemeClr val="tx1">
                    <a:lumMod val="95000"/>
                    <a:lumOff val="5000"/>
                  </a:schemeClr>
                </a:solidFill>
                <a:latin typeface="Arial" panose="020B0604020202020204" pitchFamily="34" charset="0"/>
                <a:ea typeface="TT Rounds Condensed"/>
                <a:cs typeface="Arial" panose="020B0604020202020204" pitchFamily="34" charset="0"/>
                <a:sym typeface="TT Rounds Condensed"/>
              </a:rPr>
              <a:t>Solides</a:t>
            </a:r>
            <a:r>
              <a:rPr lang="en-US" sz="2400" spc="25" dirty="0">
                <a:solidFill>
                  <a:schemeClr val="tx1">
                    <a:lumMod val="95000"/>
                    <a:lumOff val="5000"/>
                  </a:schemeClr>
                </a:solidFill>
                <a:latin typeface="Arial" panose="020B0604020202020204" pitchFamily="34" charset="0"/>
                <a:ea typeface="TT Rounds Condensed"/>
                <a:cs typeface="Arial" panose="020B0604020202020204" pitchFamily="34" charset="0"/>
                <a:sym typeface="TT Rounds Condensed"/>
              </a:rPr>
              <a:t> (UCG) </a:t>
            </a:r>
            <a:r>
              <a:rPr lang="en-US" sz="2400" spc="25" dirty="0" err="1">
                <a:solidFill>
                  <a:schemeClr val="tx1">
                    <a:lumMod val="95000"/>
                    <a:lumOff val="5000"/>
                  </a:schemeClr>
                </a:solidFill>
                <a:latin typeface="Arial" panose="020B0604020202020204" pitchFamily="34" charset="0"/>
                <a:ea typeface="TT Rounds Condensed"/>
                <a:cs typeface="Arial" panose="020B0604020202020204" pitchFamily="34" charset="0"/>
                <a:sym typeface="TT Rounds Condensed"/>
              </a:rPr>
              <a:t>est</a:t>
            </a:r>
            <a:r>
              <a:rPr lang="en-US" sz="2400" spc="25" dirty="0">
                <a:solidFill>
                  <a:schemeClr val="tx1">
                    <a:lumMod val="95000"/>
                    <a:lumOff val="5000"/>
                  </a:schemeClr>
                </a:solidFill>
                <a:latin typeface="Arial" panose="020B0604020202020204" pitchFamily="34" charset="0"/>
                <a:ea typeface="TT Rounds Condensed"/>
                <a:cs typeface="Arial" panose="020B0604020202020204" pitchFamily="34" charset="0"/>
                <a:sym typeface="TT Rounds Condensed"/>
              </a:rPr>
              <a:t> </a:t>
            </a:r>
            <a:r>
              <a:rPr lang="en-US" sz="2400" spc="25" dirty="0" err="1">
                <a:solidFill>
                  <a:schemeClr val="tx1">
                    <a:lumMod val="95000"/>
                    <a:lumOff val="5000"/>
                  </a:schemeClr>
                </a:solidFill>
                <a:latin typeface="Arial" panose="020B0604020202020204" pitchFamily="34" charset="0"/>
                <a:ea typeface="TT Rounds Condensed"/>
                <a:cs typeface="Arial" panose="020B0604020202020204" pitchFamily="34" charset="0"/>
                <a:sym typeface="TT Rounds Condensed"/>
              </a:rPr>
              <a:t>responsable</a:t>
            </a:r>
            <a:r>
              <a:rPr lang="en-US" sz="2400" spc="25" dirty="0">
                <a:solidFill>
                  <a:schemeClr val="tx1">
                    <a:lumMod val="95000"/>
                    <a:lumOff val="5000"/>
                  </a:schemeClr>
                </a:solidFill>
                <a:latin typeface="Arial" panose="020B0604020202020204" pitchFamily="34" charset="0"/>
                <a:ea typeface="TT Rounds Condensed"/>
                <a:cs typeface="Arial" panose="020B0604020202020204" pitchFamily="34" charset="0"/>
                <a:sym typeface="TT Rounds Condensed"/>
              </a:rPr>
              <a:t> de la mise </a:t>
            </a:r>
            <a:r>
              <a:rPr lang="en-US" sz="2400" spc="25" dirty="0" err="1">
                <a:solidFill>
                  <a:schemeClr val="tx1">
                    <a:lumMod val="95000"/>
                    <a:lumOff val="5000"/>
                  </a:schemeClr>
                </a:solidFill>
                <a:latin typeface="Arial" panose="020B0604020202020204" pitchFamily="34" charset="0"/>
                <a:ea typeface="TT Rounds Condensed"/>
                <a:cs typeface="Arial" panose="020B0604020202020204" pitchFamily="34" charset="0"/>
                <a:sym typeface="TT Rounds Condensed"/>
              </a:rPr>
              <a:t>en</a:t>
            </a:r>
            <a:r>
              <a:rPr lang="en-US" sz="2400" spc="25" dirty="0">
                <a:solidFill>
                  <a:schemeClr val="tx1">
                    <a:lumMod val="95000"/>
                    <a:lumOff val="5000"/>
                  </a:schemeClr>
                </a:solidFill>
                <a:latin typeface="Arial" panose="020B0604020202020204" pitchFamily="34" charset="0"/>
                <a:ea typeface="TT Rounds Condensed"/>
                <a:cs typeface="Arial" panose="020B0604020202020204" pitchFamily="34" charset="0"/>
                <a:sym typeface="TT Rounds Condensed"/>
              </a:rPr>
              <a:t> </a:t>
            </a:r>
            <a:r>
              <a:rPr lang="en-US" sz="2400" spc="25" dirty="0" err="1">
                <a:solidFill>
                  <a:schemeClr val="tx1">
                    <a:lumMod val="95000"/>
                    <a:lumOff val="5000"/>
                  </a:schemeClr>
                </a:solidFill>
                <a:latin typeface="Arial" panose="020B0604020202020204" pitchFamily="34" charset="0"/>
                <a:ea typeface="TT Rounds Condensed"/>
                <a:cs typeface="Arial" panose="020B0604020202020204" pitchFamily="34" charset="0"/>
                <a:sym typeface="TT Rounds Condensed"/>
              </a:rPr>
              <a:t>œuvre</a:t>
            </a:r>
            <a:r>
              <a:rPr lang="en-US" sz="2400" spc="25" dirty="0">
                <a:solidFill>
                  <a:schemeClr val="tx1">
                    <a:lumMod val="95000"/>
                    <a:lumOff val="5000"/>
                  </a:schemeClr>
                </a:solidFill>
                <a:latin typeface="Arial" panose="020B0604020202020204" pitchFamily="34" charset="0"/>
                <a:ea typeface="TT Rounds Condensed"/>
                <a:cs typeface="Arial" panose="020B0604020202020204" pitchFamily="34" charset="0"/>
                <a:sym typeface="TT Rounds Condensed"/>
              </a:rPr>
              <a:t> de </a:t>
            </a:r>
            <a:r>
              <a:rPr lang="en-US" sz="2400" spc="25" dirty="0" err="1">
                <a:solidFill>
                  <a:schemeClr val="tx1">
                    <a:lumMod val="95000"/>
                    <a:lumOff val="5000"/>
                  </a:schemeClr>
                </a:solidFill>
                <a:latin typeface="Arial" panose="020B0604020202020204" pitchFamily="34" charset="0"/>
                <a:ea typeface="TT Rounds Condensed"/>
                <a:cs typeface="Arial" panose="020B0604020202020204" pitchFamily="34" charset="0"/>
                <a:sym typeface="TT Rounds Condensed"/>
              </a:rPr>
              <a:t>ces</a:t>
            </a:r>
            <a:r>
              <a:rPr lang="en-US" sz="2400" spc="25" dirty="0">
                <a:solidFill>
                  <a:schemeClr val="tx1">
                    <a:lumMod val="95000"/>
                    <a:lumOff val="5000"/>
                  </a:schemeClr>
                </a:solidFill>
                <a:latin typeface="Arial" panose="020B0604020202020204" pitchFamily="34" charset="0"/>
                <a:ea typeface="TT Rounds Condensed"/>
                <a:cs typeface="Arial" panose="020B0604020202020204" pitchFamily="34" charset="0"/>
                <a:sym typeface="TT Rounds Condensed"/>
              </a:rPr>
              <a:t> initiatives.</a:t>
            </a:r>
          </a:p>
        </p:txBody>
      </p:sp>
      <p:sp>
        <p:nvSpPr>
          <p:cNvPr id="36" name="TextBox 36"/>
          <p:cNvSpPr txBox="1"/>
          <p:nvPr/>
        </p:nvSpPr>
        <p:spPr>
          <a:xfrm>
            <a:off x="7828963" y="6793394"/>
            <a:ext cx="8935037" cy="2154436"/>
          </a:xfrm>
          <a:prstGeom prst="rect">
            <a:avLst/>
          </a:prstGeom>
        </p:spPr>
        <p:txBody>
          <a:bodyPr wrap="square" lIns="0" tIns="0" rIns="0" bIns="0" rtlCol="0" anchor="t">
            <a:spAutoFit/>
          </a:bodyPr>
          <a:lstStyle/>
          <a:p>
            <a:pPr algn="just"/>
            <a:r>
              <a:rPr lang="fr-SN" sz="2400" spc="24" dirty="0">
                <a:solidFill>
                  <a:schemeClr val="tx1">
                    <a:lumMod val="95000"/>
                    <a:lumOff val="5000"/>
                  </a:schemeClr>
                </a:solidFill>
                <a:latin typeface="Arial" panose="020B0604020202020204" pitchFamily="34" charset="0"/>
                <a:ea typeface="TT Rounds Condensed"/>
                <a:cs typeface="Arial" panose="020B0604020202020204" pitchFamily="34" charset="0"/>
                <a:sym typeface="TT Rounds Condensed"/>
              </a:rPr>
              <a:t>Le projet de loi 06/2022 prévoit la création de la Société nationale de gestion intégrée des déchets (SONAGED), qui remplacera l'UCG. La SONAGED vise à favoriser l'intercommunalité, à développer des infrastructures de valorisation des déchets et à promouvoir l'économie circulaire.</a:t>
            </a:r>
            <a:endParaRPr lang="en-US" sz="2400" spc="24" dirty="0">
              <a:solidFill>
                <a:schemeClr val="tx1">
                  <a:lumMod val="95000"/>
                  <a:lumOff val="5000"/>
                </a:schemeClr>
              </a:solidFill>
              <a:latin typeface="Arial" panose="020B0604020202020204" pitchFamily="34" charset="0"/>
              <a:ea typeface="TT Rounds Condensed"/>
              <a:cs typeface="Arial" panose="020B0604020202020204" pitchFamily="34" charset="0"/>
              <a:sym typeface="TT Rounds Condensed"/>
            </a:endParaRPr>
          </a:p>
          <a:p>
            <a:pPr>
              <a:lnSpc>
                <a:spcPts val="2399"/>
              </a:lnSpc>
            </a:pPr>
            <a:endParaRPr lang="en-US" sz="2500" spc="31" dirty="0">
              <a:solidFill>
                <a:srgbClr val="000000"/>
              </a:solidFill>
              <a:latin typeface="Aileron"/>
              <a:ea typeface="Aileron"/>
              <a:cs typeface="Aileron"/>
              <a:sym typeface="Aileron"/>
            </a:endParaRPr>
          </a:p>
        </p:txBody>
      </p:sp>
      <p:sp>
        <p:nvSpPr>
          <p:cNvPr id="42" name="TextBox 42"/>
          <p:cNvSpPr txBox="1"/>
          <p:nvPr/>
        </p:nvSpPr>
        <p:spPr>
          <a:xfrm>
            <a:off x="2852454" y="483052"/>
            <a:ext cx="11823072" cy="769441"/>
          </a:xfrm>
          <a:prstGeom prst="rect">
            <a:avLst/>
          </a:prstGeom>
        </p:spPr>
        <p:txBody>
          <a:bodyPr lIns="0" tIns="0" rIns="0" bIns="0" rtlCol="0" anchor="t">
            <a:spAutoFit/>
          </a:bodyPr>
          <a:lstStyle/>
          <a:p>
            <a:pPr algn="ctr">
              <a:lnSpc>
                <a:spcPts val="6000"/>
              </a:lnSpc>
            </a:pPr>
            <a:r>
              <a:rPr lang="en-US" sz="5400" dirty="0">
                <a:solidFill>
                  <a:srgbClr val="0070C0"/>
                </a:solidFill>
                <a:latin typeface="Arial Black" panose="020B0A04020102020204" pitchFamily="34" charset="0"/>
                <a:ea typeface="Arimo Bold"/>
                <a:cs typeface="Arimo Bold"/>
                <a:sym typeface="Arimo Bold"/>
              </a:rPr>
              <a:t>UCG-SONAGED</a:t>
            </a:r>
          </a:p>
        </p:txBody>
      </p:sp>
      <p:pic>
        <p:nvPicPr>
          <p:cNvPr id="47" name="Image 46">
            <a:extLst>
              <a:ext uri="{FF2B5EF4-FFF2-40B4-BE49-F238E27FC236}">
                <a16:creationId xmlns:a16="http://schemas.microsoft.com/office/drawing/2014/main" id="{8390FE3E-7A17-C912-7914-A752DC75237D}"/>
              </a:ext>
            </a:extLst>
          </p:cNvPr>
          <p:cNvPicPr>
            <a:picLocks noChangeAspect="1"/>
          </p:cNvPicPr>
          <p:nvPr/>
        </p:nvPicPr>
        <p:blipFill>
          <a:blip r:embed="rId3"/>
          <a:stretch>
            <a:fillRect/>
          </a:stretch>
        </p:blipFill>
        <p:spPr>
          <a:xfrm>
            <a:off x="2286000" y="6078880"/>
            <a:ext cx="3051773" cy="3051773"/>
          </a:xfrm>
          <a:prstGeom prst="rect">
            <a:avLst/>
          </a:prstGeom>
        </p:spPr>
      </p:pic>
      <p:pic>
        <p:nvPicPr>
          <p:cNvPr id="1026" name="Picture 2" descr="UCG-Sonaged SA | Facebook">
            <a:extLst>
              <a:ext uri="{FF2B5EF4-FFF2-40B4-BE49-F238E27FC236}">
                <a16:creationId xmlns:a16="http://schemas.microsoft.com/office/drawing/2014/main" id="{138F3852-93E1-E5F6-D4FE-D8D4A184E6B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0" y="1819275"/>
            <a:ext cx="3324225" cy="332422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20">
            <a:extLst>
              <a:ext uri="{FF2B5EF4-FFF2-40B4-BE49-F238E27FC236}">
                <a16:creationId xmlns:a16="http://schemas.microsoft.com/office/drawing/2014/main" id="{F14D87C7-BE9F-B182-E23B-4DC070280BD9}"/>
              </a:ext>
            </a:extLst>
          </p:cNvPr>
          <p:cNvSpPr txBox="1"/>
          <p:nvPr/>
        </p:nvSpPr>
        <p:spPr>
          <a:xfrm>
            <a:off x="17127734" y="9791700"/>
            <a:ext cx="855466" cy="245260"/>
          </a:xfrm>
          <a:prstGeom prst="rect">
            <a:avLst/>
          </a:prstGeom>
        </p:spPr>
        <p:txBody>
          <a:bodyPr wrap="square" lIns="0" tIns="0" rIns="0" bIns="0" rtlCol="0" anchor="t">
            <a:spAutoFit/>
          </a:bodyPr>
          <a:lstStyle/>
          <a:p>
            <a:pPr algn="ctr">
              <a:lnSpc>
                <a:spcPts val="1980"/>
              </a:lnSpc>
            </a:pPr>
            <a:r>
              <a:rPr lang="en-US" sz="1650" spc="15" dirty="0">
                <a:solidFill>
                  <a:srgbClr val="0070C0"/>
                </a:solidFill>
                <a:latin typeface="TT Rounds Condensed"/>
                <a:ea typeface="TT Rounds Condensed"/>
                <a:cs typeface="TT Rounds Condensed"/>
                <a:sym typeface="TT Rounds Condensed"/>
              </a:rPr>
              <a:t>06 | </a:t>
            </a:r>
            <a:r>
              <a:rPr lang="en-US" sz="1650" spc="15" dirty="0">
                <a:solidFill>
                  <a:srgbClr val="0070C0"/>
                </a:solidFill>
                <a:latin typeface="Arial Black" panose="020B0A04020102020204" pitchFamily="34" charset="0"/>
                <a:ea typeface="TT Rounds Condensed"/>
                <a:cs typeface="TT Rounds Condensed"/>
                <a:sym typeface="TT Rounds Condensed"/>
              </a:rPr>
              <a:t>33</a:t>
            </a:r>
            <a:endParaRPr lang="en-US" sz="1650" spc="15" dirty="0">
              <a:solidFill>
                <a:srgbClr val="0070C0"/>
              </a:solidFill>
              <a:latin typeface="Arial Black" panose="020B0A04020102020204" pitchFamily="34" charset="0"/>
              <a:ea typeface="TT Rounds Condensed Bold"/>
              <a:cs typeface="TT Rounds Condensed Bold"/>
              <a:sym typeface="TT Rounds Condensed Bo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fr-SN"/>
          </a:p>
        </p:txBody>
      </p:sp>
      <p:sp>
        <p:nvSpPr>
          <p:cNvPr id="3" name="Freeform 3"/>
          <p:cNvSpPr/>
          <p:nvPr/>
        </p:nvSpPr>
        <p:spPr>
          <a:xfrm>
            <a:off x="2221374" y="1988678"/>
            <a:ext cx="14174750" cy="7269622"/>
          </a:xfrm>
          <a:custGeom>
            <a:avLst/>
            <a:gdLst/>
            <a:ahLst/>
            <a:cxnLst/>
            <a:rect l="l" t="t" r="r" b="b"/>
            <a:pathLst>
              <a:path w="14174750" h="7269622">
                <a:moveTo>
                  <a:pt x="0" y="0"/>
                </a:moveTo>
                <a:lnTo>
                  <a:pt x="14174750" y="0"/>
                </a:lnTo>
                <a:lnTo>
                  <a:pt x="14174750" y="7269622"/>
                </a:lnTo>
                <a:lnTo>
                  <a:pt x="0" y="7269622"/>
                </a:lnTo>
                <a:lnTo>
                  <a:pt x="0" y="0"/>
                </a:lnTo>
                <a:close/>
              </a:path>
            </a:pathLst>
          </a:custGeom>
          <a:blipFill>
            <a:blip r:embed="rId3"/>
            <a:stretch>
              <a:fillRect/>
            </a:stretch>
          </a:blipFill>
        </p:spPr>
        <p:txBody>
          <a:bodyPr/>
          <a:lstStyle/>
          <a:p>
            <a:endParaRPr lang="fr-SN"/>
          </a:p>
        </p:txBody>
      </p:sp>
      <p:sp>
        <p:nvSpPr>
          <p:cNvPr id="4" name="TextBox 4"/>
          <p:cNvSpPr txBox="1"/>
          <p:nvPr/>
        </p:nvSpPr>
        <p:spPr>
          <a:xfrm>
            <a:off x="2852454" y="483052"/>
            <a:ext cx="11823072" cy="769441"/>
          </a:xfrm>
          <a:prstGeom prst="rect">
            <a:avLst/>
          </a:prstGeom>
        </p:spPr>
        <p:txBody>
          <a:bodyPr lIns="0" tIns="0" rIns="0" bIns="0" rtlCol="0" anchor="t">
            <a:spAutoFit/>
          </a:bodyPr>
          <a:lstStyle/>
          <a:p>
            <a:pPr algn="ctr">
              <a:lnSpc>
                <a:spcPts val="6000"/>
              </a:lnSpc>
            </a:pPr>
            <a:r>
              <a:rPr lang="en-US" sz="5400" dirty="0">
                <a:solidFill>
                  <a:srgbClr val="0070C0"/>
                </a:solidFill>
                <a:latin typeface="Arial Black" panose="020B0A04020102020204" pitchFamily="34" charset="0"/>
                <a:ea typeface="Arimo Bold"/>
                <a:cs typeface="Arimo Bold"/>
                <a:sym typeface="Arimo Bold"/>
              </a:rPr>
              <a:t>UCG-SONAGED</a:t>
            </a:r>
          </a:p>
        </p:txBody>
      </p:sp>
      <p:sp>
        <p:nvSpPr>
          <p:cNvPr id="6" name="TextBox 20">
            <a:extLst>
              <a:ext uri="{FF2B5EF4-FFF2-40B4-BE49-F238E27FC236}">
                <a16:creationId xmlns:a16="http://schemas.microsoft.com/office/drawing/2014/main" id="{B41D7301-69E3-BB40-104E-CE6A698D674D}"/>
              </a:ext>
            </a:extLst>
          </p:cNvPr>
          <p:cNvSpPr txBox="1"/>
          <p:nvPr/>
        </p:nvSpPr>
        <p:spPr>
          <a:xfrm>
            <a:off x="17127734" y="9791700"/>
            <a:ext cx="855466" cy="245260"/>
          </a:xfrm>
          <a:prstGeom prst="rect">
            <a:avLst/>
          </a:prstGeom>
        </p:spPr>
        <p:txBody>
          <a:bodyPr wrap="square" lIns="0" tIns="0" rIns="0" bIns="0" rtlCol="0" anchor="t">
            <a:spAutoFit/>
          </a:bodyPr>
          <a:lstStyle/>
          <a:p>
            <a:pPr algn="ctr">
              <a:lnSpc>
                <a:spcPts val="1980"/>
              </a:lnSpc>
            </a:pPr>
            <a:r>
              <a:rPr lang="en-US" sz="1650" spc="15" dirty="0">
                <a:solidFill>
                  <a:srgbClr val="0070C0"/>
                </a:solidFill>
                <a:latin typeface="TT Rounds Condensed"/>
                <a:ea typeface="TT Rounds Condensed"/>
                <a:cs typeface="TT Rounds Condensed"/>
                <a:sym typeface="TT Rounds Condensed"/>
              </a:rPr>
              <a:t>07 | </a:t>
            </a:r>
            <a:r>
              <a:rPr lang="en-US" sz="1650" spc="15" dirty="0">
                <a:solidFill>
                  <a:srgbClr val="0070C0"/>
                </a:solidFill>
                <a:latin typeface="Arial Black" panose="020B0A04020102020204" pitchFamily="34" charset="0"/>
                <a:ea typeface="TT Rounds Condensed"/>
                <a:cs typeface="TT Rounds Condensed"/>
                <a:sym typeface="TT Rounds Condensed"/>
              </a:rPr>
              <a:t>33</a:t>
            </a:r>
            <a:endParaRPr lang="en-US" sz="1650" spc="15" dirty="0">
              <a:solidFill>
                <a:srgbClr val="0070C0"/>
              </a:solidFill>
              <a:latin typeface="Arial Black" panose="020B0A04020102020204" pitchFamily="34" charset="0"/>
              <a:ea typeface="TT Rounds Condensed Bold"/>
              <a:cs typeface="TT Rounds Condensed Bold"/>
              <a:sym typeface="TT Rounds Condensed Bo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fr-SN">
              <a:latin typeface="Arial" panose="020B0604020202020204" pitchFamily="34" charset="0"/>
              <a:cs typeface="Arial" panose="020B0604020202020204" pitchFamily="34" charset="0"/>
            </a:endParaRPr>
          </a:p>
        </p:txBody>
      </p:sp>
      <p:grpSp>
        <p:nvGrpSpPr>
          <p:cNvPr id="4" name="Group 4"/>
          <p:cNvGrpSpPr/>
          <p:nvPr/>
        </p:nvGrpSpPr>
        <p:grpSpPr>
          <a:xfrm>
            <a:off x="1552282" y="2200126"/>
            <a:ext cx="7399178" cy="2841000"/>
            <a:chOff x="0" y="0"/>
            <a:chExt cx="1948755" cy="748247"/>
          </a:xfrm>
        </p:grpSpPr>
        <p:sp>
          <p:nvSpPr>
            <p:cNvPr id="5" name="Freeform 5"/>
            <p:cNvSpPr/>
            <p:nvPr/>
          </p:nvSpPr>
          <p:spPr>
            <a:xfrm>
              <a:off x="0" y="0"/>
              <a:ext cx="1948755" cy="748247"/>
            </a:xfrm>
            <a:custGeom>
              <a:avLst/>
              <a:gdLst/>
              <a:ahLst/>
              <a:cxnLst/>
              <a:rect l="l" t="t" r="r" b="b"/>
              <a:pathLst>
                <a:path w="1948755" h="748247">
                  <a:moveTo>
                    <a:pt x="0" y="0"/>
                  </a:moveTo>
                  <a:lnTo>
                    <a:pt x="1948755" y="0"/>
                  </a:lnTo>
                  <a:lnTo>
                    <a:pt x="1948755" y="748247"/>
                  </a:lnTo>
                  <a:lnTo>
                    <a:pt x="0" y="748247"/>
                  </a:lnTo>
                  <a:close/>
                </a:path>
              </a:pathLst>
            </a:custGeom>
            <a:solidFill>
              <a:srgbClr val="000000">
                <a:alpha val="0"/>
              </a:srgbClr>
            </a:solidFill>
            <a:ln w="19050" cap="sq">
              <a:solidFill>
                <a:srgbClr val="D9D9D9"/>
              </a:solidFill>
              <a:prstDash val="solid"/>
              <a:miter/>
            </a:ln>
          </p:spPr>
          <p:txBody>
            <a:bodyPr/>
            <a:lstStyle/>
            <a:p>
              <a:endParaRPr lang="fr-SN">
                <a:latin typeface="Arial" panose="020B0604020202020204" pitchFamily="34" charset="0"/>
                <a:cs typeface="Arial" panose="020B0604020202020204" pitchFamily="34" charset="0"/>
              </a:endParaRPr>
            </a:p>
          </p:txBody>
        </p:sp>
        <p:sp>
          <p:nvSpPr>
            <p:cNvPr id="6" name="TextBox 6"/>
            <p:cNvSpPr txBox="1"/>
            <p:nvPr/>
          </p:nvSpPr>
          <p:spPr>
            <a:xfrm>
              <a:off x="0" y="-47625"/>
              <a:ext cx="1948755" cy="795872"/>
            </a:xfrm>
            <a:prstGeom prst="rect">
              <a:avLst/>
            </a:prstGeom>
          </p:spPr>
          <p:txBody>
            <a:bodyPr lIns="50800" tIns="50800" rIns="50800" bIns="50800" rtlCol="0" anchor="ctr"/>
            <a:lstStyle/>
            <a:p>
              <a:pPr algn="ctr">
                <a:lnSpc>
                  <a:spcPts val="3499"/>
                </a:lnSpc>
              </a:pPr>
              <a:endParaRPr>
                <a:latin typeface="Arial" panose="020B0604020202020204" pitchFamily="34" charset="0"/>
                <a:cs typeface="Arial" panose="020B0604020202020204" pitchFamily="34" charset="0"/>
              </a:endParaRPr>
            </a:p>
          </p:txBody>
        </p:sp>
      </p:grpSp>
      <p:grpSp>
        <p:nvGrpSpPr>
          <p:cNvPr id="7" name="Group 7"/>
          <p:cNvGrpSpPr/>
          <p:nvPr/>
        </p:nvGrpSpPr>
        <p:grpSpPr>
          <a:xfrm>
            <a:off x="9827760" y="2200126"/>
            <a:ext cx="7399178" cy="2841000"/>
            <a:chOff x="0" y="0"/>
            <a:chExt cx="1948755" cy="748247"/>
          </a:xfrm>
        </p:grpSpPr>
        <p:sp>
          <p:nvSpPr>
            <p:cNvPr id="8" name="Freeform 8"/>
            <p:cNvSpPr/>
            <p:nvPr/>
          </p:nvSpPr>
          <p:spPr>
            <a:xfrm>
              <a:off x="0" y="0"/>
              <a:ext cx="1948755" cy="748247"/>
            </a:xfrm>
            <a:custGeom>
              <a:avLst/>
              <a:gdLst/>
              <a:ahLst/>
              <a:cxnLst/>
              <a:rect l="l" t="t" r="r" b="b"/>
              <a:pathLst>
                <a:path w="1948755" h="748247">
                  <a:moveTo>
                    <a:pt x="0" y="0"/>
                  </a:moveTo>
                  <a:lnTo>
                    <a:pt x="1948755" y="0"/>
                  </a:lnTo>
                  <a:lnTo>
                    <a:pt x="1948755" y="748247"/>
                  </a:lnTo>
                  <a:lnTo>
                    <a:pt x="0" y="748247"/>
                  </a:lnTo>
                  <a:close/>
                </a:path>
              </a:pathLst>
            </a:custGeom>
            <a:solidFill>
              <a:srgbClr val="000000">
                <a:alpha val="0"/>
              </a:srgbClr>
            </a:solidFill>
            <a:ln w="19050" cap="sq">
              <a:solidFill>
                <a:srgbClr val="D9D9D9"/>
              </a:solidFill>
              <a:prstDash val="solid"/>
              <a:miter/>
            </a:ln>
          </p:spPr>
          <p:txBody>
            <a:bodyPr/>
            <a:lstStyle/>
            <a:p>
              <a:endParaRPr lang="fr-SN">
                <a:latin typeface="Arial" panose="020B0604020202020204" pitchFamily="34" charset="0"/>
                <a:cs typeface="Arial" panose="020B0604020202020204" pitchFamily="34" charset="0"/>
              </a:endParaRPr>
            </a:p>
          </p:txBody>
        </p:sp>
        <p:sp>
          <p:nvSpPr>
            <p:cNvPr id="9" name="TextBox 9"/>
            <p:cNvSpPr txBox="1"/>
            <p:nvPr/>
          </p:nvSpPr>
          <p:spPr>
            <a:xfrm>
              <a:off x="0" y="-47625"/>
              <a:ext cx="1948755" cy="795872"/>
            </a:xfrm>
            <a:prstGeom prst="rect">
              <a:avLst/>
            </a:prstGeom>
          </p:spPr>
          <p:txBody>
            <a:bodyPr lIns="50800" tIns="50800" rIns="50800" bIns="50800" rtlCol="0" anchor="ctr"/>
            <a:lstStyle/>
            <a:p>
              <a:pPr algn="ctr">
                <a:lnSpc>
                  <a:spcPts val="3499"/>
                </a:lnSpc>
              </a:pPr>
              <a:endParaRPr>
                <a:latin typeface="Arial" panose="020B0604020202020204" pitchFamily="34" charset="0"/>
                <a:cs typeface="Arial" panose="020B0604020202020204" pitchFamily="34" charset="0"/>
              </a:endParaRPr>
            </a:p>
          </p:txBody>
        </p:sp>
      </p:grpSp>
      <p:grpSp>
        <p:nvGrpSpPr>
          <p:cNvPr id="10" name="Group 10"/>
          <p:cNvGrpSpPr/>
          <p:nvPr/>
        </p:nvGrpSpPr>
        <p:grpSpPr>
          <a:xfrm>
            <a:off x="9827760" y="5563466"/>
            <a:ext cx="7399178" cy="2841000"/>
            <a:chOff x="0" y="0"/>
            <a:chExt cx="1948755" cy="748247"/>
          </a:xfrm>
        </p:grpSpPr>
        <p:sp>
          <p:nvSpPr>
            <p:cNvPr id="11" name="Freeform 11"/>
            <p:cNvSpPr/>
            <p:nvPr/>
          </p:nvSpPr>
          <p:spPr>
            <a:xfrm>
              <a:off x="0" y="0"/>
              <a:ext cx="1948755" cy="748247"/>
            </a:xfrm>
            <a:custGeom>
              <a:avLst/>
              <a:gdLst/>
              <a:ahLst/>
              <a:cxnLst/>
              <a:rect l="l" t="t" r="r" b="b"/>
              <a:pathLst>
                <a:path w="1948755" h="748247">
                  <a:moveTo>
                    <a:pt x="0" y="0"/>
                  </a:moveTo>
                  <a:lnTo>
                    <a:pt x="1948755" y="0"/>
                  </a:lnTo>
                  <a:lnTo>
                    <a:pt x="1948755" y="748247"/>
                  </a:lnTo>
                  <a:lnTo>
                    <a:pt x="0" y="748247"/>
                  </a:lnTo>
                  <a:close/>
                </a:path>
              </a:pathLst>
            </a:custGeom>
            <a:solidFill>
              <a:srgbClr val="000000">
                <a:alpha val="0"/>
              </a:srgbClr>
            </a:solidFill>
            <a:ln w="19050" cap="sq">
              <a:solidFill>
                <a:srgbClr val="D9D9D9"/>
              </a:solidFill>
              <a:prstDash val="solid"/>
              <a:miter/>
            </a:ln>
          </p:spPr>
          <p:txBody>
            <a:bodyPr/>
            <a:lstStyle/>
            <a:p>
              <a:endParaRPr lang="fr-SN">
                <a:latin typeface="Arial" panose="020B0604020202020204" pitchFamily="34" charset="0"/>
                <a:cs typeface="Arial" panose="020B0604020202020204" pitchFamily="34" charset="0"/>
              </a:endParaRPr>
            </a:p>
          </p:txBody>
        </p:sp>
        <p:sp>
          <p:nvSpPr>
            <p:cNvPr id="12" name="TextBox 12"/>
            <p:cNvSpPr txBox="1"/>
            <p:nvPr/>
          </p:nvSpPr>
          <p:spPr>
            <a:xfrm>
              <a:off x="0" y="-47625"/>
              <a:ext cx="1948755" cy="795872"/>
            </a:xfrm>
            <a:prstGeom prst="rect">
              <a:avLst/>
            </a:prstGeom>
          </p:spPr>
          <p:txBody>
            <a:bodyPr lIns="50800" tIns="50800" rIns="50800" bIns="50800" rtlCol="0" anchor="ctr"/>
            <a:lstStyle/>
            <a:p>
              <a:pPr algn="ctr">
                <a:lnSpc>
                  <a:spcPts val="3499"/>
                </a:lnSpc>
              </a:pPr>
              <a:endParaRPr>
                <a:latin typeface="Arial" panose="020B0604020202020204" pitchFamily="34" charset="0"/>
                <a:cs typeface="Arial" panose="020B0604020202020204" pitchFamily="34" charset="0"/>
              </a:endParaRPr>
            </a:p>
          </p:txBody>
        </p:sp>
      </p:grpSp>
      <p:grpSp>
        <p:nvGrpSpPr>
          <p:cNvPr id="13" name="Group 13"/>
          <p:cNvGrpSpPr/>
          <p:nvPr/>
        </p:nvGrpSpPr>
        <p:grpSpPr>
          <a:xfrm>
            <a:off x="1552282" y="5563466"/>
            <a:ext cx="7399178" cy="2841000"/>
            <a:chOff x="0" y="0"/>
            <a:chExt cx="1948755" cy="748247"/>
          </a:xfrm>
        </p:grpSpPr>
        <p:sp>
          <p:nvSpPr>
            <p:cNvPr id="14" name="Freeform 14"/>
            <p:cNvSpPr/>
            <p:nvPr/>
          </p:nvSpPr>
          <p:spPr>
            <a:xfrm>
              <a:off x="0" y="0"/>
              <a:ext cx="1948755" cy="748247"/>
            </a:xfrm>
            <a:custGeom>
              <a:avLst/>
              <a:gdLst/>
              <a:ahLst/>
              <a:cxnLst/>
              <a:rect l="l" t="t" r="r" b="b"/>
              <a:pathLst>
                <a:path w="1948755" h="748247">
                  <a:moveTo>
                    <a:pt x="0" y="0"/>
                  </a:moveTo>
                  <a:lnTo>
                    <a:pt x="1948755" y="0"/>
                  </a:lnTo>
                  <a:lnTo>
                    <a:pt x="1948755" y="748247"/>
                  </a:lnTo>
                  <a:lnTo>
                    <a:pt x="0" y="748247"/>
                  </a:lnTo>
                  <a:close/>
                </a:path>
              </a:pathLst>
            </a:custGeom>
            <a:solidFill>
              <a:srgbClr val="000000">
                <a:alpha val="0"/>
              </a:srgbClr>
            </a:solidFill>
            <a:ln w="19050" cap="sq">
              <a:solidFill>
                <a:srgbClr val="D9D9D9"/>
              </a:solidFill>
              <a:prstDash val="solid"/>
              <a:miter/>
            </a:ln>
          </p:spPr>
          <p:txBody>
            <a:bodyPr/>
            <a:lstStyle/>
            <a:p>
              <a:endParaRPr lang="fr-SN">
                <a:latin typeface="Arial" panose="020B0604020202020204" pitchFamily="34" charset="0"/>
                <a:cs typeface="Arial" panose="020B0604020202020204" pitchFamily="34" charset="0"/>
              </a:endParaRPr>
            </a:p>
          </p:txBody>
        </p:sp>
        <p:sp>
          <p:nvSpPr>
            <p:cNvPr id="15" name="TextBox 15"/>
            <p:cNvSpPr txBox="1"/>
            <p:nvPr/>
          </p:nvSpPr>
          <p:spPr>
            <a:xfrm>
              <a:off x="0" y="-47625"/>
              <a:ext cx="1948755" cy="795872"/>
            </a:xfrm>
            <a:prstGeom prst="rect">
              <a:avLst/>
            </a:prstGeom>
          </p:spPr>
          <p:txBody>
            <a:bodyPr lIns="50800" tIns="50800" rIns="50800" bIns="50800" rtlCol="0" anchor="ctr"/>
            <a:lstStyle/>
            <a:p>
              <a:pPr algn="ctr">
                <a:lnSpc>
                  <a:spcPts val="3499"/>
                </a:lnSpc>
              </a:pPr>
              <a:endParaRPr>
                <a:latin typeface="Arial" panose="020B0604020202020204" pitchFamily="34" charset="0"/>
                <a:cs typeface="Arial" panose="020B0604020202020204" pitchFamily="34" charset="0"/>
              </a:endParaRPr>
            </a:p>
          </p:txBody>
        </p:sp>
      </p:grpSp>
      <p:sp>
        <p:nvSpPr>
          <p:cNvPr id="16" name="TextBox 16"/>
          <p:cNvSpPr txBox="1"/>
          <p:nvPr/>
        </p:nvSpPr>
        <p:spPr>
          <a:xfrm>
            <a:off x="1141608" y="3363873"/>
            <a:ext cx="598466" cy="456856"/>
          </a:xfrm>
          <a:prstGeom prst="rect">
            <a:avLst/>
          </a:prstGeom>
        </p:spPr>
        <p:txBody>
          <a:bodyPr lIns="0" tIns="0" rIns="0" bIns="0" rtlCol="0" anchor="t">
            <a:spAutoFit/>
          </a:bodyPr>
          <a:lstStyle/>
          <a:p>
            <a:pPr algn="ctr">
              <a:lnSpc>
                <a:spcPts val="3919"/>
              </a:lnSpc>
              <a:spcBef>
                <a:spcPct val="0"/>
              </a:spcBef>
            </a:pPr>
            <a:r>
              <a:rPr lang="en-US" sz="2800">
                <a:solidFill>
                  <a:srgbClr val="FFFFFF"/>
                </a:solidFill>
                <a:latin typeface="Arial" panose="020B0604020202020204" pitchFamily="34" charset="0"/>
                <a:ea typeface="Aileron Heavy"/>
                <a:cs typeface="Arial" panose="020B0604020202020204" pitchFamily="34" charset="0"/>
                <a:sym typeface="Aileron Heavy"/>
              </a:rPr>
              <a:t>S</a:t>
            </a:r>
          </a:p>
        </p:txBody>
      </p:sp>
      <p:grpSp>
        <p:nvGrpSpPr>
          <p:cNvPr id="17" name="Group 17"/>
          <p:cNvGrpSpPr/>
          <p:nvPr/>
        </p:nvGrpSpPr>
        <p:grpSpPr>
          <a:xfrm>
            <a:off x="1042464" y="3214248"/>
            <a:ext cx="1047163" cy="747035"/>
            <a:chOff x="0" y="0"/>
            <a:chExt cx="812800" cy="579843"/>
          </a:xfrm>
        </p:grpSpPr>
        <p:sp>
          <p:nvSpPr>
            <p:cNvPr id="18" name="Freeform 18"/>
            <p:cNvSpPr/>
            <p:nvPr/>
          </p:nvSpPr>
          <p:spPr>
            <a:xfrm>
              <a:off x="0" y="0"/>
              <a:ext cx="812800" cy="579843"/>
            </a:xfrm>
            <a:custGeom>
              <a:avLst/>
              <a:gdLst/>
              <a:ahLst/>
              <a:cxnLst/>
              <a:rect l="l" t="t" r="r" b="b"/>
              <a:pathLst>
                <a:path w="812800" h="579843">
                  <a:moveTo>
                    <a:pt x="609600" y="0"/>
                  </a:moveTo>
                  <a:lnTo>
                    <a:pt x="0" y="0"/>
                  </a:lnTo>
                  <a:lnTo>
                    <a:pt x="0" y="579843"/>
                  </a:lnTo>
                  <a:lnTo>
                    <a:pt x="609600" y="579843"/>
                  </a:lnTo>
                  <a:lnTo>
                    <a:pt x="812800" y="289921"/>
                  </a:lnTo>
                  <a:lnTo>
                    <a:pt x="609600" y="0"/>
                  </a:lnTo>
                  <a:close/>
                </a:path>
              </a:pathLst>
            </a:custGeom>
            <a:solidFill>
              <a:srgbClr val="37C9EF"/>
            </a:solidFill>
          </p:spPr>
          <p:txBody>
            <a:bodyPr/>
            <a:lstStyle/>
            <a:p>
              <a:endParaRPr lang="fr-SN">
                <a:latin typeface="Arial" panose="020B0604020202020204" pitchFamily="34" charset="0"/>
                <a:cs typeface="Arial" panose="020B0604020202020204" pitchFamily="34" charset="0"/>
              </a:endParaRPr>
            </a:p>
          </p:txBody>
        </p:sp>
        <p:sp>
          <p:nvSpPr>
            <p:cNvPr id="19" name="TextBox 19"/>
            <p:cNvSpPr txBox="1"/>
            <p:nvPr/>
          </p:nvSpPr>
          <p:spPr>
            <a:xfrm>
              <a:off x="0" y="-66675"/>
              <a:ext cx="698500" cy="646518"/>
            </a:xfrm>
            <a:prstGeom prst="rect">
              <a:avLst/>
            </a:prstGeom>
          </p:spPr>
          <p:txBody>
            <a:bodyPr lIns="50800" tIns="50800" rIns="50800" bIns="50800" rtlCol="0" anchor="ctr"/>
            <a:lstStyle/>
            <a:p>
              <a:pPr algn="ctr">
                <a:lnSpc>
                  <a:spcPts val="4200"/>
                </a:lnSpc>
              </a:pPr>
              <a:r>
                <a:rPr lang="en-US" sz="3000">
                  <a:solidFill>
                    <a:srgbClr val="FFFFFF"/>
                  </a:solidFill>
                  <a:latin typeface="Arial" panose="020B0604020202020204" pitchFamily="34" charset="0"/>
                  <a:ea typeface="Aileron Heavy"/>
                  <a:cs typeface="Arial" panose="020B0604020202020204" pitchFamily="34" charset="0"/>
                  <a:sym typeface="Aileron Heavy"/>
                </a:rPr>
                <a:t>I</a:t>
              </a:r>
            </a:p>
          </p:txBody>
        </p:sp>
      </p:grpSp>
      <p:grpSp>
        <p:nvGrpSpPr>
          <p:cNvPr id="20" name="Group 20"/>
          <p:cNvGrpSpPr/>
          <p:nvPr/>
        </p:nvGrpSpPr>
        <p:grpSpPr>
          <a:xfrm>
            <a:off x="1042464" y="6597962"/>
            <a:ext cx="1047163" cy="747035"/>
            <a:chOff x="0" y="0"/>
            <a:chExt cx="812800" cy="579843"/>
          </a:xfrm>
        </p:grpSpPr>
        <p:sp>
          <p:nvSpPr>
            <p:cNvPr id="21" name="Freeform 21"/>
            <p:cNvSpPr/>
            <p:nvPr/>
          </p:nvSpPr>
          <p:spPr>
            <a:xfrm>
              <a:off x="0" y="0"/>
              <a:ext cx="812800" cy="579843"/>
            </a:xfrm>
            <a:custGeom>
              <a:avLst/>
              <a:gdLst/>
              <a:ahLst/>
              <a:cxnLst/>
              <a:rect l="l" t="t" r="r" b="b"/>
              <a:pathLst>
                <a:path w="812800" h="579843">
                  <a:moveTo>
                    <a:pt x="609600" y="0"/>
                  </a:moveTo>
                  <a:lnTo>
                    <a:pt x="0" y="0"/>
                  </a:lnTo>
                  <a:lnTo>
                    <a:pt x="0" y="579843"/>
                  </a:lnTo>
                  <a:lnTo>
                    <a:pt x="609600" y="579843"/>
                  </a:lnTo>
                  <a:lnTo>
                    <a:pt x="812800" y="289921"/>
                  </a:lnTo>
                  <a:lnTo>
                    <a:pt x="609600" y="0"/>
                  </a:lnTo>
                  <a:close/>
                </a:path>
              </a:pathLst>
            </a:custGeom>
            <a:solidFill>
              <a:srgbClr val="47ACEF"/>
            </a:solidFill>
          </p:spPr>
          <p:txBody>
            <a:bodyPr/>
            <a:lstStyle/>
            <a:p>
              <a:endParaRPr lang="fr-SN">
                <a:latin typeface="Arial" panose="020B0604020202020204" pitchFamily="34" charset="0"/>
                <a:cs typeface="Arial" panose="020B0604020202020204" pitchFamily="34" charset="0"/>
              </a:endParaRPr>
            </a:p>
          </p:txBody>
        </p:sp>
        <p:sp>
          <p:nvSpPr>
            <p:cNvPr id="22" name="TextBox 22"/>
            <p:cNvSpPr txBox="1"/>
            <p:nvPr/>
          </p:nvSpPr>
          <p:spPr>
            <a:xfrm>
              <a:off x="0" y="-66675"/>
              <a:ext cx="698500" cy="646518"/>
            </a:xfrm>
            <a:prstGeom prst="rect">
              <a:avLst/>
            </a:prstGeom>
          </p:spPr>
          <p:txBody>
            <a:bodyPr lIns="50800" tIns="50800" rIns="50800" bIns="50800" rtlCol="0" anchor="ctr"/>
            <a:lstStyle/>
            <a:p>
              <a:pPr algn="ctr">
                <a:lnSpc>
                  <a:spcPts val="4200"/>
                </a:lnSpc>
              </a:pPr>
              <a:r>
                <a:rPr lang="en-US" sz="3000">
                  <a:solidFill>
                    <a:srgbClr val="FFFFFF"/>
                  </a:solidFill>
                  <a:latin typeface="Arial" panose="020B0604020202020204" pitchFamily="34" charset="0"/>
                  <a:ea typeface="Aileron Ultra-Bold"/>
                  <a:cs typeface="Arial" panose="020B0604020202020204" pitchFamily="34" charset="0"/>
                  <a:sym typeface="Aileron Ultra-Bold"/>
                </a:rPr>
                <a:t>D</a:t>
              </a:r>
            </a:p>
          </p:txBody>
        </p:sp>
      </p:grpSp>
      <p:grpSp>
        <p:nvGrpSpPr>
          <p:cNvPr id="23" name="Group 23"/>
          <p:cNvGrpSpPr/>
          <p:nvPr/>
        </p:nvGrpSpPr>
        <p:grpSpPr>
          <a:xfrm>
            <a:off x="9429750" y="3214248"/>
            <a:ext cx="1047163" cy="747035"/>
            <a:chOff x="0" y="0"/>
            <a:chExt cx="812800" cy="579843"/>
          </a:xfrm>
        </p:grpSpPr>
        <p:sp>
          <p:nvSpPr>
            <p:cNvPr id="24" name="Freeform 24"/>
            <p:cNvSpPr/>
            <p:nvPr/>
          </p:nvSpPr>
          <p:spPr>
            <a:xfrm>
              <a:off x="0" y="0"/>
              <a:ext cx="812800" cy="579843"/>
            </a:xfrm>
            <a:custGeom>
              <a:avLst/>
              <a:gdLst/>
              <a:ahLst/>
              <a:cxnLst/>
              <a:rect l="l" t="t" r="r" b="b"/>
              <a:pathLst>
                <a:path w="812800" h="579843">
                  <a:moveTo>
                    <a:pt x="609600" y="0"/>
                  </a:moveTo>
                  <a:lnTo>
                    <a:pt x="0" y="0"/>
                  </a:lnTo>
                  <a:lnTo>
                    <a:pt x="0" y="579843"/>
                  </a:lnTo>
                  <a:lnTo>
                    <a:pt x="609600" y="579843"/>
                  </a:lnTo>
                  <a:lnTo>
                    <a:pt x="812800" y="289921"/>
                  </a:lnTo>
                  <a:lnTo>
                    <a:pt x="609600" y="0"/>
                  </a:lnTo>
                  <a:close/>
                </a:path>
              </a:pathLst>
            </a:custGeom>
            <a:solidFill>
              <a:srgbClr val="3EDAD8"/>
            </a:solidFill>
          </p:spPr>
          <p:txBody>
            <a:bodyPr/>
            <a:lstStyle/>
            <a:p>
              <a:endParaRPr lang="fr-SN">
                <a:latin typeface="Arial" panose="020B0604020202020204" pitchFamily="34" charset="0"/>
                <a:cs typeface="Arial" panose="020B0604020202020204" pitchFamily="34" charset="0"/>
              </a:endParaRPr>
            </a:p>
          </p:txBody>
        </p:sp>
        <p:sp>
          <p:nvSpPr>
            <p:cNvPr id="25" name="TextBox 25"/>
            <p:cNvSpPr txBox="1"/>
            <p:nvPr/>
          </p:nvSpPr>
          <p:spPr>
            <a:xfrm>
              <a:off x="0" y="-66675"/>
              <a:ext cx="698500" cy="646518"/>
            </a:xfrm>
            <a:prstGeom prst="rect">
              <a:avLst/>
            </a:prstGeom>
          </p:spPr>
          <p:txBody>
            <a:bodyPr lIns="50800" tIns="50800" rIns="50800" bIns="50800" rtlCol="0" anchor="ctr"/>
            <a:lstStyle/>
            <a:p>
              <a:pPr algn="ctr">
                <a:lnSpc>
                  <a:spcPts val="4200"/>
                </a:lnSpc>
              </a:pPr>
              <a:r>
                <a:rPr lang="en-US" sz="3000">
                  <a:solidFill>
                    <a:srgbClr val="FFFFFF"/>
                  </a:solidFill>
                  <a:latin typeface="Arial" panose="020B0604020202020204" pitchFamily="34" charset="0"/>
                  <a:ea typeface="Aileron Heavy"/>
                  <a:cs typeface="Arial" panose="020B0604020202020204" pitchFamily="34" charset="0"/>
                  <a:sym typeface="Aileron Heavy"/>
                </a:rPr>
                <a:t>C</a:t>
              </a:r>
            </a:p>
          </p:txBody>
        </p:sp>
      </p:grpSp>
      <p:grpSp>
        <p:nvGrpSpPr>
          <p:cNvPr id="26" name="Group 26"/>
          <p:cNvGrpSpPr/>
          <p:nvPr/>
        </p:nvGrpSpPr>
        <p:grpSpPr>
          <a:xfrm>
            <a:off x="9429750" y="6597962"/>
            <a:ext cx="1047163" cy="747035"/>
            <a:chOff x="0" y="0"/>
            <a:chExt cx="812800" cy="579843"/>
          </a:xfrm>
        </p:grpSpPr>
        <p:sp>
          <p:nvSpPr>
            <p:cNvPr id="27" name="Freeform 27"/>
            <p:cNvSpPr/>
            <p:nvPr/>
          </p:nvSpPr>
          <p:spPr>
            <a:xfrm>
              <a:off x="0" y="0"/>
              <a:ext cx="812800" cy="579843"/>
            </a:xfrm>
            <a:custGeom>
              <a:avLst/>
              <a:gdLst/>
              <a:ahLst/>
              <a:cxnLst/>
              <a:rect l="l" t="t" r="r" b="b"/>
              <a:pathLst>
                <a:path w="812800" h="579843">
                  <a:moveTo>
                    <a:pt x="609600" y="0"/>
                  </a:moveTo>
                  <a:lnTo>
                    <a:pt x="0" y="0"/>
                  </a:lnTo>
                  <a:lnTo>
                    <a:pt x="0" y="579843"/>
                  </a:lnTo>
                  <a:lnTo>
                    <a:pt x="609600" y="579843"/>
                  </a:lnTo>
                  <a:lnTo>
                    <a:pt x="812800" y="289921"/>
                  </a:lnTo>
                  <a:lnTo>
                    <a:pt x="609600" y="0"/>
                  </a:lnTo>
                  <a:close/>
                </a:path>
              </a:pathLst>
            </a:custGeom>
            <a:solidFill>
              <a:srgbClr val="1970A7"/>
            </a:solidFill>
          </p:spPr>
          <p:txBody>
            <a:bodyPr/>
            <a:lstStyle/>
            <a:p>
              <a:endParaRPr lang="fr-SN">
                <a:latin typeface="Arial" panose="020B0604020202020204" pitchFamily="34" charset="0"/>
                <a:cs typeface="Arial" panose="020B0604020202020204" pitchFamily="34" charset="0"/>
              </a:endParaRPr>
            </a:p>
          </p:txBody>
        </p:sp>
        <p:sp>
          <p:nvSpPr>
            <p:cNvPr id="28" name="TextBox 28"/>
            <p:cNvSpPr txBox="1"/>
            <p:nvPr/>
          </p:nvSpPr>
          <p:spPr>
            <a:xfrm>
              <a:off x="0" y="-66675"/>
              <a:ext cx="698500" cy="646518"/>
            </a:xfrm>
            <a:prstGeom prst="rect">
              <a:avLst/>
            </a:prstGeom>
          </p:spPr>
          <p:txBody>
            <a:bodyPr lIns="50800" tIns="50800" rIns="50800" bIns="50800" rtlCol="0" anchor="ctr"/>
            <a:lstStyle/>
            <a:p>
              <a:pPr algn="ctr">
                <a:lnSpc>
                  <a:spcPts val="4200"/>
                </a:lnSpc>
              </a:pPr>
              <a:r>
                <a:rPr lang="en-US" sz="3000">
                  <a:solidFill>
                    <a:srgbClr val="FFFFFF"/>
                  </a:solidFill>
                  <a:latin typeface="Arial" panose="020B0604020202020204" pitchFamily="34" charset="0"/>
                  <a:ea typeface="Aileron Ultra-Bold"/>
                  <a:cs typeface="Arial" panose="020B0604020202020204" pitchFamily="34" charset="0"/>
                  <a:sym typeface="Aileron Ultra-Bold"/>
                </a:rPr>
                <a:t>T</a:t>
              </a:r>
            </a:p>
          </p:txBody>
        </p:sp>
      </p:grpSp>
      <p:grpSp>
        <p:nvGrpSpPr>
          <p:cNvPr id="29" name="Group 29"/>
          <p:cNvGrpSpPr/>
          <p:nvPr/>
        </p:nvGrpSpPr>
        <p:grpSpPr>
          <a:xfrm>
            <a:off x="2616637" y="2771756"/>
            <a:ext cx="5986478" cy="1753411"/>
            <a:chOff x="0" y="-19050"/>
            <a:chExt cx="7981971" cy="2337882"/>
          </a:xfrm>
        </p:grpSpPr>
        <p:sp>
          <p:nvSpPr>
            <p:cNvPr id="30" name="TextBox 30"/>
            <p:cNvSpPr txBox="1"/>
            <p:nvPr/>
          </p:nvSpPr>
          <p:spPr>
            <a:xfrm>
              <a:off x="0" y="717709"/>
              <a:ext cx="7981971" cy="1601123"/>
            </a:xfrm>
            <a:prstGeom prst="rect">
              <a:avLst/>
            </a:prstGeom>
          </p:spPr>
          <p:txBody>
            <a:bodyPr lIns="0" tIns="0" rIns="0" bIns="0" rtlCol="0" anchor="t">
              <a:spAutoFit/>
            </a:bodyPr>
            <a:lstStyle/>
            <a:p>
              <a:pPr algn="just">
                <a:lnSpc>
                  <a:spcPts val="2399"/>
                </a:lnSpc>
              </a:pPr>
              <a:r>
                <a:rPr lang="en-US" spc="31" dirty="0">
                  <a:solidFill>
                    <a:srgbClr val="000000"/>
                  </a:solidFill>
                  <a:latin typeface="Arial" panose="020B0604020202020204" pitchFamily="34" charset="0"/>
                  <a:ea typeface="Aileron"/>
                  <a:cs typeface="Arial" panose="020B0604020202020204" pitchFamily="34" charset="0"/>
                  <a:sym typeface="Aileron"/>
                </a:rPr>
                <a:t> Les infrastructures pour la </a:t>
              </a:r>
              <a:r>
                <a:rPr lang="en-US" spc="31" dirty="0" err="1">
                  <a:solidFill>
                    <a:srgbClr val="000000"/>
                  </a:solidFill>
                  <a:latin typeface="Arial" panose="020B0604020202020204" pitchFamily="34" charset="0"/>
                  <a:ea typeface="Aileron"/>
                  <a:cs typeface="Arial" panose="020B0604020202020204" pitchFamily="34" charset="0"/>
                  <a:sym typeface="Aileron"/>
                </a:rPr>
                <a:t>collecte</a:t>
              </a:r>
              <a:r>
                <a:rPr lang="en-US" spc="31" dirty="0">
                  <a:solidFill>
                    <a:srgbClr val="000000"/>
                  </a:solidFill>
                  <a:latin typeface="Arial" panose="020B0604020202020204" pitchFamily="34" charset="0"/>
                  <a:ea typeface="Aileron"/>
                  <a:cs typeface="Arial" panose="020B0604020202020204" pitchFamily="34" charset="0"/>
                  <a:sym typeface="Aileron"/>
                </a:rPr>
                <a:t>, le transport et le </a:t>
              </a:r>
              <a:r>
                <a:rPr lang="en-US" spc="31" dirty="0" err="1">
                  <a:solidFill>
                    <a:srgbClr val="000000"/>
                  </a:solidFill>
                  <a:latin typeface="Arial" panose="020B0604020202020204" pitchFamily="34" charset="0"/>
                  <a:ea typeface="Aileron"/>
                  <a:cs typeface="Arial" panose="020B0604020202020204" pitchFamily="34" charset="0"/>
                  <a:sym typeface="Aileron"/>
                </a:rPr>
                <a:t>traitement</a:t>
              </a:r>
              <a:r>
                <a:rPr lang="en-US" spc="31" dirty="0">
                  <a:solidFill>
                    <a:srgbClr val="000000"/>
                  </a:solidFill>
                  <a:latin typeface="Arial" panose="020B0604020202020204" pitchFamily="34" charset="0"/>
                  <a:ea typeface="Aileron"/>
                  <a:cs typeface="Arial" panose="020B0604020202020204" pitchFamily="34" charset="0"/>
                  <a:sym typeface="Aileron"/>
                </a:rPr>
                <a:t> des </a:t>
              </a:r>
              <a:r>
                <a:rPr lang="en-US" spc="31" dirty="0" err="1">
                  <a:solidFill>
                    <a:srgbClr val="000000"/>
                  </a:solidFill>
                  <a:latin typeface="Arial" panose="020B0604020202020204" pitchFamily="34" charset="0"/>
                  <a:ea typeface="Aileron"/>
                  <a:cs typeface="Arial" panose="020B0604020202020204" pitchFamily="34" charset="0"/>
                  <a:sym typeface="Aileron"/>
                </a:rPr>
                <a:t>déchets</a:t>
              </a:r>
              <a:r>
                <a:rPr lang="en-US" spc="31" dirty="0">
                  <a:solidFill>
                    <a:srgbClr val="000000"/>
                  </a:solidFill>
                  <a:latin typeface="Arial" panose="020B0604020202020204" pitchFamily="34" charset="0"/>
                  <a:ea typeface="Aileron"/>
                  <a:cs typeface="Arial" panose="020B0604020202020204" pitchFamily="34" charset="0"/>
                  <a:sym typeface="Aileron"/>
                </a:rPr>
                <a:t> </a:t>
              </a:r>
              <a:r>
                <a:rPr lang="en-US" spc="31" dirty="0" err="1">
                  <a:solidFill>
                    <a:srgbClr val="000000"/>
                  </a:solidFill>
                  <a:latin typeface="Arial" panose="020B0604020202020204" pitchFamily="34" charset="0"/>
                  <a:ea typeface="Aileron"/>
                  <a:cs typeface="Arial" panose="020B0604020202020204" pitchFamily="34" charset="0"/>
                  <a:sym typeface="Aileron"/>
                </a:rPr>
                <a:t>sont</a:t>
              </a:r>
              <a:r>
                <a:rPr lang="en-US" spc="31" dirty="0">
                  <a:solidFill>
                    <a:srgbClr val="000000"/>
                  </a:solidFill>
                  <a:latin typeface="Arial" panose="020B0604020202020204" pitchFamily="34" charset="0"/>
                  <a:ea typeface="Aileron"/>
                  <a:cs typeface="Arial" panose="020B0604020202020204" pitchFamily="34" charset="0"/>
                  <a:sym typeface="Aileron"/>
                </a:rPr>
                <a:t> </a:t>
              </a:r>
              <a:r>
                <a:rPr lang="en-US" spc="31" dirty="0" err="1">
                  <a:solidFill>
                    <a:srgbClr val="000000"/>
                  </a:solidFill>
                  <a:latin typeface="Arial" panose="020B0604020202020204" pitchFamily="34" charset="0"/>
                  <a:ea typeface="Aileron"/>
                  <a:cs typeface="Arial" panose="020B0604020202020204" pitchFamily="34" charset="0"/>
                  <a:sym typeface="Aileron"/>
                </a:rPr>
                <a:t>souvent</a:t>
              </a:r>
              <a:r>
                <a:rPr lang="en-US" spc="31" dirty="0">
                  <a:solidFill>
                    <a:srgbClr val="000000"/>
                  </a:solidFill>
                  <a:latin typeface="Arial" panose="020B0604020202020204" pitchFamily="34" charset="0"/>
                  <a:ea typeface="Aileron"/>
                  <a:cs typeface="Arial" panose="020B0604020202020204" pitchFamily="34" charset="0"/>
                  <a:sym typeface="Aileron"/>
                </a:rPr>
                <a:t> </a:t>
              </a:r>
              <a:r>
                <a:rPr lang="en-US" spc="31" dirty="0" err="1">
                  <a:solidFill>
                    <a:srgbClr val="000000"/>
                  </a:solidFill>
                  <a:latin typeface="Arial" panose="020B0604020202020204" pitchFamily="34" charset="0"/>
                  <a:ea typeface="Aileron"/>
                  <a:cs typeface="Arial" panose="020B0604020202020204" pitchFamily="34" charset="0"/>
                  <a:sym typeface="Aileron"/>
                </a:rPr>
                <a:t>inadéquats</a:t>
              </a:r>
              <a:r>
                <a:rPr lang="en-US" spc="31" dirty="0">
                  <a:solidFill>
                    <a:srgbClr val="000000"/>
                  </a:solidFill>
                  <a:latin typeface="Arial" panose="020B0604020202020204" pitchFamily="34" charset="0"/>
                  <a:ea typeface="Aileron"/>
                  <a:cs typeface="Arial" panose="020B0604020202020204" pitchFamily="34" charset="0"/>
                  <a:sym typeface="Aileron"/>
                </a:rPr>
                <a:t>, surtout dans les zones rurales. </a:t>
              </a:r>
              <a:r>
                <a:rPr lang="en-US" spc="31" dirty="0" err="1">
                  <a:solidFill>
                    <a:srgbClr val="000000"/>
                  </a:solidFill>
                  <a:latin typeface="Arial" panose="020B0604020202020204" pitchFamily="34" charset="0"/>
                  <a:ea typeface="Aileron"/>
                  <a:cs typeface="Arial" panose="020B0604020202020204" pitchFamily="34" charset="0"/>
                  <a:sym typeface="Aileron"/>
                </a:rPr>
                <a:t>Cela</a:t>
              </a:r>
              <a:r>
                <a:rPr lang="en-US" spc="31" dirty="0">
                  <a:solidFill>
                    <a:srgbClr val="000000"/>
                  </a:solidFill>
                  <a:latin typeface="Arial" panose="020B0604020202020204" pitchFamily="34" charset="0"/>
                  <a:ea typeface="Aileron"/>
                  <a:cs typeface="Arial" panose="020B0604020202020204" pitchFamily="34" charset="0"/>
                  <a:sym typeface="Aileron"/>
                </a:rPr>
                <a:t> </a:t>
              </a:r>
              <a:r>
                <a:rPr lang="en-US" spc="31" dirty="0" err="1">
                  <a:solidFill>
                    <a:srgbClr val="000000"/>
                  </a:solidFill>
                  <a:latin typeface="Arial" panose="020B0604020202020204" pitchFamily="34" charset="0"/>
                  <a:ea typeface="Aileron"/>
                  <a:cs typeface="Arial" panose="020B0604020202020204" pitchFamily="34" charset="0"/>
                  <a:sym typeface="Aileron"/>
                </a:rPr>
                <a:t>entraîne</a:t>
              </a:r>
              <a:r>
                <a:rPr lang="en-US" spc="31" dirty="0">
                  <a:solidFill>
                    <a:srgbClr val="000000"/>
                  </a:solidFill>
                  <a:latin typeface="Arial" panose="020B0604020202020204" pitchFamily="34" charset="0"/>
                  <a:ea typeface="Aileron"/>
                  <a:cs typeface="Arial" panose="020B0604020202020204" pitchFamily="34" charset="0"/>
                  <a:sym typeface="Aileron"/>
                </a:rPr>
                <a:t> </a:t>
              </a:r>
              <a:r>
                <a:rPr lang="en-US" spc="31" dirty="0" err="1">
                  <a:solidFill>
                    <a:srgbClr val="000000"/>
                  </a:solidFill>
                  <a:latin typeface="Arial" panose="020B0604020202020204" pitchFamily="34" charset="0"/>
                  <a:ea typeface="Aileron"/>
                  <a:cs typeface="Arial" panose="020B0604020202020204" pitchFamily="34" charset="0"/>
                  <a:sym typeface="Aileron"/>
                </a:rPr>
                <a:t>une</a:t>
              </a:r>
              <a:r>
                <a:rPr lang="en-US" spc="31" dirty="0">
                  <a:solidFill>
                    <a:srgbClr val="000000"/>
                  </a:solidFill>
                  <a:latin typeface="Arial" panose="020B0604020202020204" pitchFamily="34" charset="0"/>
                  <a:ea typeface="Aileron"/>
                  <a:cs typeface="Arial" panose="020B0604020202020204" pitchFamily="34" charset="0"/>
                  <a:sym typeface="Aileron"/>
                </a:rPr>
                <a:t> accumulation de </a:t>
              </a:r>
              <a:r>
                <a:rPr lang="en-US" spc="31" dirty="0" err="1">
                  <a:solidFill>
                    <a:srgbClr val="000000"/>
                  </a:solidFill>
                  <a:latin typeface="Arial" panose="020B0604020202020204" pitchFamily="34" charset="0"/>
                  <a:ea typeface="Aileron"/>
                  <a:cs typeface="Arial" panose="020B0604020202020204" pitchFamily="34" charset="0"/>
                  <a:sym typeface="Aileron"/>
                </a:rPr>
                <a:t>déchets</a:t>
              </a:r>
              <a:r>
                <a:rPr lang="en-US" spc="31" dirty="0">
                  <a:solidFill>
                    <a:srgbClr val="000000"/>
                  </a:solidFill>
                  <a:latin typeface="Arial" panose="020B0604020202020204" pitchFamily="34" charset="0"/>
                  <a:ea typeface="Aileron"/>
                  <a:cs typeface="Arial" panose="020B0604020202020204" pitchFamily="34" charset="0"/>
                  <a:sym typeface="Aileron"/>
                </a:rPr>
                <a:t> dans les </a:t>
              </a:r>
              <a:r>
                <a:rPr lang="en-US" spc="31" dirty="0" err="1">
                  <a:solidFill>
                    <a:srgbClr val="000000"/>
                  </a:solidFill>
                  <a:latin typeface="Arial" panose="020B0604020202020204" pitchFamily="34" charset="0"/>
                  <a:ea typeface="Aileron"/>
                  <a:cs typeface="Arial" panose="020B0604020202020204" pitchFamily="34" charset="0"/>
                  <a:sym typeface="Aileron"/>
                </a:rPr>
                <a:t>espaces</a:t>
              </a:r>
              <a:r>
                <a:rPr lang="en-US" spc="31" dirty="0">
                  <a:solidFill>
                    <a:srgbClr val="000000"/>
                  </a:solidFill>
                  <a:latin typeface="Arial" panose="020B0604020202020204" pitchFamily="34" charset="0"/>
                  <a:ea typeface="Aileron"/>
                  <a:cs typeface="Arial" panose="020B0604020202020204" pitchFamily="34" charset="0"/>
                  <a:sym typeface="Aileron"/>
                </a:rPr>
                <a:t> publics.</a:t>
              </a:r>
            </a:p>
          </p:txBody>
        </p:sp>
        <p:sp>
          <p:nvSpPr>
            <p:cNvPr id="31" name="TextBox 31"/>
            <p:cNvSpPr txBox="1"/>
            <p:nvPr/>
          </p:nvSpPr>
          <p:spPr>
            <a:xfrm>
              <a:off x="0" y="-19050"/>
              <a:ext cx="7981971" cy="530060"/>
            </a:xfrm>
            <a:prstGeom prst="rect">
              <a:avLst/>
            </a:prstGeom>
          </p:spPr>
          <p:txBody>
            <a:bodyPr lIns="0" tIns="0" rIns="0" bIns="0" rtlCol="0" anchor="t">
              <a:spAutoFit/>
            </a:bodyPr>
            <a:lstStyle/>
            <a:p>
              <a:pPr marL="0" lvl="0" indent="0" algn="l">
                <a:lnSpc>
                  <a:spcPts val="3095"/>
                </a:lnSpc>
                <a:spcBef>
                  <a:spcPct val="0"/>
                </a:spcBef>
              </a:pPr>
              <a:r>
                <a:rPr lang="en-US" sz="2800" spc="93" dirty="0">
                  <a:solidFill>
                    <a:srgbClr val="000000"/>
                  </a:solidFill>
                  <a:latin typeface="Arial Black" panose="020B0A04020102020204" pitchFamily="34" charset="0"/>
                  <a:ea typeface="Aileron Bold"/>
                  <a:cs typeface="Arial" panose="020B0604020202020204" pitchFamily="34" charset="0"/>
                  <a:sym typeface="Aileron Bold"/>
                </a:rPr>
                <a:t>Infrastructure </a:t>
              </a:r>
              <a:r>
                <a:rPr lang="en-US" sz="2800" spc="93" dirty="0" err="1">
                  <a:solidFill>
                    <a:srgbClr val="000000"/>
                  </a:solidFill>
                  <a:latin typeface="Arial Black" panose="020B0A04020102020204" pitchFamily="34" charset="0"/>
                  <a:ea typeface="Aileron Bold"/>
                  <a:cs typeface="Arial" panose="020B0604020202020204" pitchFamily="34" charset="0"/>
                  <a:sym typeface="Aileron Bold"/>
                </a:rPr>
                <a:t>insuffisante</a:t>
              </a:r>
              <a:r>
                <a:rPr lang="en-US" sz="2800" spc="93" dirty="0">
                  <a:solidFill>
                    <a:srgbClr val="000000"/>
                  </a:solidFill>
                  <a:latin typeface="Arial Black" panose="020B0A04020102020204" pitchFamily="34" charset="0"/>
                  <a:ea typeface="Aileron Bold"/>
                  <a:cs typeface="Arial" panose="020B0604020202020204" pitchFamily="34" charset="0"/>
                  <a:sym typeface="Aileron Bold"/>
                </a:rPr>
                <a:t> </a:t>
              </a:r>
            </a:p>
          </p:txBody>
        </p:sp>
      </p:grpSp>
      <p:grpSp>
        <p:nvGrpSpPr>
          <p:cNvPr id="32" name="Group 32"/>
          <p:cNvGrpSpPr/>
          <p:nvPr/>
        </p:nvGrpSpPr>
        <p:grpSpPr>
          <a:xfrm>
            <a:off x="2616637" y="6091071"/>
            <a:ext cx="5674684" cy="2059942"/>
            <a:chOff x="0" y="-19051"/>
            <a:chExt cx="7566245" cy="2746589"/>
          </a:xfrm>
        </p:grpSpPr>
        <p:sp>
          <p:nvSpPr>
            <p:cNvPr id="33" name="TextBox 33"/>
            <p:cNvSpPr txBox="1"/>
            <p:nvPr/>
          </p:nvSpPr>
          <p:spPr>
            <a:xfrm>
              <a:off x="0" y="708183"/>
              <a:ext cx="7566245" cy="2019355"/>
            </a:xfrm>
            <a:prstGeom prst="rect">
              <a:avLst/>
            </a:prstGeom>
          </p:spPr>
          <p:txBody>
            <a:bodyPr lIns="0" tIns="0" rIns="0" bIns="0" rtlCol="0" anchor="t">
              <a:spAutoFit/>
            </a:bodyPr>
            <a:lstStyle/>
            <a:p>
              <a:pPr algn="just">
                <a:lnSpc>
                  <a:spcPts val="2400"/>
                </a:lnSpc>
              </a:pPr>
              <a:r>
                <a:rPr lang="en-US" spc="32" dirty="0">
                  <a:solidFill>
                    <a:srgbClr val="000000"/>
                  </a:solidFill>
                  <a:latin typeface="Arial" panose="020B0604020202020204" pitchFamily="34" charset="0"/>
                  <a:ea typeface="Aileron"/>
                  <a:cs typeface="Arial" panose="020B0604020202020204" pitchFamily="34" charset="0"/>
                  <a:sym typeface="Aileron"/>
                </a:rPr>
                <a:t>De </a:t>
              </a:r>
              <a:r>
                <a:rPr lang="en-US" spc="32" dirty="0" err="1">
                  <a:solidFill>
                    <a:srgbClr val="000000"/>
                  </a:solidFill>
                  <a:latin typeface="Arial" panose="020B0604020202020204" pitchFamily="34" charset="0"/>
                  <a:ea typeface="Aileron"/>
                  <a:cs typeface="Arial" panose="020B0604020202020204" pitchFamily="34" charset="0"/>
                  <a:sym typeface="Aileron"/>
                </a:rPr>
                <a:t>nombreuses</a:t>
              </a:r>
              <a:r>
                <a:rPr lang="en-US" spc="32" dirty="0">
                  <a:solidFill>
                    <a:srgbClr val="000000"/>
                  </a:solidFill>
                  <a:latin typeface="Arial" panose="020B0604020202020204" pitchFamily="34" charset="0"/>
                  <a:ea typeface="Aileron"/>
                  <a:cs typeface="Arial" panose="020B0604020202020204" pitchFamily="34" charset="0"/>
                  <a:sym typeface="Aileron"/>
                </a:rPr>
                <a:t> </a:t>
              </a:r>
              <a:r>
                <a:rPr lang="en-US" spc="32" dirty="0" err="1">
                  <a:solidFill>
                    <a:srgbClr val="000000"/>
                  </a:solidFill>
                  <a:latin typeface="Arial" panose="020B0604020202020204" pitchFamily="34" charset="0"/>
                  <a:ea typeface="Aileron"/>
                  <a:cs typeface="Arial" panose="020B0604020202020204" pitchFamily="34" charset="0"/>
                  <a:sym typeface="Aileron"/>
                </a:rPr>
                <a:t>décharges</a:t>
              </a:r>
              <a:r>
                <a:rPr lang="en-US" spc="32" dirty="0">
                  <a:solidFill>
                    <a:srgbClr val="000000"/>
                  </a:solidFill>
                  <a:latin typeface="Arial" panose="020B0604020202020204" pitchFamily="34" charset="0"/>
                  <a:ea typeface="Aileron"/>
                  <a:cs typeface="Arial" panose="020B0604020202020204" pitchFamily="34" charset="0"/>
                  <a:sym typeface="Aileron"/>
                </a:rPr>
                <a:t> ne </a:t>
              </a:r>
              <a:r>
                <a:rPr lang="en-US" spc="32" dirty="0" err="1">
                  <a:solidFill>
                    <a:srgbClr val="000000"/>
                  </a:solidFill>
                  <a:latin typeface="Arial" panose="020B0604020202020204" pitchFamily="34" charset="0"/>
                  <a:ea typeface="Aileron"/>
                  <a:cs typeface="Arial" panose="020B0604020202020204" pitchFamily="34" charset="0"/>
                  <a:sym typeface="Aileron"/>
                </a:rPr>
                <a:t>sont</a:t>
              </a:r>
              <a:r>
                <a:rPr lang="en-US" spc="32" dirty="0">
                  <a:solidFill>
                    <a:srgbClr val="000000"/>
                  </a:solidFill>
                  <a:latin typeface="Arial" panose="020B0604020202020204" pitchFamily="34" charset="0"/>
                  <a:ea typeface="Aileron"/>
                  <a:cs typeface="Arial" panose="020B0604020202020204" pitchFamily="34" charset="0"/>
                  <a:sym typeface="Aileron"/>
                </a:rPr>
                <a:t> pas </a:t>
              </a:r>
              <a:r>
                <a:rPr lang="en-US" spc="32" dirty="0" err="1">
                  <a:solidFill>
                    <a:srgbClr val="000000"/>
                  </a:solidFill>
                  <a:latin typeface="Arial" panose="020B0604020202020204" pitchFamily="34" charset="0"/>
                  <a:ea typeface="Aileron"/>
                  <a:cs typeface="Arial" panose="020B0604020202020204" pitchFamily="34" charset="0"/>
                  <a:sym typeface="Aileron"/>
                </a:rPr>
                <a:t>réglementées</a:t>
              </a:r>
              <a:r>
                <a:rPr lang="en-US" spc="32" dirty="0">
                  <a:solidFill>
                    <a:srgbClr val="000000"/>
                  </a:solidFill>
                  <a:latin typeface="Arial" panose="020B0604020202020204" pitchFamily="34" charset="0"/>
                  <a:ea typeface="Aileron"/>
                  <a:cs typeface="Arial" panose="020B0604020202020204" pitchFamily="34" charset="0"/>
                  <a:sym typeface="Aileron"/>
                </a:rPr>
                <a:t>, </a:t>
              </a:r>
              <a:r>
                <a:rPr lang="en-US" spc="32" dirty="0" err="1">
                  <a:solidFill>
                    <a:srgbClr val="000000"/>
                  </a:solidFill>
                  <a:latin typeface="Arial" panose="020B0604020202020204" pitchFamily="34" charset="0"/>
                  <a:ea typeface="Aileron"/>
                  <a:cs typeface="Arial" panose="020B0604020202020204" pitchFamily="34" charset="0"/>
                  <a:sym typeface="Aileron"/>
                </a:rPr>
                <a:t>ce</a:t>
              </a:r>
              <a:r>
                <a:rPr lang="en-US" spc="32" dirty="0">
                  <a:solidFill>
                    <a:srgbClr val="000000"/>
                  </a:solidFill>
                  <a:latin typeface="Arial" panose="020B0604020202020204" pitchFamily="34" charset="0"/>
                  <a:ea typeface="Aileron"/>
                  <a:cs typeface="Arial" panose="020B0604020202020204" pitchFamily="34" charset="0"/>
                  <a:sym typeface="Aileron"/>
                </a:rPr>
                <a:t> qui pose des </a:t>
              </a:r>
              <a:r>
                <a:rPr lang="en-US" spc="32" dirty="0" err="1">
                  <a:solidFill>
                    <a:srgbClr val="000000"/>
                  </a:solidFill>
                  <a:latin typeface="Arial" panose="020B0604020202020204" pitchFamily="34" charset="0"/>
                  <a:ea typeface="Aileron"/>
                  <a:cs typeface="Arial" panose="020B0604020202020204" pitchFamily="34" charset="0"/>
                  <a:sym typeface="Aileron"/>
                </a:rPr>
                <a:t>risques</a:t>
              </a:r>
              <a:r>
                <a:rPr lang="en-US" spc="32" dirty="0">
                  <a:solidFill>
                    <a:srgbClr val="000000"/>
                  </a:solidFill>
                  <a:latin typeface="Arial" panose="020B0604020202020204" pitchFamily="34" charset="0"/>
                  <a:ea typeface="Aileron"/>
                  <a:cs typeface="Arial" panose="020B0604020202020204" pitchFamily="34" charset="0"/>
                  <a:sym typeface="Aileron"/>
                </a:rPr>
                <a:t> pour la </a:t>
              </a:r>
              <a:r>
                <a:rPr lang="en-US" spc="32" dirty="0" err="1">
                  <a:solidFill>
                    <a:srgbClr val="000000"/>
                  </a:solidFill>
                  <a:latin typeface="Arial" panose="020B0604020202020204" pitchFamily="34" charset="0"/>
                  <a:ea typeface="Aileron"/>
                  <a:cs typeface="Arial" panose="020B0604020202020204" pitchFamily="34" charset="0"/>
                  <a:sym typeface="Aileron"/>
                </a:rPr>
                <a:t>santé</a:t>
              </a:r>
              <a:r>
                <a:rPr lang="en-US" spc="32" dirty="0">
                  <a:solidFill>
                    <a:srgbClr val="000000"/>
                  </a:solidFill>
                  <a:latin typeface="Arial" panose="020B0604020202020204" pitchFamily="34" charset="0"/>
                  <a:ea typeface="Aileron"/>
                  <a:cs typeface="Arial" panose="020B0604020202020204" pitchFamily="34" charset="0"/>
                  <a:sym typeface="Aileron"/>
                </a:rPr>
                <a:t> </a:t>
              </a:r>
              <a:r>
                <a:rPr lang="en-US" spc="32" dirty="0" err="1">
                  <a:solidFill>
                    <a:srgbClr val="000000"/>
                  </a:solidFill>
                  <a:latin typeface="Arial" panose="020B0604020202020204" pitchFamily="34" charset="0"/>
                  <a:ea typeface="Aileron"/>
                  <a:cs typeface="Arial" panose="020B0604020202020204" pitchFamily="34" charset="0"/>
                  <a:sym typeface="Aileron"/>
                </a:rPr>
                <a:t>publique</a:t>
              </a:r>
              <a:r>
                <a:rPr lang="en-US" spc="32" dirty="0">
                  <a:solidFill>
                    <a:srgbClr val="000000"/>
                  </a:solidFill>
                  <a:latin typeface="Arial" panose="020B0604020202020204" pitchFamily="34" charset="0"/>
                  <a:ea typeface="Aileron"/>
                  <a:cs typeface="Arial" panose="020B0604020202020204" pitchFamily="34" charset="0"/>
                  <a:sym typeface="Aileron"/>
                </a:rPr>
                <a:t> et </a:t>
              </a:r>
              <a:r>
                <a:rPr lang="en-US" spc="32" dirty="0" err="1">
                  <a:solidFill>
                    <a:srgbClr val="000000"/>
                  </a:solidFill>
                  <a:latin typeface="Arial" panose="020B0604020202020204" pitchFamily="34" charset="0"/>
                  <a:ea typeface="Aileron"/>
                  <a:cs typeface="Arial" panose="020B0604020202020204" pitchFamily="34" charset="0"/>
                  <a:sym typeface="Aileron"/>
                </a:rPr>
                <a:t>l’environnement</a:t>
              </a:r>
              <a:r>
                <a:rPr lang="en-US" spc="32" dirty="0">
                  <a:solidFill>
                    <a:srgbClr val="000000"/>
                  </a:solidFill>
                  <a:latin typeface="Arial" panose="020B0604020202020204" pitchFamily="34" charset="0"/>
                  <a:ea typeface="Aileron"/>
                  <a:cs typeface="Arial" panose="020B0604020202020204" pitchFamily="34" charset="0"/>
                  <a:sym typeface="Aileron"/>
                </a:rPr>
                <a:t>. Les </a:t>
              </a:r>
              <a:r>
                <a:rPr lang="en-US" spc="32" dirty="0" err="1">
                  <a:solidFill>
                    <a:srgbClr val="000000"/>
                  </a:solidFill>
                  <a:latin typeface="Arial" panose="020B0604020202020204" pitchFamily="34" charset="0"/>
                  <a:ea typeface="Aileron"/>
                  <a:cs typeface="Arial" panose="020B0604020202020204" pitchFamily="34" charset="0"/>
                  <a:sym typeface="Aileron"/>
                </a:rPr>
                <a:t>déchets</a:t>
              </a:r>
              <a:r>
                <a:rPr lang="en-US" spc="32" dirty="0">
                  <a:solidFill>
                    <a:srgbClr val="000000"/>
                  </a:solidFill>
                  <a:latin typeface="Arial" panose="020B0604020202020204" pitchFamily="34" charset="0"/>
                  <a:ea typeface="Aileron"/>
                  <a:cs typeface="Arial" panose="020B0604020202020204" pitchFamily="34" charset="0"/>
                  <a:sym typeface="Aileron"/>
                </a:rPr>
                <a:t> y </a:t>
              </a:r>
              <a:r>
                <a:rPr lang="en-US" spc="32" dirty="0" err="1">
                  <a:solidFill>
                    <a:srgbClr val="000000"/>
                  </a:solidFill>
                  <a:latin typeface="Arial" panose="020B0604020202020204" pitchFamily="34" charset="0"/>
                  <a:ea typeface="Aileron"/>
                  <a:cs typeface="Arial" panose="020B0604020202020204" pitchFamily="34" charset="0"/>
                  <a:sym typeface="Aileron"/>
                </a:rPr>
                <a:t>sont</a:t>
              </a:r>
              <a:r>
                <a:rPr lang="en-US" spc="32" dirty="0">
                  <a:solidFill>
                    <a:srgbClr val="000000"/>
                  </a:solidFill>
                  <a:latin typeface="Arial" panose="020B0604020202020204" pitchFamily="34" charset="0"/>
                  <a:ea typeface="Aileron"/>
                  <a:cs typeface="Arial" panose="020B0604020202020204" pitchFamily="34" charset="0"/>
                  <a:sym typeface="Aileron"/>
                </a:rPr>
                <a:t> </a:t>
              </a:r>
              <a:r>
                <a:rPr lang="en-US" spc="32" dirty="0" err="1">
                  <a:solidFill>
                    <a:srgbClr val="000000"/>
                  </a:solidFill>
                  <a:latin typeface="Arial" panose="020B0604020202020204" pitchFamily="34" charset="0"/>
                  <a:ea typeface="Aileron"/>
                  <a:cs typeface="Arial" panose="020B0604020202020204" pitchFamily="34" charset="0"/>
                  <a:sym typeface="Aileron"/>
                </a:rPr>
                <a:t>souvent</a:t>
              </a:r>
              <a:r>
                <a:rPr lang="en-US" spc="32" dirty="0">
                  <a:solidFill>
                    <a:srgbClr val="000000"/>
                  </a:solidFill>
                  <a:latin typeface="Arial" panose="020B0604020202020204" pitchFamily="34" charset="0"/>
                  <a:ea typeface="Aileron"/>
                  <a:cs typeface="Arial" panose="020B0604020202020204" pitchFamily="34" charset="0"/>
                  <a:sym typeface="Aileron"/>
                </a:rPr>
                <a:t> </a:t>
              </a:r>
              <a:r>
                <a:rPr lang="en-US" spc="32" dirty="0" err="1">
                  <a:solidFill>
                    <a:srgbClr val="000000"/>
                  </a:solidFill>
                  <a:latin typeface="Arial" panose="020B0604020202020204" pitchFamily="34" charset="0"/>
                  <a:ea typeface="Aileron"/>
                  <a:cs typeface="Arial" panose="020B0604020202020204" pitchFamily="34" charset="0"/>
                  <a:sym typeface="Aileron"/>
                </a:rPr>
                <a:t>brûlés</a:t>
              </a:r>
              <a:r>
                <a:rPr lang="en-US" spc="32" dirty="0">
                  <a:solidFill>
                    <a:srgbClr val="000000"/>
                  </a:solidFill>
                  <a:latin typeface="Arial" panose="020B0604020202020204" pitchFamily="34" charset="0"/>
                  <a:ea typeface="Aileron"/>
                  <a:cs typeface="Arial" panose="020B0604020202020204" pitchFamily="34" charset="0"/>
                  <a:sym typeface="Aileron"/>
                </a:rPr>
                <a:t> à </a:t>
              </a:r>
              <a:r>
                <a:rPr lang="en-US" spc="32" dirty="0" err="1">
                  <a:solidFill>
                    <a:srgbClr val="000000"/>
                  </a:solidFill>
                  <a:latin typeface="Arial" panose="020B0604020202020204" pitchFamily="34" charset="0"/>
                  <a:ea typeface="Aileron"/>
                  <a:cs typeface="Arial" panose="020B0604020202020204" pitchFamily="34" charset="0"/>
                  <a:sym typeface="Aileron"/>
                </a:rPr>
                <a:t>l’air</a:t>
              </a:r>
              <a:r>
                <a:rPr lang="en-US" spc="32" dirty="0">
                  <a:solidFill>
                    <a:srgbClr val="000000"/>
                  </a:solidFill>
                  <a:latin typeface="Arial" panose="020B0604020202020204" pitchFamily="34" charset="0"/>
                  <a:ea typeface="Aileron"/>
                  <a:cs typeface="Arial" panose="020B0604020202020204" pitchFamily="34" charset="0"/>
                  <a:sym typeface="Aileron"/>
                </a:rPr>
                <a:t> libre, </a:t>
              </a:r>
              <a:r>
                <a:rPr lang="en-US" spc="32" dirty="0" err="1">
                  <a:solidFill>
                    <a:srgbClr val="000000"/>
                  </a:solidFill>
                  <a:latin typeface="Arial" panose="020B0604020202020204" pitchFamily="34" charset="0"/>
                  <a:ea typeface="Aileron"/>
                  <a:cs typeface="Arial" panose="020B0604020202020204" pitchFamily="34" charset="0"/>
                  <a:sym typeface="Aileron"/>
                </a:rPr>
                <a:t>libérant</a:t>
              </a:r>
              <a:r>
                <a:rPr lang="en-US" spc="32" dirty="0">
                  <a:solidFill>
                    <a:srgbClr val="000000"/>
                  </a:solidFill>
                  <a:latin typeface="Arial" panose="020B0604020202020204" pitchFamily="34" charset="0"/>
                  <a:ea typeface="Aileron"/>
                  <a:cs typeface="Arial" panose="020B0604020202020204" pitchFamily="34" charset="0"/>
                  <a:sym typeface="Aileron"/>
                </a:rPr>
                <a:t> des substances </a:t>
              </a:r>
              <a:r>
                <a:rPr lang="en-US" spc="32" dirty="0" err="1">
                  <a:solidFill>
                    <a:srgbClr val="000000"/>
                  </a:solidFill>
                  <a:latin typeface="Arial" panose="020B0604020202020204" pitchFamily="34" charset="0"/>
                  <a:ea typeface="Aileron"/>
                  <a:cs typeface="Arial" panose="020B0604020202020204" pitchFamily="34" charset="0"/>
                  <a:sym typeface="Aileron"/>
                </a:rPr>
                <a:t>toxiques</a:t>
              </a:r>
              <a:endParaRPr lang="en-US" spc="32" dirty="0">
                <a:solidFill>
                  <a:srgbClr val="000000"/>
                </a:solidFill>
                <a:latin typeface="Arial" panose="020B0604020202020204" pitchFamily="34" charset="0"/>
                <a:ea typeface="Aileron"/>
                <a:cs typeface="Arial" panose="020B0604020202020204" pitchFamily="34" charset="0"/>
                <a:sym typeface="Aileron"/>
              </a:endParaRPr>
            </a:p>
          </p:txBody>
        </p:sp>
        <p:sp>
          <p:nvSpPr>
            <p:cNvPr id="34" name="TextBox 34"/>
            <p:cNvSpPr txBox="1"/>
            <p:nvPr/>
          </p:nvSpPr>
          <p:spPr>
            <a:xfrm>
              <a:off x="0" y="-19051"/>
              <a:ext cx="7566245" cy="530060"/>
            </a:xfrm>
            <a:prstGeom prst="rect">
              <a:avLst/>
            </a:prstGeom>
          </p:spPr>
          <p:txBody>
            <a:bodyPr lIns="0" tIns="0" rIns="0" bIns="0" rtlCol="0" anchor="t">
              <a:spAutoFit/>
            </a:bodyPr>
            <a:lstStyle/>
            <a:p>
              <a:pPr marL="0" lvl="0" indent="0" algn="l">
                <a:lnSpc>
                  <a:spcPts val="3095"/>
                </a:lnSpc>
                <a:spcBef>
                  <a:spcPct val="0"/>
                </a:spcBef>
              </a:pPr>
              <a:r>
                <a:rPr lang="en-US" sz="2800" spc="93" dirty="0" err="1">
                  <a:solidFill>
                    <a:srgbClr val="000000"/>
                  </a:solidFill>
                  <a:latin typeface="Arial Black" panose="020B0A04020102020204" pitchFamily="34" charset="0"/>
                  <a:ea typeface="Aileron Bold"/>
                  <a:cs typeface="Arial" panose="020B0604020202020204" pitchFamily="34" charset="0"/>
                  <a:sym typeface="Aileron Bold"/>
                </a:rPr>
                <a:t>Décharges</a:t>
              </a:r>
              <a:r>
                <a:rPr lang="en-US" sz="2800" spc="93" dirty="0">
                  <a:solidFill>
                    <a:srgbClr val="000000"/>
                  </a:solidFill>
                  <a:latin typeface="Arial Black" panose="020B0A04020102020204" pitchFamily="34" charset="0"/>
                  <a:ea typeface="Aileron Bold"/>
                  <a:cs typeface="Arial" panose="020B0604020202020204" pitchFamily="34" charset="0"/>
                  <a:sym typeface="Aileron Bold"/>
                </a:rPr>
                <a:t> non </a:t>
              </a:r>
              <a:r>
                <a:rPr lang="en-US" sz="2800" spc="93" dirty="0" err="1">
                  <a:solidFill>
                    <a:srgbClr val="000000"/>
                  </a:solidFill>
                  <a:latin typeface="Arial Black" panose="020B0A04020102020204" pitchFamily="34" charset="0"/>
                  <a:ea typeface="Aileron Bold"/>
                  <a:cs typeface="Arial" panose="020B0604020202020204" pitchFamily="34" charset="0"/>
                  <a:sym typeface="Aileron Bold"/>
                </a:rPr>
                <a:t>contrôlées</a:t>
              </a:r>
              <a:endParaRPr lang="en-US" sz="2800" spc="93" dirty="0">
                <a:solidFill>
                  <a:srgbClr val="000000"/>
                </a:solidFill>
                <a:latin typeface="Arial Black" panose="020B0A04020102020204" pitchFamily="34" charset="0"/>
                <a:ea typeface="Aileron Bold"/>
                <a:cs typeface="Arial" panose="020B0604020202020204" pitchFamily="34" charset="0"/>
                <a:sym typeface="Aileron Bold"/>
              </a:endParaRPr>
            </a:p>
          </p:txBody>
        </p:sp>
      </p:grpSp>
      <p:grpSp>
        <p:nvGrpSpPr>
          <p:cNvPr id="35" name="Group 35"/>
          <p:cNvGrpSpPr/>
          <p:nvPr/>
        </p:nvGrpSpPr>
        <p:grpSpPr>
          <a:xfrm>
            <a:off x="11117018" y="2771756"/>
            <a:ext cx="5674684" cy="1753411"/>
            <a:chOff x="0" y="-19050"/>
            <a:chExt cx="7566245" cy="2337882"/>
          </a:xfrm>
        </p:grpSpPr>
        <p:sp>
          <p:nvSpPr>
            <p:cNvPr id="36" name="TextBox 36"/>
            <p:cNvSpPr txBox="1"/>
            <p:nvPr/>
          </p:nvSpPr>
          <p:spPr>
            <a:xfrm>
              <a:off x="0" y="717709"/>
              <a:ext cx="7566245" cy="1601123"/>
            </a:xfrm>
            <a:prstGeom prst="rect">
              <a:avLst/>
            </a:prstGeom>
          </p:spPr>
          <p:txBody>
            <a:bodyPr lIns="0" tIns="0" rIns="0" bIns="0" rtlCol="0" anchor="t">
              <a:spAutoFit/>
            </a:bodyPr>
            <a:lstStyle/>
            <a:p>
              <a:pPr algn="just">
                <a:lnSpc>
                  <a:spcPts val="2399"/>
                </a:lnSpc>
              </a:pPr>
              <a:r>
                <a:rPr lang="en-US" spc="31" dirty="0">
                  <a:solidFill>
                    <a:srgbClr val="000000"/>
                  </a:solidFill>
                  <a:latin typeface="Arial" panose="020B0604020202020204" pitchFamily="34" charset="0"/>
                  <a:ea typeface="Aileron"/>
                  <a:cs typeface="Arial" panose="020B0604020202020204" pitchFamily="34" charset="0"/>
                  <a:sym typeface="Aileron"/>
                </a:rPr>
                <a:t> </a:t>
              </a:r>
              <a:r>
                <a:rPr lang="en-US" spc="31" dirty="0" err="1">
                  <a:solidFill>
                    <a:srgbClr val="000000"/>
                  </a:solidFill>
                  <a:latin typeface="Arial" panose="020B0604020202020204" pitchFamily="34" charset="0"/>
                  <a:ea typeface="Aileron"/>
                  <a:cs typeface="Arial" panose="020B0604020202020204" pitchFamily="34" charset="0"/>
                  <a:sym typeface="Aileron"/>
                </a:rPr>
                <a:t>L’urbanisation</a:t>
              </a:r>
              <a:r>
                <a:rPr lang="en-US" spc="31" dirty="0">
                  <a:solidFill>
                    <a:srgbClr val="000000"/>
                  </a:solidFill>
                  <a:latin typeface="Arial" panose="020B0604020202020204" pitchFamily="34" charset="0"/>
                  <a:ea typeface="Aileron"/>
                  <a:cs typeface="Arial" panose="020B0604020202020204" pitchFamily="34" charset="0"/>
                  <a:sym typeface="Aileron"/>
                </a:rPr>
                <a:t> </a:t>
              </a:r>
              <a:r>
                <a:rPr lang="en-US" spc="31" dirty="0" err="1">
                  <a:solidFill>
                    <a:srgbClr val="000000"/>
                  </a:solidFill>
                  <a:latin typeface="Arial" panose="020B0604020202020204" pitchFamily="34" charset="0"/>
                  <a:ea typeface="Aileron"/>
                  <a:cs typeface="Arial" panose="020B0604020202020204" pitchFamily="34" charset="0"/>
                  <a:sym typeface="Aileron"/>
                </a:rPr>
                <a:t>rapide</a:t>
              </a:r>
              <a:r>
                <a:rPr lang="en-US" spc="31" dirty="0">
                  <a:solidFill>
                    <a:srgbClr val="000000"/>
                  </a:solidFill>
                  <a:latin typeface="Arial" panose="020B0604020202020204" pitchFamily="34" charset="0"/>
                  <a:ea typeface="Aileron"/>
                  <a:cs typeface="Arial" panose="020B0604020202020204" pitchFamily="34" charset="0"/>
                  <a:sym typeface="Aileron"/>
                </a:rPr>
                <a:t> et </a:t>
              </a:r>
              <a:r>
                <a:rPr lang="en-US" spc="31" dirty="0" err="1">
                  <a:solidFill>
                    <a:srgbClr val="000000"/>
                  </a:solidFill>
                  <a:latin typeface="Arial" panose="020B0604020202020204" pitchFamily="34" charset="0"/>
                  <a:ea typeface="Aileron"/>
                  <a:cs typeface="Arial" panose="020B0604020202020204" pitchFamily="34" charset="0"/>
                  <a:sym typeface="Aileron"/>
                </a:rPr>
                <a:t>l’augmentation</a:t>
              </a:r>
              <a:r>
                <a:rPr lang="en-US" spc="31" dirty="0">
                  <a:solidFill>
                    <a:srgbClr val="000000"/>
                  </a:solidFill>
                  <a:latin typeface="Arial" panose="020B0604020202020204" pitchFamily="34" charset="0"/>
                  <a:ea typeface="Aileron"/>
                  <a:cs typeface="Arial" panose="020B0604020202020204" pitchFamily="34" charset="0"/>
                  <a:sym typeface="Aileron"/>
                </a:rPr>
                <a:t> de la population </a:t>
              </a:r>
              <a:r>
                <a:rPr lang="en-US" spc="31" dirty="0" err="1">
                  <a:solidFill>
                    <a:srgbClr val="000000"/>
                  </a:solidFill>
                  <a:latin typeface="Arial" panose="020B0604020202020204" pitchFamily="34" charset="0"/>
                  <a:ea typeface="Aileron"/>
                  <a:cs typeface="Arial" panose="020B0604020202020204" pitchFamily="34" charset="0"/>
                  <a:sym typeface="Aileron"/>
                </a:rPr>
                <a:t>urbaine</a:t>
              </a:r>
              <a:r>
                <a:rPr lang="en-US" spc="31" dirty="0">
                  <a:solidFill>
                    <a:srgbClr val="000000"/>
                  </a:solidFill>
                  <a:latin typeface="Arial" panose="020B0604020202020204" pitchFamily="34" charset="0"/>
                  <a:ea typeface="Aileron"/>
                  <a:cs typeface="Arial" panose="020B0604020202020204" pitchFamily="34" charset="0"/>
                  <a:sym typeface="Aileron"/>
                </a:rPr>
                <a:t> </a:t>
              </a:r>
              <a:r>
                <a:rPr lang="en-US" spc="31" dirty="0" err="1">
                  <a:solidFill>
                    <a:srgbClr val="000000"/>
                  </a:solidFill>
                  <a:latin typeface="Arial" panose="020B0604020202020204" pitchFamily="34" charset="0"/>
                  <a:ea typeface="Aileron"/>
                  <a:cs typeface="Arial" panose="020B0604020202020204" pitchFamily="34" charset="0"/>
                  <a:sym typeface="Aileron"/>
                </a:rPr>
                <a:t>créent</a:t>
              </a:r>
              <a:r>
                <a:rPr lang="en-US" spc="31" dirty="0">
                  <a:solidFill>
                    <a:srgbClr val="000000"/>
                  </a:solidFill>
                  <a:latin typeface="Arial" panose="020B0604020202020204" pitchFamily="34" charset="0"/>
                  <a:ea typeface="Aileron"/>
                  <a:cs typeface="Arial" panose="020B0604020202020204" pitchFamily="34" charset="0"/>
                  <a:sym typeface="Aileron"/>
                </a:rPr>
                <a:t> </a:t>
              </a:r>
              <a:r>
                <a:rPr lang="en-US" spc="31" dirty="0" err="1">
                  <a:solidFill>
                    <a:srgbClr val="000000"/>
                  </a:solidFill>
                  <a:latin typeface="Arial" panose="020B0604020202020204" pitchFamily="34" charset="0"/>
                  <a:ea typeface="Aileron"/>
                  <a:cs typeface="Arial" panose="020B0604020202020204" pitchFamily="34" charset="0"/>
                  <a:sym typeface="Aileron"/>
                </a:rPr>
                <a:t>une</a:t>
              </a:r>
              <a:r>
                <a:rPr lang="en-US" spc="31" dirty="0">
                  <a:solidFill>
                    <a:srgbClr val="000000"/>
                  </a:solidFill>
                  <a:latin typeface="Arial" panose="020B0604020202020204" pitchFamily="34" charset="0"/>
                  <a:ea typeface="Aileron"/>
                  <a:cs typeface="Arial" panose="020B0604020202020204" pitchFamily="34" charset="0"/>
                  <a:sym typeface="Aileron"/>
                </a:rPr>
                <a:t> pression </a:t>
              </a:r>
              <a:r>
                <a:rPr lang="en-US" spc="31" dirty="0" err="1">
                  <a:solidFill>
                    <a:srgbClr val="000000"/>
                  </a:solidFill>
                  <a:latin typeface="Arial" panose="020B0604020202020204" pitchFamily="34" charset="0"/>
                  <a:ea typeface="Aileron"/>
                  <a:cs typeface="Arial" panose="020B0604020202020204" pitchFamily="34" charset="0"/>
                  <a:sym typeface="Aileron"/>
                </a:rPr>
                <a:t>supplémentaire</a:t>
              </a:r>
              <a:r>
                <a:rPr lang="en-US" spc="31" dirty="0">
                  <a:solidFill>
                    <a:srgbClr val="000000"/>
                  </a:solidFill>
                  <a:latin typeface="Arial" panose="020B0604020202020204" pitchFamily="34" charset="0"/>
                  <a:ea typeface="Aileron"/>
                  <a:cs typeface="Arial" panose="020B0604020202020204" pitchFamily="34" charset="0"/>
                  <a:sym typeface="Aileron"/>
                </a:rPr>
                <a:t> sur les </a:t>
              </a:r>
              <a:r>
                <a:rPr lang="en-US" spc="31" dirty="0" err="1">
                  <a:solidFill>
                    <a:srgbClr val="000000"/>
                  </a:solidFill>
                  <a:latin typeface="Arial" panose="020B0604020202020204" pitchFamily="34" charset="0"/>
                  <a:ea typeface="Aileron"/>
                  <a:cs typeface="Arial" panose="020B0604020202020204" pitchFamily="34" charset="0"/>
                  <a:sym typeface="Aileron"/>
                </a:rPr>
                <a:t>systèmes</a:t>
              </a:r>
              <a:r>
                <a:rPr lang="en-US" spc="31" dirty="0">
                  <a:solidFill>
                    <a:srgbClr val="000000"/>
                  </a:solidFill>
                  <a:latin typeface="Arial" panose="020B0604020202020204" pitchFamily="34" charset="0"/>
                  <a:ea typeface="Aileron"/>
                  <a:cs typeface="Arial" panose="020B0604020202020204" pitchFamily="34" charset="0"/>
                  <a:sym typeface="Aileron"/>
                </a:rPr>
                <a:t> de gestion des </a:t>
              </a:r>
              <a:r>
                <a:rPr lang="en-US" spc="31" dirty="0" err="1">
                  <a:solidFill>
                    <a:srgbClr val="000000"/>
                  </a:solidFill>
                  <a:latin typeface="Arial" panose="020B0604020202020204" pitchFamily="34" charset="0"/>
                  <a:ea typeface="Aileron"/>
                  <a:cs typeface="Arial" panose="020B0604020202020204" pitchFamily="34" charset="0"/>
                  <a:sym typeface="Aileron"/>
                </a:rPr>
                <a:t>déchets</a:t>
              </a:r>
              <a:r>
                <a:rPr lang="en-US" spc="31" dirty="0">
                  <a:solidFill>
                    <a:srgbClr val="000000"/>
                  </a:solidFill>
                  <a:latin typeface="Arial" panose="020B0604020202020204" pitchFamily="34" charset="0"/>
                  <a:ea typeface="Aileron"/>
                  <a:cs typeface="Arial" panose="020B0604020202020204" pitchFamily="34" charset="0"/>
                  <a:sym typeface="Aileron"/>
                </a:rPr>
                <a:t> </a:t>
              </a:r>
              <a:r>
                <a:rPr lang="en-US" spc="31" dirty="0" err="1">
                  <a:solidFill>
                    <a:srgbClr val="000000"/>
                  </a:solidFill>
                  <a:latin typeface="Arial" panose="020B0604020202020204" pitchFamily="34" charset="0"/>
                  <a:ea typeface="Aileron"/>
                  <a:cs typeface="Arial" panose="020B0604020202020204" pitchFamily="34" charset="0"/>
                  <a:sym typeface="Aileron"/>
                </a:rPr>
                <a:t>existants</a:t>
              </a:r>
              <a:r>
                <a:rPr lang="en-US" spc="31" dirty="0">
                  <a:solidFill>
                    <a:srgbClr val="000000"/>
                  </a:solidFill>
                  <a:latin typeface="Arial" panose="020B0604020202020204" pitchFamily="34" charset="0"/>
                  <a:ea typeface="Aileron"/>
                  <a:cs typeface="Arial" panose="020B0604020202020204" pitchFamily="34" charset="0"/>
                  <a:sym typeface="Aileron"/>
                </a:rPr>
                <a:t>, qui </a:t>
              </a:r>
              <a:r>
                <a:rPr lang="en-US" spc="31" dirty="0" err="1">
                  <a:solidFill>
                    <a:srgbClr val="000000"/>
                  </a:solidFill>
                  <a:latin typeface="Arial" panose="020B0604020202020204" pitchFamily="34" charset="0"/>
                  <a:ea typeface="Aileron"/>
                  <a:cs typeface="Arial" panose="020B0604020202020204" pitchFamily="34" charset="0"/>
                  <a:sym typeface="Aileron"/>
                </a:rPr>
                <a:t>peinent</a:t>
              </a:r>
              <a:r>
                <a:rPr lang="en-US" spc="31" dirty="0">
                  <a:solidFill>
                    <a:srgbClr val="000000"/>
                  </a:solidFill>
                  <a:latin typeface="Arial" panose="020B0604020202020204" pitchFamily="34" charset="0"/>
                  <a:ea typeface="Aileron"/>
                  <a:cs typeface="Arial" panose="020B0604020202020204" pitchFamily="34" charset="0"/>
                  <a:sym typeface="Aileron"/>
                </a:rPr>
                <a:t> à </a:t>
              </a:r>
              <a:r>
                <a:rPr lang="en-US" spc="31" dirty="0" err="1">
                  <a:solidFill>
                    <a:srgbClr val="000000"/>
                  </a:solidFill>
                  <a:latin typeface="Arial" panose="020B0604020202020204" pitchFamily="34" charset="0"/>
                  <a:ea typeface="Aileron"/>
                  <a:cs typeface="Arial" panose="020B0604020202020204" pitchFamily="34" charset="0"/>
                  <a:sym typeface="Aileron"/>
                </a:rPr>
                <a:t>suivre</a:t>
              </a:r>
              <a:r>
                <a:rPr lang="en-US" spc="31" dirty="0">
                  <a:solidFill>
                    <a:srgbClr val="000000"/>
                  </a:solidFill>
                  <a:latin typeface="Arial" panose="020B0604020202020204" pitchFamily="34" charset="0"/>
                  <a:ea typeface="Aileron"/>
                  <a:cs typeface="Arial" panose="020B0604020202020204" pitchFamily="34" charset="0"/>
                  <a:sym typeface="Aileron"/>
                </a:rPr>
                <a:t> le </a:t>
              </a:r>
              <a:r>
                <a:rPr lang="en-US" spc="31" dirty="0" err="1">
                  <a:solidFill>
                    <a:srgbClr val="000000"/>
                  </a:solidFill>
                  <a:latin typeface="Arial" panose="020B0604020202020204" pitchFamily="34" charset="0"/>
                  <a:ea typeface="Aileron"/>
                  <a:cs typeface="Arial" panose="020B0604020202020204" pitchFamily="34" charset="0"/>
                  <a:sym typeface="Aileron"/>
                </a:rPr>
                <a:t>rythme</a:t>
              </a:r>
              <a:r>
                <a:rPr lang="en-US" spc="31" dirty="0">
                  <a:solidFill>
                    <a:srgbClr val="000000"/>
                  </a:solidFill>
                  <a:latin typeface="Arial" panose="020B0604020202020204" pitchFamily="34" charset="0"/>
                  <a:ea typeface="Aileron"/>
                  <a:cs typeface="Arial" panose="020B0604020202020204" pitchFamily="34" charset="0"/>
                  <a:sym typeface="Aileron"/>
                </a:rPr>
                <a:t>.</a:t>
              </a:r>
            </a:p>
          </p:txBody>
        </p:sp>
        <p:sp>
          <p:nvSpPr>
            <p:cNvPr id="37" name="TextBox 37"/>
            <p:cNvSpPr txBox="1"/>
            <p:nvPr/>
          </p:nvSpPr>
          <p:spPr>
            <a:xfrm>
              <a:off x="0" y="-19050"/>
              <a:ext cx="7566245" cy="530060"/>
            </a:xfrm>
            <a:prstGeom prst="rect">
              <a:avLst/>
            </a:prstGeom>
          </p:spPr>
          <p:txBody>
            <a:bodyPr lIns="0" tIns="0" rIns="0" bIns="0" rtlCol="0" anchor="t">
              <a:spAutoFit/>
            </a:bodyPr>
            <a:lstStyle/>
            <a:p>
              <a:pPr marL="0" lvl="0" indent="0" algn="l">
                <a:lnSpc>
                  <a:spcPts val="3095"/>
                </a:lnSpc>
                <a:spcBef>
                  <a:spcPct val="0"/>
                </a:spcBef>
              </a:pPr>
              <a:r>
                <a:rPr lang="en-US" sz="2800" spc="93" dirty="0" err="1">
                  <a:solidFill>
                    <a:srgbClr val="000000"/>
                  </a:solidFill>
                  <a:latin typeface="Arial Black" panose="020B0A04020102020204" pitchFamily="34" charset="0"/>
                  <a:ea typeface="Aileron Bold"/>
                  <a:cs typeface="Arial" panose="020B0604020202020204" pitchFamily="34" charset="0"/>
                  <a:sym typeface="Aileron Bold"/>
                </a:rPr>
                <a:t>Croissance</a:t>
              </a:r>
              <a:r>
                <a:rPr lang="en-US" sz="2800" spc="93" dirty="0">
                  <a:solidFill>
                    <a:srgbClr val="000000"/>
                  </a:solidFill>
                  <a:latin typeface="Arial Black" panose="020B0A04020102020204" pitchFamily="34" charset="0"/>
                  <a:ea typeface="Aileron Bold"/>
                  <a:cs typeface="Arial" panose="020B0604020202020204" pitchFamily="34" charset="0"/>
                  <a:sym typeface="Aileron Bold"/>
                </a:rPr>
                <a:t> </a:t>
              </a:r>
              <a:r>
                <a:rPr lang="en-US" sz="2800" spc="93" dirty="0" err="1">
                  <a:solidFill>
                    <a:srgbClr val="000000"/>
                  </a:solidFill>
                  <a:latin typeface="Arial Black" panose="020B0A04020102020204" pitchFamily="34" charset="0"/>
                  <a:ea typeface="Aileron Bold"/>
                  <a:cs typeface="Arial" panose="020B0604020202020204" pitchFamily="34" charset="0"/>
                  <a:sym typeface="Aileron Bold"/>
                </a:rPr>
                <a:t>urbaine</a:t>
              </a:r>
              <a:r>
                <a:rPr lang="en-US" sz="2800" spc="93" dirty="0">
                  <a:solidFill>
                    <a:srgbClr val="000000"/>
                  </a:solidFill>
                  <a:latin typeface="Arial Black" panose="020B0A04020102020204" pitchFamily="34" charset="0"/>
                  <a:ea typeface="Aileron Bold"/>
                  <a:cs typeface="Arial" panose="020B0604020202020204" pitchFamily="34" charset="0"/>
                  <a:sym typeface="Aileron Bold"/>
                </a:rPr>
                <a:t> </a:t>
              </a:r>
              <a:r>
                <a:rPr lang="en-US" sz="2800" spc="93" dirty="0" err="1">
                  <a:solidFill>
                    <a:srgbClr val="000000"/>
                  </a:solidFill>
                  <a:latin typeface="Arial Black" panose="020B0A04020102020204" pitchFamily="34" charset="0"/>
                  <a:ea typeface="Aileron Bold"/>
                  <a:cs typeface="Arial" panose="020B0604020202020204" pitchFamily="34" charset="0"/>
                  <a:sym typeface="Aileron Bold"/>
                </a:rPr>
                <a:t>rapide</a:t>
              </a:r>
              <a:r>
                <a:rPr lang="en-US" sz="2800" spc="93" dirty="0">
                  <a:solidFill>
                    <a:srgbClr val="000000"/>
                  </a:solidFill>
                  <a:latin typeface="Arial Black" panose="020B0A04020102020204" pitchFamily="34" charset="0"/>
                  <a:ea typeface="Aileron Bold"/>
                  <a:cs typeface="Arial" panose="020B0604020202020204" pitchFamily="34" charset="0"/>
                  <a:sym typeface="Aileron Bold"/>
                </a:rPr>
                <a:t> </a:t>
              </a:r>
            </a:p>
          </p:txBody>
        </p:sp>
      </p:grpSp>
      <p:grpSp>
        <p:nvGrpSpPr>
          <p:cNvPr id="38" name="Group 38"/>
          <p:cNvGrpSpPr/>
          <p:nvPr/>
        </p:nvGrpSpPr>
        <p:grpSpPr>
          <a:xfrm>
            <a:off x="10727666" y="5834298"/>
            <a:ext cx="6064036" cy="2368964"/>
            <a:chOff x="0" y="-19050"/>
            <a:chExt cx="7566245" cy="3158618"/>
          </a:xfrm>
        </p:grpSpPr>
        <p:sp>
          <p:nvSpPr>
            <p:cNvPr id="39" name="TextBox 39"/>
            <p:cNvSpPr txBox="1"/>
            <p:nvPr/>
          </p:nvSpPr>
          <p:spPr>
            <a:xfrm>
              <a:off x="0" y="717709"/>
              <a:ext cx="7566245" cy="2421859"/>
            </a:xfrm>
            <a:prstGeom prst="rect">
              <a:avLst/>
            </a:prstGeom>
          </p:spPr>
          <p:txBody>
            <a:bodyPr lIns="0" tIns="0" rIns="0" bIns="0" rtlCol="0" anchor="t">
              <a:spAutoFit/>
            </a:bodyPr>
            <a:lstStyle/>
            <a:p>
              <a:pPr algn="just">
                <a:lnSpc>
                  <a:spcPts val="2399"/>
                </a:lnSpc>
              </a:pPr>
              <a:r>
                <a:rPr lang="en-US" spc="31" dirty="0">
                  <a:solidFill>
                    <a:srgbClr val="000000"/>
                  </a:solidFill>
                  <a:latin typeface="Arial" panose="020B0604020202020204" pitchFamily="34" charset="0"/>
                  <a:ea typeface="Aileron"/>
                  <a:cs typeface="Arial" panose="020B0604020202020204" pitchFamily="34" charset="0"/>
                  <a:sym typeface="Aileron"/>
                </a:rPr>
                <a:t>Il y a un </a:t>
              </a:r>
              <a:r>
                <a:rPr lang="en-US" spc="31" dirty="0" err="1">
                  <a:solidFill>
                    <a:srgbClr val="000000"/>
                  </a:solidFill>
                  <a:latin typeface="Arial" panose="020B0604020202020204" pitchFamily="34" charset="0"/>
                  <a:ea typeface="Aileron"/>
                  <a:cs typeface="Arial" panose="020B0604020202020204" pitchFamily="34" charset="0"/>
                  <a:sym typeface="Aileron"/>
                </a:rPr>
                <a:t>besoin</a:t>
              </a:r>
              <a:r>
                <a:rPr lang="en-US" spc="31" dirty="0">
                  <a:solidFill>
                    <a:srgbClr val="000000"/>
                  </a:solidFill>
                  <a:latin typeface="Arial" panose="020B0604020202020204" pitchFamily="34" charset="0"/>
                  <a:ea typeface="Aileron"/>
                  <a:cs typeface="Arial" panose="020B0604020202020204" pitchFamily="34" charset="0"/>
                  <a:sym typeface="Aileron"/>
                </a:rPr>
                <a:t> crucial de </a:t>
              </a:r>
              <a:r>
                <a:rPr lang="en-US" spc="31" dirty="0" err="1">
                  <a:solidFill>
                    <a:srgbClr val="000000"/>
                  </a:solidFill>
                  <a:latin typeface="Arial" panose="020B0604020202020204" pitchFamily="34" charset="0"/>
                  <a:ea typeface="Aileron"/>
                  <a:cs typeface="Arial" panose="020B0604020202020204" pitchFamily="34" charset="0"/>
                  <a:sym typeface="Aileron"/>
                </a:rPr>
                <a:t>sensibiliser</a:t>
              </a:r>
              <a:r>
                <a:rPr lang="en-US" spc="31" dirty="0">
                  <a:solidFill>
                    <a:srgbClr val="000000"/>
                  </a:solidFill>
                  <a:latin typeface="Arial" panose="020B0604020202020204" pitchFamily="34" charset="0"/>
                  <a:ea typeface="Aileron"/>
                  <a:cs typeface="Arial" panose="020B0604020202020204" pitchFamily="34" charset="0"/>
                  <a:sym typeface="Aileron"/>
                </a:rPr>
                <a:t> la population à </a:t>
              </a:r>
              <a:r>
                <a:rPr lang="en-US" spc="31" dirty="0" err="1">
                  <a:solidFill>
                    <a:srgbClr val="000000"/>
                  </a:solidFill>
                  <a:latin typeface="Arial" panose="020B0604020202020204" pitchFamily="34" charset="0"/>
                  <a:ea typeface="Aileron"/>
                  <a:cs typeface="Arial" panose="020B0604020202020204" pitchFamily="34" charset="0"/>
                  <a:sym typeface="Aileron"/>
                </a:rPr>
                <a:t>l’importance</a:t>
              </a:r>
              <a:r>
                <a:rPr lang="en-US" spc="31" dirty="0">
                  <a:solidFill>
                    <a:srgbClr val="000000"/>
                  </a:solidFill>
                  <a:latin typeface="Arial" panose="020B0604020202020204" pitchFamily="34" charset="0"/>
                  <a:ea typeface="Aileron"/>
                  <a:cs typeface="Arial" panose="020B0604020202020204" pitchFamily="34" charset="0"/>
                  <a:sym typeface="Aileron"/>
                </a:rPr>
                <a:t> de la gestion des </a:t>
              </a:r>
              <a:r>
                <a:rPr lang="en-US" spc="31" dirty="0" err="1">
                  <a:solidFill>
                    <a:srgbClr val="000000"/>
                  </a:solidFill>
                  <a:latin typeface="Arial" panose="020B0604020202020204" pitchFamily="34" charset="0"/>
                  <a:ea typeface="Aileron"/>
                  <a:cs typeface="Arial" panose="020B0604020202020204" pitchFamily="34" charset="0"/>
                  <a:sym typeface="Aileron"/>
                </a:rPr>
                <a:t>déchets</a:t>
              </a:r>
              <a:r>
                <a:rPr lang="en-US" spc="31" dirty="0">
                  <a:solidFill>
                    <a:srgbClr val="000000"/>
                  </a:solidFill>
                  <a:latin typeface="Arial" panose="020B0604020202020204" pitchFamily="34" charset="0"/>
                  <a:ea typeface="Aileron"/>
                  <a:cs typeface="Arial" panose="020B0604020202020204" pitchFamily="34" charset="0"/>
                  <a:sym typeface="Aileron"/>
                </a:rPr>
                <a:t> et des pratiques de </a:t>
              </a:r>
              <a:r>
                <a:rPr lang="en-US" spc="31" dirty="0" err="1">
                  <a:solidFill>
                    <a:srgbClr val="000000"/>
                  </a:solidFill>
                  <a:latin typeface="Arial" panose="020B0604020202020204" pitchFamily="34" charset="0"/>
                  <a:ea typeface="Aileron"/>
                  <a:cs typeface="Arial" panose="020B0604020202020204" pitchFamily="34" charset="0"/>
                  <a:sym typeface="Aileron"/>
                </a:rPr>
                <a:t>recyclage</a:t>
              </a:r>
              <a:r>
                <a:rPr lang="en-US" spc="31" dirty="0">
                  <a:solidFill>
                    <a:srgbClr val="000000"/>
                  </a:solidFill>
                  <a:latin typeface="Arial" panose="020B0604020202020204" pitchFamily="34" charset="0"/>
                  <a:ea typeface="Aileron"/>
                  <a:cs typeface="Arial" panose="020B0604020202020204" pitchFamily="34" charset="0"/>
                  <a:sym typeface="Aileron"/>
                </a:rPr>
                <a:t>. Beaucoup de gens ne </a:t>
              </a:r>
              <a:r>
                <a:rPr lang="en-US" spc="31" dirty="0" err="1">
                  <a:solidFill>
                    <a:srgbClr val="000000"/>
                  </a:solidFill>
                  <a:latin typeface="Arial" panose="020B0604020202020204" pitchFamily="34" charset="0"/>
                  <a:ea typeface="Aileron"/>
                  <a:cs typeface="Arial" panose="020B0604020202020204" pitchFamily="34" charset="0"/>
                  <a:sym typeface="Aileron"/>
                </a:rPr>
                <a:t>sont</a:t>
              </a:r>
              <a:r>
                <a:rPr lang="en-US" spc="31" dirty="0">
                  <a:solidFill>
                    <a:srgbClr val="000000"/>
                  </a:solidFill>
                  <a:latin typeface="Arial" panose="020B0604020202020204" pitchFamily="34" charset="0"/>
                  <a:ea typeface="Aileron"/>
                  <a:cs typeface="Arial" panose="020B0604020202020204" pitchFamily="34" charset="0"/>
                  <a:sym typeface="Aileron"/>
                </a:rPr>
                <a:t> pas </a:t>
              </a:r>
              <a:r>
                <a:rPr lang="en-US" spc="31" dirty="0" err="1">
                  <a:solidFill>
                    <a:srgbClr val="000000"/>
                  </a:solidFill>
                  <a:latin typeface="Arial" panose="020B0604020202020204" pitchFamily="34" charset="0"/>
                  <a:ea typeface="Aileron"/>
                  <a:cs typeface="Arial" panose="020B0604020202020204" pitchFamily="34" charset="0"/>
                  <a:sym typeface="Aileron"/>
                </a:rPr>
                <a:t>conscients</a:t>
              </a:r>
              <a:r>
                <a:rPr lang="en-US" spc="31" dirty="0">
                  <a:solidFill>
                    <a:srgbClr val="000000"/>
                  </a:solidFill>
                  <a:latin typeface="Arial" panose="020B0604020202020204" pitchFamily="34" charset="0"/>
                  <a:ea typeface="Aileron"/>
                  <a:cs typeface="Arial" panose="020B0604020202020204" pitchFamily="34" charset="0"/>
                  <a:sym typeface="Aileron"/>
                </a:rPr>
                <a:t> des impacts </a:t>
              </a:r>
              <a:r>
                <a:rPr lang="en-US" spc="31" dirty="0" err="1">
                  <a:solidFill>
                    <a:srgbClr val="000000"/>
                  </a:solidFill>
                  <a:latin typeface="Arial" panose="020B0604020202020204" pitchFamily="34" charset="0"/>
                  <a:ea typeface="Aileron"/>
                  <a:cs typeface="Arial" panose="020B0604020202020204" pitchFamily="34" charset="0"/>
                  <a:sym typeface="Aileron"/>
                </a:rPr>
                <a:t>environnementaux</a:t>
              </a:r>
              <a:r>
                <a:rPr lang="en-US" spc="31" dirty="0">
                  <a:solidFill>
                    <a:srgbClr val="000000"/>
                  </a:solidFill>
                  <a:latin typeface="Arial" panose="020B0604020202020204" pitchFamily="34" charset="0"/>
                  <a:ea typeface="Aileron"/>
                  <a:cs typeface="Arial" panose="020B0604020202020204" pitchFamily="34" charset="0"/>
                  <a:sym typeface="Aileron"/>
                </a:rPr>
                <a:t> et sanitaires des </a:t>
              </a:r>
              <a:r>
                <a:rPr lang="en-US" spc="31" dirty="0" err="1">
                  <a:solidFill>
                    <a:srgbClr val="000000"/>
                  </a:solidFill>
                  <a:latin typeface="Arial" panose="020B0604020202020204" pitchFamily="34" charset="0"/>
                  <a:ea typeface="Aileron"/>
                  <a:cs typeface="Arial" panose="020B0604020202020204" pitchFamily="34" charset="0"/>
                  <a:sym typeface="Aileron"/>
                </a:rPr>
                <a:t>déchets</a:t>
              </a:r>
              <a:r>
                <a:rPr lang="en-US" spc="31" dirty="0">
                  <a:solidFill>
                    <a:srgbClr val="000000"/>
                  </a:solidFill>
                  <a:latin typeface="Arial" panose="020B0604020202020204" pitchFamily="34" charset="0"/>
                  <a:ea typeface="Aileron"/>
                  <a:cs typeface="Arial" panose="020B0604020202020204" pitchFamily="34" charset="0"/>
                  <a:sym typeface="Aileron"/>
                </a:rPr>
                <a:t> mal </a:t>
              </a:r>
              <a:r>
                <a:rPr lang="en-US" spc="31" dirty="0" err="1">
                  <a:solidFill>
                    <a:srgbClr val="000000"/>
                  </a:solidFill>
                  <a:latin typeface="Arial" panose="020B0604020202020204" pitchFamily="34" charset="0"/>
                  <a:ea typeface="Aileron"/>
                  <a:cs typeface="Arial" panose="020B0604020202020204" pitchFamily="34" charset="0"/>
                  <a:sym typeface="Aileron"/>
                </a:rPr>
                <a:t>gérés</a:t>
              </a:r>
              <a:r>
                <a:rPr lang="en-US" spc="31" dirty="0">
                  <a:solidFill>
                    <a:srgbClr val="000000"/>
                  </a:solidFill>
                  <a:latin typeface="Arial" panose="020B0604020202020204" pitchFamily="34" charset="0"/>
                  <a:ea typeface="Aileron"/>
                  <a:cs typeface="Arial" panose="020B0604020202020204" pitchFamily="34" charset="0"/>
                  <a:sym typeface="Aileron"/>
                </a:rPr>
                <a:t>.</a:t>
              </a:r>
            </a:p>
            <a:p>
              <a:pPr algn="l">
                <a:lnSpc>
                  <a:spcPts val="2400"/>
                </a:lnSpc>
              </a:pPr>
              <a:endParaRPr lang="en-US" sz="1599" spc="31" dirty="0">
                <a:solidFill>
                  <a:srgbClr val="000000"/>
                </a:solidFill>
                <a:latin typeface="Arial" panose="020B0604020202020204" pitchFamily="34" charset="0"/>
                <a:ea typeface="Aileron"/>
                <a:cs typeface="Arial" panose="020B0604020202020204" pitchFamily="34" charset="0"/>
                <a:sym typeface="Aileron"/>
              </a:endParaRPr>
            </a:p>
          </p:txBody>
        </p:sp>
        <p:sp>
          <p:nvSpPr>
            <p:cNvPr id="40" name="TextBox 40"/>
            <p:cNvSpPr txBox="1"/>
            <p:nvPr/>
          </p:nvSpPr>
          <p:spPr>
            <a:xfrm>
              <a:off x="0" y="-19050"/>
              <a:ext cx="7566245" cy="1060118"/>
            </a:xfrm>
            <a:prstGeom prst="rect">
              <a:avLst/>
            </a:prstGeom>
          </p:spPr>
          <p:txBody>
            <a:bodyPr lIns="0" tIns="0" rIns="0" bIns="0" rtlCol="0" anchor="t">
              <a:spAutoFit/>
            </a:bodyPr>
            <a:lstStyle/>
            <a:p>
              <a:pPr marL="0" lvl="0" indent="0" algn="l">
                <a:lnSpc>
                  <a:spcPts val="3095"/>
                </a:lnSpc>
                <a:spcBef>
                  <a:spcPct val="0"/>
                </a:spcBef>
              </a:pPr>
              <a:r>
                <a:rPr lang="en-US" sz="2800" spc="93" dirty="0" err="1">
                  <a:solidFill>
                    <a:srgbClr val="000000"/>
                  </a:solidFill>
                  <a:latin typeface="Arial Black" panose="020B0A04020102020204" pitchFamily="34" charset="0"/>
                  <a:ea typeface="Aileron Bold"/>
                  <a:cs typeface="Arial" panose="020B0604020202020204" pitchFamily="34" charset="0"/>
                  <a:sym typeface="Aileron Bold"/>
                </a:rPr>
                <a:t>Sensibilisation</a:t>
              </a:r>
              <a:r>
                <a:rPr lang="en-US" sz="2800" spc="93" dirty="0">
                  <a:solidFill>
                    <a:srgbClr val="000000"/>
                  </a:solidFill>
                  <a:latin typeface="Arial Black" panose="020B0A04020102020204" pitchFamily="34" charset="0"/>
                  <a:ea typeface="Aileron Bold"/>
                  <a:cs typeface="Arial" panose="020B0604020202020204" pitchFamily="34" charset="0"/>
                  <a:sym typeface="Aileron Bold"/>
                </a:rPr>
                <a:t> et </a:t>
              </a:r>
              <a:r>
                <a:rPr lang="en-US" sz="2800" spc="93" dirty="0" err="1">
                  <a:solidFill>
                    <a:srgbClr val="000000"/>
                  </a:solidFill>
                  <a:latin typeface="Arial Black" panose="020B0A04020102020204" pitchFamily="34" charset="0"/>
                  <a:ea typeface="Aileron Bold"/>
                  <a:cs typeface="Arial" panose="020B0604020202020204" pitchFamily="34" charset="0"/>
                  <a:sym typeface="Aileron Bold"/>
                </a:rPr>
                <a:t>éducation</a:t>
              </a:r>
              <a:r>
                <a:rPr lang="en-US" sz="2800" spc="93" dirty="0">
                  <a:solidFill>
                    <a:srgbClr val="000000"/>
                  </a:solidFill>
                  <a:latin typeface="Arial Black" panose="020B0A04020102020204" pitchFamily="34" charset="0"/>
                  <a:ea typeface="Aileron Bold"/>
                  <a:cs typeface="Arial" panose="020B0604020202020204" pitchFamily="34" charset="0"/>
                  <a:sym typeface="Aileron Bold"/>
                </a:rPr>
                <a:t> </a:t>
              </a:r>
            </a:p>
          </p:txBody>
        </p:sp>
      </p:grpSp>
      <p:sp>
        <p:nvSpPr>
          <p:cNvPr id="41" name="TextBox 41"/>
          <p:cNvSpPr txBox="1"/>
          <p:nvPr/>
        </p:nvSpPr>
        <p:spPr>
          <a:xfrm>
            <a:off x="2722697" y="4362681"/>
            <a:ext cx="4579349" cy="382143"/>
          </a:xfrm>
          <a:prstGeom prst="rect">
            <a:avLst/>
          </a:prstGeom>
        </p:spPr>
        <p:txBody>
          <a:bodyPr lIns="0" tIns="0" rIns="0" bIns="0" rtlCol="0" anchor="t">
            <a:spAutoFit/>
          </a:bodyPr>
          <a:lstStyle/>
          <a:p>
            <a:pPr marL="0" lvl="0" indent="0" algn="ctr">
              <a:lnSpc>
                <a:spcPts val="3095"/>
              </a:lnSpc>
              <a:spcBef>
                <a:spcPct val="0"/>
              </a:spcBef>
            </a:pPr>
            <a:r>
              <a:rPr lang="en-US" sz="2399" spc="93">
                <a:solidFill>
                  <a:srgbClr val="FFFFFF"/>
                </a:solidFill>
                <a:latin typeface="Arial" panose="020B0604020202020204" pitchFamily="34" charset="0"/>
                <a:ea typeface="Aileron Bold"/>
                <a:cs typeface="Arial" panose="020B0604020202020204" pitchFamily="34" charset="0"/>
                <a:sym typeface="Aileron Bold"/>
              </a:rPr>
              <a:t>Sensibilisation</a:t>
            </a:r>
            <a:r>
              <a:rPr lang="en-US" sz="2399" spc="93" dirty="0">
                <a:solidFill>
                  <a:srgbClr val="FFFFFF"/>
                </a:solidFill>
                <a:latin typeface="Arial" panose="020B0604020202020204" pitchFamily="34" charset="0"/>
                <a:ea typeface="Aileron Bold"/>
                <a:cs typeface="Arial" panose="020B0604020202020204" pitchFamily="34" charset="0"/>
                <a:sym typeface="Aileron Bold"/>
              </a:rPr>
              <a:t> et </a:t>
            </a:r>
            <a:r>
              <a:rPr lang="en-US" sz="2399" spc="93" dirty="0" err="1">
                <a:solidFill>
                  <a:srgbClr val="FFFFFF"/>
                </a:solidFill>
                <a:latin typeface="Arial" panose="020B0604020202020204" pitchFamily="34" charset="0"/>
                <a:ea typeface="Aileron Bold"/>
                <a:cs typeface="Arial" panose="020B0604020202020204" pitchFamily="34" charset="0"/>
                <a:sym typeface="Aileron Bold"/>
              </a:rPr>
              <a:t>éducation</a:t>
            </a:r>
            <a:r>
              <a:rPr lang="en-US" sz="2399" spc="93" dirty="0">
                <a:solidFill>
                  <a:srgbClr val="FFFFFF"/>
                </a:solidFill>
                <a:latin typeface="Arial" panose="020B0604020202020204" pitchFamily="34" charset="0"/>
                <a:ea typeface="Aileron Bold"/>
                <a:cs typeface="Arial" panose="020B0604020202020204" pitchFamily="34" charset="0"/>
                <a:sym typeface="Aileron Bold"/>
              </a:rPr>
              <a:t> </a:t>
            </a:r>
          </a:p>
        </p:txBody>
      </p:sp>
      <p:sp>
        <p:nvSpPr>
          <p:cNvPr id="42" name="TextBox 42"/>
          <p:cNvSpPr txBox="1"/>
          <p:nvPr/>
        </p:nvSpPr>
        <p:spPr>
          <a:xfrm>
            <a:off x="2852454" y="483052"/>
            <a:ext cx="11823072" cy="769441"/>
          </a:xfrm>
          <a:prstGeom prst="rect">
            <a:avLst/>
          </a:prstGeom>
        </p:spPr>
        <p:txBody>
          <a:bodyPr lIns="0" tIns="0" rIns="0" bIns="0" rtlCol="0" anchor="t">
            <a:spAutoFit/>
          </a:bodyPr>
          <a:lstStyle/>
          <a:p>
            <a:pPr algn="ctr">
              <a:lnSpc>
                <a:spcPts val="6000"/>
              </a:lnSpc>
            </a:pPr>
            <a:r>
              <a:rPr lang="en-US" sz="5400" dirty="0">
                <a:solidFill>
                  <a:srgbClr val="0070C0"/>
                </a:solidFill>
                <a:latin typeface="Arial" panose="020B0604020202020204" pitchFamily="34" charset="0"/>
                <a:ea typeface="Arimo Bold"/>
                <a:cs typeface="Arial" panose="020B0604020202020204" pitchFamily="34" charset="0"/>
                <a:sym typeface="Arimo Bold"/>
              </a:rPr>
              <a:t> </a:t>
            </a:r>
            <a:r>
              <a:rPr lang="en-US" sz="5400" dirty="0">
                <a:solidFill>
                  <a:srgbClr val="0070C0"/>
                </a:solidFill>
                <a:latin typeface="Arial Black" panose="020B0A04020102020204" pitchFamily="34" charset="0"/>
                <a:ea typeface="Arimo Bold"/>
                <a:cs typeface="Arial" panose="020B0604020202020204" pitchFamily="34" charset="0"/>
                <a:sym typeface="Arimo Bold"/>
              </a:rPr>
              <a:t>PROBLÉMATIQUE</a:t>
            </a:r>
          </a:p>
        </p:txBody>
      </p:sp>
      <p:sp>
        <p:nvSpPr>
          <p:cNvPr id="45" name="TextBox 6">
            <a:extLst>
              <a:ext uri="{FF2B5EF4-FFF2-40B4-BE49-F238E27FC236}">
                <a16:creationId xmlns:a16="http://schemas.microsoft.com/office/drawing/2014/main" id="{D63D4712-CFB8-7F95-8D69-2044664E8E5A}"/>
              </a:ext>
            </a:extLst>
          </p:cNvPr>
          <p:cNvSpPr txBox="1"/>
          <p:nvPr/>
        </p:nvSpPr>
        <p:spPr>
          <a:xfrm>
            <a:off x="1704682" y="2171700"/>
            <a:ext cx="7399178" cy="3021826"/>
          </a:xfrm>
          <a:prstGeom prst="rect">
            <a:avLst/>
          </a:prstGeom>
        </p:spPr>
        <p:txBody>
          <a:bodyPr lIns="50800" tIns="50800" rIns="50800" bIns="50800" rtlCol="0" anchor="ctr"/>
          <a:lstStyle/>
          <a:p>
            <a:pPr algn="ctr">
              <a:lnSpc>
                <a:spcPts val="3499"/>
              </a:lnSpc>
            </a:pPr>
            <a:endParaRPr>
              <a:latin typeface="Arial" panose="020B0604020202020204" pitchFamily="34" charset="0"/>
              <a:cs typeface="Arial" panose="020B0604020202020204" pitchFamily="34" charset="0"/>
            </a:endParaRPr>
          </a:p>
        </p:txBody>
      </p:sp>
      <p:sp>
        <p:nvSpPr>
          <p:cNvPr id="43" name="TextBox 20">
            <a:extLst>
              <a:ext uri="{FF2B5EF4-FFF2-40B4-BE49-F238E27FC236}">
                <a16:creationId xmlns:a16="http://schemas.microsoft.com/office/drawing/2014/main" id="{83A79C26-BF02-8B4E-6802-42E45B7F872C}"/>
              </a:ext>
            </a:extLst>
          </p:cNvPr>
          <p:cNvSpPr txBox="1"/>
          <p:nvPr/>
        </p:nvSpPr>
        <p:spPr>
          <a:xfrm>
            <a:off x="17127734" y="9791700"/>
            <a:ext cx="855466" cy="245260"/>
          </a:xfrm>
          <a:prstGeom prst="rect">
            <a:avLst/>
          </a:prstGeom>
        </p:spPr>
        <p:txBody>
          <a:bodyPr wrap="square" lIns="0" tIns="0" rIns="0" bIns="0" rtlCol="0" anchor="t">
            <a:spAutoFit/>
          </a:bodyPr>
          <a:lstStyle/>
          <a:p>
            <a:pPr algn="ctr">
              <a:lnSpc>
                <a:spcPts val="1980"/>
              </a:lnSpc>
            </a:pPr>
            <a:r>
              <a:rPr lang="en-US" sz="1650" spc="15" dirty="0">
                <a:solidFill>
                  <a:srgbClr val="0070C0"/>
                </a:solidFill>
                <a:latin typeface="TT Rounds Condensed"/>
                <a:ea typeface="TT Rounds Condensed"/>
                <a:cs typeface="TT Rounds Condensed"/>
                <a:sym typeface="TT Rounds Condensed"/>
              </a:rPr>
              <a:t>08 | </a:t>
            </a:r>
            <a:r>
              <a:rPr lang="en-US" sz="1650" spc="15" dirty="0">
                <a:solidFill>
                  <a:srgbClr val="0070C0"/>
                </a:solidFill>
                <a:latin typeface="Arial Black" panose="020B0A04020102020204" pitchFamily="34" charset="0"/>
                <a:ea typeface="TT Rounds Condensed"/>
                <a:cs typeface="TT Rounds Condensed"/>
                <a:sym typeface="TT Rounds Condensed"/>
              </a:rPr>
              <a:t>33</a:t>
            </a:r>
            <a:endParaRPr lang="en-US" sz="1650" spc="15" dirty="0">
              <a:solidFill>
                <a:srgbClr val="0070C0"/>
              </a:solidFill>
              <a:latin typeface="Arial Black" panose="020B0A04020102020204" pitchFamily="34" charset="0"/>
              <a:ea typeface="TT Rounds Condensed Bold"/>
              <a:cs typeface="TT Rounds Condensed Bold"/>
              <a:sym typeface="TT Rounds Condensed Bold"/>
            </a:endParaRPr>
          </a:p>
        </p:txBody>
      </p:sp>
    </p:spTree>
    <p:extLst>
      <p:ext uri="{BB962C8B-B14F-4D97-AF65-F5344CB8AC3E}">
        <p14:creationId xmlns:p14="http://schemas.microsoft.com/office/powerpoint/2010/main" val="17533603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r>
              <a:rPr lang="en-US" sz="1800">
                <a:solidFill>
                  <a:srgbClr val="F5FFF5"/>
                </a:solidFill>
                <a:latin typeface="Arial" panose="020B0604020202020204" pitchFamily="34" charset="0"/>
                <a:ea typeface="Arimo"/>
                <a:cs typeface="Arial" panose="020B0604020202020204" pitchFamily="34" charset="0"/>
                <a:sym typeface="Arimo"/>
              </a:rPr>
              <a:t>Problématique</a:t>
            </a:r>
            <a:endParaRPr lang="fr-SN">
              <a:latin typeface="Arial" panose="020B0604020202020204" pitchFamily="34" charset="0"/>
              <a:cs typeface="Arial" panose="020B0604020202020204" pitchFamily="34" charset="0"/>
            </a:endParaRPr>
          </a:p>
        </p:txBody>
      </p:sp>
      <p:grpSp>
        <p:nvGrpSpPr>
          <p:cNvPr id="3" name="Group 3"/>
          <p:cNvGrpSpPr/>
          <p:nvPr/>
        </p:nvGrpSpPr>
        <p:grpSpPr>
          <a:xfrm>
            <a:off x="7579819" y="3854124"/>
            <a:ext cx="3530782" cy="3532270"/>
            <a:chOff x="0" y="0"/>
            <a:chExt cx="6832800" cy="6835680"/>
          </a:xfrm>
        </p:grpSpPr>
        <p:sp>
          <p:nvSpPr>
            <p:cNvPr id="4" name="Freeform 4"/>
            <p:cNvSpPr/>
            <p:nvPr/>
          </p:nvSpPr>
          <p:spPr>
            <a:xfrm>
              <a:off x="0" y="508"/>
              <a:ext cx="6832726" cy="6835140"/>
            </a:xfrm>
            <a:custGeom>
              <a:avLst/>
              <a:gdLst/>
              <a:ahLst/>
              <a:cxnLst/>
              <a:rect l="l" t="t" r="r" b="b"/>
              <a:pathLst>
                <a:path w="6832726" h="6835140">
                  <a:moveTo>
                    <a:pt x="3408807" y="6835140"/>
                  </a:moveTo>
                  <a:cubicBezTo>
                    <a:pt x="3385947" y="6835140"/>
                    <a:pt x="3370707" y="6812280"/>
                    <a:pt x="3370707" y="6797040"/>
                  </a:cubicBezTo>
                  <a:cubicBezTo>
                    <a:pt x="3370707" y="6774180"/>
                    <a:pt x="3385947" y="6758940"/>
                    <a:pt x="3408807" y="6758940"/>
                  </a:cubicBezTo>
                  <a:cubicBezTo>
                    <a:pt x="3424047" y="6758940"/>
                    <a:pt x="3446907" y="6774180"/>
                    <a:pt x="3446907" y="6797040"/>
                  </a:cubicBezTo>
                  <a:cubicBezTo>
                    <a:pt x="3446907" y="6812280"/>
                    <a:pt x="3424047" y="6835140"/>
                    <a:pt x="3408807" y="6835140"/>
                  </a:cubicBezTo>
                  <a:close/>
                  <a:moveTo>
                    <a:pt x="3584194" y="6789420"/>
                  </a:moveTo>
                  <a:cubicBezTo>
                    <a:pt x="3584194" y="6766560"/>
                    <a:pt x="3599434" y="6751320"/>
                    <a:pt x="3614674" y="6751320"/>
                  </a:cubicBezTo>
                  <a:cubicBezTo>
                    <a:pt x="3637534" y="6751320"/>
                    <a:pt x="3660394" y="6766560"/>
                    <a:pt x="3660394" y="6789420"/>
                  </a:cubicBezTo>
                  <a:cubicBezTo>
                    <a:pt x="3660394" y="6804660"/>
                    <a:pt x="3645154" y="6827520"/>
                    <a:pt x="3622294" y="6827520"/>
                  </a:cubicBezTo>
                  <a:cubicBezTo>
                    <a:pt x="3599434" y="6827520"/>
                    <a:pt x="3584194" y="6812280"/>
                    <a:pt x="3584194" y="6789420"/>
                  </a:cubicBezTo>
                  <a:close/>
                  <a:moveTo>
                    <a:pt x="3187700" y="6827520"/>
                  </a:moveTo>
                  <a:cubicBezTo>
                    <a:pt x="3172460" y="6827520"/>
                    <a:pt x="3149600" y="6804660"/>
                    <a:pt x="3157220" y="6781800"/>
                  </a:cubicBezTo>
                  <a:cubicBezTo>
                    <a:pt x="3157220" y="6766560"/>
                    <a:pt x="3172460" y="6751320"/>
                    <a:pt x="3195320" y="6751320"/>
                  </a:cubicBezTo>
                  <a:cubicBezTo>
                    <a:pt x="3218180" y="6751320"/>
                    <a:pt x="3233420" y="6766560"/>
                    <a:pt x="3233420" y="6789420"/>
                  </a:cubicBezTo>
                  <a:cubicBezTo>
                    <a:pt x="3225800" y="6812280"/>
                    <a:pt x="3210560" y="6827520"/>
                    <a:pt x="3195320" y="6827520"/>
                  </a:cubicBezTo>
                  <a:cubicBezTo>
                    <a:pt x="3195320" y="6827520"/>
                    <a:pt x="3187700" y="6827520"/>
                    <a:pt x="3187700" y="6827520"/>
                  </a:cubicBezTo>
                  <a:close/>
                  <a:moveTo>
                    <a:pt x="3797808" y="6774053"/>
                  </a:moveTo>
                  <a:cubicBezTo>
                    <a:pt x="3790188" y="6751193"/>
                    <a:pt x="3805428" y="6735953"/>
                    <a:pt x="3828288" y="6728333"/>
                  </a:cubicBezTo>
                  <a:cubicBezTo>
                    <a:pt x="3851148" y="6728333"/>
                    <a:pt x="3866388" y="6743573"/>
                    <a:pt x="3874008" y="6766433"/>
                  </a:cubicBezTo>
                  <a:cubicBezTo>
                    <a:pt x="3874008" y="6781673"/>
                    <a:pt x="3858768" y="6804533"/>
                    <a:pt x="3835908" y="6804533"/>
                  </a:cubicBezTo>
                  <a:cubicBezTo>
                    <a:pt x="3813048" y="6804533"/>
                    <a:pt x="3797808" y="6789293"/>
                    <a:pt x="3797808" y="6774053"/>
                  </a:cubicBezTo>
                  <a:close/>
                  <a:moveTo>
                    <a:pt x="2974213" y="6804533"/>
                  </a:moveTo>
                  <a:cubicBezTo>
                    <a:pt x="2951353" y="6804533"/>
                    <a:pt x="2936113" y="6781673"/>
                    <a:pt x="2943733" y="6758813"/>
                  </a:cubicBezTo>
                  <a:cubicBezTo>
                    <a:pt x="2943733" y="6743573"/>
                    <a:pt x="2966593" y="6728333"/>
                    <a:pt x="2981833" y="6728333"/>
                  </a:cubicBezTo>
                  <a:cubicBezTo>
                    <a:pt x="3004693" y="6728333"/>
                    <a:pt x="3019933" y="6751193"/>
                    <a:pt x="3019933" y="6774053"/>
                  </a:cubicBezTo>
                  <a:cubicBezTo>
                    <a:pt x="3012313" y="6789293"/>
                    <a:pt x="2997073" y="6804533"/>
                    <a:pt x="2981833" y="6804533"/>
                  </a:cubicBezTo>
                  <a:cubicBezTo>
                    <a:pt x="2974213" y="6804533"/>
                    <a:pt x="2974213" y="6804533"/>
                    <a:pt x="2974213" y="6804533"/>
                  </a:cubicBezTo>
                  <a:close/>
                  <a:moveTo>
                    <a:pt x="4011295" y="6743446"/>
                  </a:moveTo>
                  <a:cubicBezTo>
                    <a:pt x="4003675" y="6720586"/>
                    <a:pt x="4018915" y="6705346"/>
                    <a:pt x="4041775" y="6697726"/>
                  </a:cubicBezTo>
                  <a:cubicBezTo>
                    <a:pt x="4057015" y="6697726"/>
                    <a:pt x="4079875" y="6705346"/>
                    <a:pt x="4079875" y="6728206"/>
                  </a:cubicBezTo>
                  <a:cubicBezTo>
                    <a:pt x="4087495" y="6751066"/>
                    <a:pt x="4072255" y="6766306"/>
                    <a:pt x="4049395" y="6773926"/>
                  </a:cubicBezTo>
                  <a:cubicBezTo>
                    <a:pt x="4049395" y="6773926"/>
                    <a:pt x="4049395" y="6773926"/>
                    <a:pt x="4041775" y="6773926"/>
                  </a:cubicBezTo>
                  <a:cubicBezTo>
                    <a:pt x="4026535" y="6773926"/>
                    <a:pt x="4011295" y="6758686"/>
                    <a:pt x="4011295" y="6743446"/>
                  </a:cubicBezTo>
                  <a:close/>
                  <a:moveTo>
                    <a:pt x="2760599" y="6766306"/>
                  </a:moveTo>
                  <a:cubicBezTo>
                    <a:pt x="2737739" y="6766306"/>
                    <a:pt x="2730119" y="6743446"/>
                    <a:pt x="2730119" y="6728206"/>
                  </a:cubicBezTo>
                  <a:cubicBezTo>
                    <a:pt x="2737739" y="6705346"/>
                    <a:pt x="2752979" y="6690106"/>
                    <a:pt x="2775839" y="6697726"/>
                  </a:cubicBezTo>
                  <a:cubicBezTo>
                    <a:pt x="2798699" y="6697726"/>
                    <a:pt x="2806319" y="6720586"/>
                    <a:pt x="2806319" y="6735826"/>
                  </a:cubicBezTo>
                  <a:cubicBezTo>
                    <a:pt x="2798699" y="6758686"/>
                    <a:pt x="2783459" y="6773926"/>
                    <a:pt x="2768219" y="6773926"/>
                  </a:cubicBezTo>
                  <a:cubicBezTo>
                    <a:pt x="2768219" y="6773926"/>
                    <a:pt x="2760599" y="6773926"/>
                    <a:pt x="2760599" y="6766306"/>
                  </a:cubicBezTo>
                  <a:close/>
                  <a:moveTo>
                    <a:pt x="4217162" y="6697599"/>
                  </a:moveTo>
                  <a:cubicBezTo>
                    <a:pt x="4209542" y="6682359"/>
                    <a:pt x="4224782" y="6659499"/>
                    <a:pt x="4247642" y="6651879"/>
                  </a:cubicBezTo>
                  <a:cubicBezTo>
                    <a:pt x="4262882" y="6644259"/>
                    <a:pt x="4285742" y="6659499"/>
                    <a:pt x="4293362" y="6682359"/>
                  </a:cubicBezTo>
                  <a:cubicBezTo>
                    <a:pt x="4293362" y="6697599"/>
                    <a:pt x="4285742" y="6720459"/>
                    <a:pt x="4262882" y="6728079"/>
                  </a:cubicBezTo>
                  <a:cubicBezTo>
                    <a:pt x="4262882" y="6728079"/>
                    <a:pt x="4255262" y="6728079"/>
                    <a:pt x="4255262" y="6728079"/>
                  </a:cubicBezTo>
                  <a:cubicBezTo>
                    <a:pt x="4240022" y="6728079"/>
                    <a:pt x="4224782" y="6712839"/>
                    <a:pt x="4217162" y="6697599"/>
                  </a:cubicBezTo>
                  <a:close/>
                  <a:moveTo>
                    <a:pt x="2547112" y="6720459"/>
                  </a:moveTo>
                  <a:cubicBezTo>
                    <a:pt x="2531872" y="6712839"/>
                    <a:pt x="2516632" y="6697599"/>
                    <a:pt x="2524252" y="6674739"/>
                  </a:cubicBezTo>
                  <a:cubicBezTo>
                    <a:pt x="2524252" y="6651879"/>
                    <a:pt x="2547112" y="6644259"/>
                    <a:pt x="2569972" y="6644259"/>
                  </a:cubicBezTo>
                  <a:cubicBezTo>
                    <a:pt x="2585212" y="6651879"/>
                    <a:pt x="2600452" y="6674739"/>
                    <a:pt x="2592832" y="6697726"/>
                  </a:cubicBezTo>
                  <a:cubicBezTo>
                    <a:pt x="2592832" y="6712966"/>
                    <a:pt x="2577592" y="6720586"/>
                    <a:pt x="2562352" y="6720586"/>
                  </a:cubicBezTo>
                  <a:cubicBezTo>
                    <a:pt x="2554732" y="6720586"/>
                    <a:pt x="2554732" y="6720586"/>
                    <a:pt x="2547112" y="6720586"/>
                  </a:cubicBezTo>
                  <a:close/>
                  <a:moveTo>
                    <a:pt x="4423029" y="6644259"/>
                  </a:moveTo>
                  <a:cubicBezTo>
                    <a:pt x="4415409" y="6621399"/>
                    <a:pt x="4430649" y="6598539"/>
                    <a:pt x="4445889" y="6590792"/>
                  </a:cubicBezTo>
                  <a:cubicBezTo>
                    <a:pt x="4468749" y="6590792"/>
                    <a:pt x="4491609" y="6598412"/>
                    <a:pt x="4499229" y="6621272"/>
                  </a:cubicBezTo>
                  <a:cubicBezTo>
                    <a:pt x="4499229" y="6636512"/>
                    <a:pt x="4491609" y="6659372"/>
                    <a:pt x="4468749" y="6666992"/>
                  </a:cubicBezTo>
                  <a:cubicBezTo>
                    <a:pt x="4468749" y="6666992"/>
                    <a:pt x="4461129" y="6666992"/>
                    <a:pt x="4461129" y="6666992"/>
                  </a:cubicBezTo>
                  <a:cubicBezTo>
                    <a:pt x="4445889" y="6666992"/>
                    <a:pt x="4430649" y="6659372"/>
                    <a:pt x="4423029" y="6644132"/>
                  </a:cubicBezTo>
                  <a:close/>
                  <a:moveTo>
                    <a:pt x="2341118" y="6659372"/>
                  </a:moveTo>
                  <a:cubicBezTo>
                    <a:pt x="2318258" y="6651752"/>
                    <a:pt x="2310638" y="6628892"/>
                    <a:pt x="2318258" y="6613652"/>
                  </a:cubicBezTo>
                  <a:cubicBezTo>
                    <a:pt x="2325878" y="6590792"/>
                    <a:pt x="2348738" y="6583172"/>
                    <a:pt x="2363978" y="6590792"/>
                  </a:cubicBezTo>
                  <a:cubicBezTo>
                    <a:pt x="2386838" y="6590792"/>
                    <a:pt x="2394458" y="6613652"/>
                    <a:pt x="2386838" y="6636512"/>
                  </a:cubicBezTo>
                  <a:cubicBezTo>
                    <a:pt x="2386838" y="6651752"/>
                    <a:pt x="2371598" y="6659372"/>
                    <a:pt x="2356358" y="6659372"/>
                  </a:cubicBezTo>
                  <a:cubicBezTo>
                    <a:pt x="2348738" y="6659372"/>
                    <a:pt x="2348738" y="6659372"/>
                    <a:pt x="2341118" y="6659372"/>
                  </a:cubicBezTo>
                  <a:close/>
                  <a:moveTo>
                    <a:pt x="4628896" y="6567805"/>
                  </a:moveTo>
                  <a:cubicBezTo>
                    <a:pt x="4621276" y="6552565"/>
                    <a:pt x="4628896" y="6529705"/>
                    <a:pt x="4644136" y="6522085"/>
                  </a:cubicBezTo>
                  <a:cubicBezTo>
                    <a:pt x="4666996" y="6514465"/>
                    <a:pt x="4689856" y="6522085"/>
                    <a:pt x="4697476" y="6544945"/>
                  </a:cubicBezTo>
                  <a:cubicBezTo>
                    <a:pt x="4705096" y="6560185"/>
                    <a:pt x="4697476" y="6583045"/>
                    <a:pt x="4674616" y="6590665"/>
                  </a:cubicBezTo>
                  <a:cubicBezTo>
                    <a:pt x="4674616" y="6590665"/>
                    <a:pt x="4666996" y="6598285"/>
                    <a:pt x="4659376" y="6598285"/>
                  </a:cubicBezTo>
                  <a:cubicBezTo>
                    <a:pt x="4644136" y="6598285"/>
                    <a:pt x="4628896" y="6583045"/>
                    <a:pt x="4628896" y="6567805"/>
                  </a:cubicBezTo>
                  <a:close/>
                  <a:moveTo>
                    <a:pt x="2135251" y="6583045"/>
                  </a:moveTo>
                  <a:cubicBezTo>
                    <a:pt x="2120011" y="6575425"/>
                    <a:pt x="2112391" y="6552565"/>
                    <a:pt x="2120011" y="6537325"/>
                  </a:cubicBezTo>
                  <a:cubicBezTo>
                    <a:pt x="2127631" y="6514465"/>
                    <a:pt x="2150491" y="6506845"/>
                    <a:pt x="2165731" y="6514465"/>
                  </a:cubicBezTo>
                  <a:cubicBezTo>
                    <a:pt x="2188591" y="6522085"/>
                    <a:pt x="2196211" y="6544945"/>
                    <a:pt x="2188591" y="6560185"/>
                  </a:cubicBezTo>
                  <a:cubicBezTo>
                    <a:pt x="2180971" y="6575425"/>
                    <a:pt x="2165731" y="6590665"/>
                    <a:pt x="2150491" y="6590665"/>
                  </a:cubicBezTo>
                  <a:cubicBezTo>
                    <a:pt x="2150491" y="6590665"/>
                    <a:pt x="2142871" y="6590665"/>
                    <a:pt x="2135251" y="6583045"/>
                  </a:cubicBezTo>
                  <a:close/>
                  <a:moveTo>
                    <a:pt x="4827143" y="6491478"/>
                  </a:moveTo>
                  <a:cubicBezTo>
                    <a:pt x="4811903" y="6468618"/>
                    <a:pt x="4819523" y="6445758"/>
                    <a:pt x="4842383" y="6438011"/>
                  </a:cubicBezTo>
                  <a:cubicBezTo>
                    <a:pt x="4857623" y="6430391"/>
                    <a:pt x="4880483" y="6438011"/>
                    <a:pt x="4895723" y="6453251"/>
                  </a:cubicBezTo>
                  <a:cubicBezTo>
                    <a:pt x="4903343" y="6476111"/>
                    <a:pt x="4895723" y="6498971"/>
                    <a:pt x="4872863" y="6506718"/>
                  </a:cubicBezTo>
                  <a:cubicBezTo>
                    <a:pt x="4872863" y="6506718"/>
                    <a:pt x="4865243" y="6506718"/>
                    <a:pt x="4857623" y="6506718"/>
                  </a:cubicBezTo>
                  <a:cubicBezTo>
                    <a:pt x="4842383" y="6506718"/>
                    <a:pt x="4827143" y="6499098"/>
                    <a:pt x="4827143" y="6491478"/>
                  </a:cubicBezTo>
                  <a:close/>
                  <a:moveTo>
                    <a:pt x="1936877" y="6499098"/>
                  </a:moveTo>
                  <a:cubicBezTo>
                    <a:pt x="1921637" y="6491478"/>
                    <a:pt x="1914017" y="6468618"/>
                    <a:pt x="1921637" y="6445631"/>
                  </a:cubicBezTo>
                  <a:cubicBezTo>
                    <a:pt x="1929257" y="6430391"/>
                    <a:pt x="1952117" y="6422771"/>
                    <a:pt x="1974977" y="6430391"/>
                  </a:cubicBezTo>
                  <a:cubicBezTo>
                    <a:pt x="1990217" y="6438011"/>
                    <a:pt x="1997837" y="6460871"/>
                    <a:pt x="1990217" y="6476111"/>
                  </a:cubicBezTo>
                  <a:cubicBezTo>
                    <a:pt x="1982597" y="6491351"/>
                    <a:pt x="1967357" y="6498971"/>
                    <a:pt x="1959737" y="6498971"/>
                  </a:cubicBezTo>
                  <a:cubicBezTo>
                    <a:pt x="1952117" y="6498971"/>
                    <a:pt x="1944497" y="6498971"/>
                    <a:pt x="1936877" y="6498971"/>
                  </a:cubicBezTo>
                  <a:close/>
                  <a:moveTo>
                    <a:pt x="5017770" y="6392164"/>
                  </a:moveTo>
                  <a:cubicBezTo>
                    <a:pt x="5002530" y="6376924"/>
                    <a:pt x="5010150" y="6354064"/>
                    <a:pt x="5033010" y="6338697"/>
                  </a:cubicBezTo>
                  <a:cubicBezTo>
                    <a:pt x="5048250" y="6331077"/>
                    <a:pt x="5071110" y="6338697"/>
                    <a:pt x="5078730" y="6353937"/>
                  </a:cubicBezTo>
                  <a:cubicBezTo>
                    <a:pt x="5093970" y="6376797"/>
                    <a:pt x="5086350" y="6399657"/>
                    <a:pt x="5063490" y="6407404"/>
                  </a:cubicBezTo>
                  <a:cubicBezTo>
                    <a:pt x="5063490" y="6407404"/>
                    <a:pt x="5055870" y="6415024"/>
                    <a:pt x="5048250" y="6415024"/>
                  </a:cubicBezTo>
                  <a:cubicBezTo>
                    <a:pt x="5033010" y="6415024"/>
                    <a:pt x="5025390" y="6407404"/>
                    <a:pt x="5017770" y="6392164"/>
                  </a:cubicBezTo>
                  <a:close/>
                  <a:moveTo>
                    <a:pt x="1746250" y="6399784"/>
                  </a:moveTo>
                  <a:cubicBezTo>
                    <a:pt x="1731010" y="6384544"/>
                    <a:pt x="1723390" y="6361684"/>
                    <a:pt x="1731010" y="6346317"/>
                  </a:cubicBezTo>
                  <a:cubicBezTo>
                    <a:pt x="1746250" y="6323457"/>
                    <a:pt x="1769110" y="6323457"/>
                    <a:pt x="1784350" y="6331077"/>
                  </a:cubicBezTo>
                  <a:cubicBezTo>
                    <a:pt x="1807210" y="6338697"/>
                    <a:pt x="1807210" y="6361557"/>
                    <a:pt x="1799590" y="6384544"/>
                  </a:cubicBezTo>
                  <a:cubicBezTo>
                    <a:pt x="1791970" y="6392164"/>
                    <a:pt x="1776730" y="6399784"/>
                    <a:pt x="1769110" y="6399784"/>
                  </a:cubicBezTo>
                  <a:cubicBezTo>
                    <a:pt x="1761490" y="6399784"/>
                    <a:pt x="1753870" y="6399784"/>
                    <a:pt x="1746250" y="6399784"/>
                  </a:cubicBezTo>
                  <a:close/>
                  <a:moveTo>
                    <a:pt x="5200777" y="6285357"/>
                  </a:moveTo>
                  <a:cubicBezTo>
                    <a:pt x="5185537" y="6270117"/>
                    <a:pt x="5193157" y="6247257"/>
                    <a:pt x="5208397" y="6231890"/>
                  </a:cubicBezTo>
                  <a:cubicBezTo>
                    <a:pt x="5231257" y="6224270"/>
                    <a:pt x="5254117" y="6224270"/>
                    <a:pt x="5261737" y="6247130"/>
                  </a:cubicBezTo>
                  <a:cubicBezTo>
                    <a:pt x="5276977" y="6262370"/>
                    <a:pt x="5269357" y="6285230"/>
                    <a:pt x="5254117" y="6292850"/>
                  </a:cubicBezTo>
                  <a:cubicBezTo>
                    <a:pt x="5246497" y="6300470"/>
                    <a:pt x="5238877" y="6300470"/>
                    <a:pt x="5231257" y="6300470"/>
                  </a:cubicBezTo>
                  <a:cubicBezTo>
                    <a:pt x="5223637" y="6300470"/>
                    <a:pt x="5208397" y="6292850"/>
                    <a:pt x="5200777" y="6285230"/>
                  </a:cubicBezTo>
                  <a:close/>
                  <a:moveTo>
                    <a:pt x="1563243" y="6285230"/>
                  </a:moveTo>
                  <a:cubicBezTo>
                    <a:pt x="1548003" y="6269990"/>
                    <a:pt x="1540383" y="6247130"/>
                    <a:pt x="1548003" y="6231763"/>
                  </a:cubicBezTo>
                  <a:cubicBezTo>
                    <a:pt x="1563243" y="6216523"/>
                    <a:pt x="1586103" y="6208903"/>
                    <a:pt x="1601343" y="6224143"/>
                  </a:cubicBezTo>
                  <a:cubicBezTo>
                    <a:pt x="1624203" y="6231763"/>
                    <a:pt x="1624203" y="6254623"/>
                    <a:pt x="1616583" y="6277610"/>
                  </a:cubicBezTo>
                  <a:cubicBezTo>
                    <a:pt x="1608963" y="6285230"/>
                    <a:pt x="1593723" y="6292850"/>
                    <a:pt x="1586103" y="6292850"/>
                  </a:cubicBezTo>
                  <a:cubicBezTo>
                    <a:pt x="1578483" y="6292850"/>
                    <a:pt x="1570863" y="6292850"/>
                    <a:pt x="1563243" y="6285230"/>
                  </a:cubicBezTo>
                  <a:close/>
                  <a:moveTo>
                    <a:pt x="5376164" y="6163183"/>
                  </a:moveTo>
                  <a:cubicBezTo>
                    <a:pt x="5368544" y="6147943"/>
                    <a:pt x="5368544" y="6125083"/>
                    <a:pt x="5383784" y="6109716"/>
                  </a:cubicBezTo>
                  <a:cubicBezTo>
                    <a:pt x="5406644" y="6102096"/>
                    <a:pt x="5429504" y="6102096"/>
                    <a:pt x="5437124" y="6117336"/>
                  </a:cubicBezTo>
                  <a:cubicBezTo>
                    <a:pt x="5452364" y="6140196"/>
                    <a:pt x="5452364" y="6163056"/>
                    <a:pt x="5429504" y="6170803"/>
                  </a:cubicBezTo>
                  <a:cubicBezTo>
                    <a:pt x="5421884" y="6178423"/>
                    <a:pt x="5414264" y="6178423"/>
                    <a:pt x="5406644" y="6178423"/>
                  </a:cubicBezTo>
                  <a:cubicBezTo>
                    <a:pt x="5399024" y="6178423"/>
                    <a:pt x="5383784" y="6178423"/>
                    <a:pt x="5376164" y="6163183"/>
                  </a:cubicBezTo>
                  <a:close/>
                  <a:moveTo>
                    <a:pt x="1387856" y="6163183"/>
                  </a:moveTo>
                  <a:cubicBezTo>
                    <a:pt x="1364996" y="6147943"/>
                    <a:pt x="1364996" y="6125083"/>
                    <a:pt x="1380236" y="6109716"/>
                  </a:cubicBezTo>
                  <a:cubicBezTo>
                    <a:pt x="1387856" y="6094476"/>
                    <a:pt x="1410716" y="6086856"/>
                    <a:pt x="1425956" y="6102096"/>
                  </a:cubicBezTo>
                  <a:cubicBezTo>
                    <a:pt x="1448816" y="6109716"/>
                    <a:pt x="1448816" y="6140196"/>
                    <a:pt x="1441196" y="6155563"/>
                  </a:cubicBezTo>
                  <a:cubicBezTo>
                    <a:pt x="1433576" y="6163183"/>
                    <a:pt x="1418336" y="6170803"/>
                    <a:pt x="1410716" y="6170803"/>
                  </a:cubicBezTo>
                  <a:cubicBezTo>
                    <a:pt x="1395476" y="6170803"/>
                    <a:pt x="1387856" y="6163183"/>
                    <a:pt x="1387856" y="6163183"/>
                  </a:cubicBezTo>
                  <a:close/>
                  <a:moveTo>
                    <a:pt x="5551551" y="6033516"/>
                  </a:moveTo>
                  <a:cubicBezTo>
                    <a:pt x="5536311" y="6018276"/>
                    <a:pt x="5536311" y="5995416"/>
                    <a:pt x="5551551" y="5980049"/>
                  </a:cubicBezTo>
                  <a:cubicBezTo>
                    <a:pt x="5566791" y="5964809"/>
                    <a:pt x="5597271" y="5972429"/>
                    <a:pt x="5604891" y="5987669"/>
                  </a:cubicBezTo>
                  <a:cubicBezTo>
                    <a:pt x="5620131" y="6002909"/>
                    <a:pt x="5620131" y="6025769"/>
                    <a:pt x="5604891" y="6041136"/>
                  </a:cubicBezTo>
                  <a:cubicBezTo>
                    <a:pt x="5597271" y="6048756"/>
                    <a:pt x="5589651" y="6048756"/>
                    <a:pt x="5574411" y="6048756"/>
                  </a:cubicBezTo>
                  <a:cubicBezTo>
                    <a:pt x="5566791" y="6048756"/>
                    <a:pt x="5559171" y="6041136"/>
                    <a:pt x="5551551" y="6033516"/>
                  </a:cubicBezTo>
                  <a:close/>
                  <a:moveTo>
                    <a:pt x="1212469" y="6025896"/>
                  </a:moveTo>
                  <a:cubicBezTo>
                    <a:pt x="1197229" y="6010656"/>
                    <a:pt x="1197229" y="5987796"/>
                    <a:pt x="1212469" y="5972429"/>
                  </a:cubicBezTo>
                  <a:cubicBezTo>
                    <a:pt x="1220089" y="5957189"/>
                    <a:pt x="1250569" y="5957189"/>
                    <a:pt x="1265809" y="5972429"/>
                  </a:cubicBezTo>
                  <a:cubicBezTo>
                    <a:pt x="1281049" y="5980049"/>
                    <a:pt x="1281049" y="6002909"/>
                    <a:pt x="1265809" y="6025896"/>
                  </a:cubicBezTo>
                  <a:cubicBezTo>
                    <a:pt x="1258189" y="6033516"/>
                    <a:pt x="1250569" y="6033516"/>
                    <a:pt x="1235329" y="6033516"/>
                  </a:cubicBezTo>
                  <a:cubicBezTo>
                    <a:pt x="1227709" y="6033516"/>
                    <a:pt x="1220089" y="6033516"/>
                    <a:pt x="1212469" y="6025896"/>
                  </a:cubicBezTo>
                  <a:close/>
                  <a:moveTo>
                    <a:pt x="5711698" y="5896229"/>
                  </a:moveTo>
                  <a:cubicBezTo>
                    <a:pt x="5696458" y="5880989"/>
                    <a:pt x="5696458" y="5858129"/>
                    <a:pt x="5711698" y="5842762"/>
                  </a:cubicBezTo>
                  <a:cubicBezTo>
                    <a:pt x="5726938" y="5827522"/>
                    <a:pt x="5749798" y="5827522"/>
                    <a:pt x="5765038" y="5842762"/>
                  </a:cubicBezTo>
                  <a:cubicBezTo>
                    <a:pt x="5780278" y="5858002"/>
                    <a:pt x="5780278" y="5880862"/>
                    <a:pt x="5765038" y="5896229"/>
                  </a:cubicBezTo>
                  <a:cubicBezTo>
                    <a:pt x="5757418" y="5903849"/>
                    <a:pt x="5749798" y="5903849"/>
                    <a:pt x="5734558" y="5903849"/>
                  </a:cubicBezTo>
                  <a:cubicBezTo>
                    <a:pt x="5726938" y="5903849"/>
                    <a:pt x="5719318" y="5903849"/>
                    <a:pt x="5711698" y="5896229"/>
                  </a:cubicBezTo>
                  <a:close/>
                  <a:moveTo>
                    <a:pt x="1052322" y="5880989"/>
                  </a:moveTo>
                  <a:cubicBezTo>
                    <a:pt x="1037082" y="5865749"/>
                    <a:pt x="1037082" y="5842889"/>
                    <a:pt x="1052322" y="5827522"/>
                  </a:cubicBezTo>
                  <a:cubicBezTo>
                    <a:pt x="1067562" y="5812282"/>
                    <a:pt x="1090422" y="5812282"/>
                    <a:pt x="1105662" y="5827522"/>
                  </a:cubicBezTo>
                  <a:cubicBezTo>
                    <a:pt x="1120902" y="5842762"/>
                    <a:pt x="1120902" y="5865622"/>
                    <a:pt x="1105662" y="5880989"/>
                  </a:cubicBezTo>
                  <a:cubicBezTo>
                    <a:pt x="1098042" y="5888609"/>
                    <a:pt x="1090422" y="5896229"/>
                    <a:pt x="1082802" y="5896229"/>
                  </a:cubicBezTo>
                  <a:cubicBezTo>
                    <a:pt x="1067562" y="5896229"/>
                    <a:pt x="1059942" y="5888609"/>
                    <a:pt x="1052322" y="5880989"/>
                  </a:cubicBezTo>
                  <a:close/>
                  <a:moveTo>
                    <a:pt x="5864225" y="5743702"/>
                  </a:moveTo>
                  <a:cubicBezTo>
                    <a:pt x="5848985" y="5728462"/>
                    <a:pt x="5848985" y="5705602"/>
                    <a:pt x="5864225" y="5690235"/>
                  </a:cubicBezTo>
                  <a:cubicBezTo>
                    <a:pt x="5871845" y="5674995"/>
                    <a:pt x="5902325" y="5674995"/>
                    <a:pt x="5917565" y="5690235"/>
                  </a:cubicBezTo>
                  <a:cubicBezTo>
                    <a:pt x="5932805" y="5705475"/>
                    <a:pt x="5932805" y="5728335"/>
                    <a:pt x="5917565" y="5743702"/>
                  </a:cubicBezTo>
                  <a:cubicBezTo>
                    <a:pt x="5909945" y="5751322"/>
                    <a:pt x="5902325" y="5751322"/>
                    <a:pt x="5887085" y="5751322"/>
                  </a:cubicBezTo>
                  <a:cubicBezTo>
                    <a:pt x="5879465" y="5751322"/>
                    <a:pt x="5871845" y="5751322"/>
                    <a:pt x="5864225" y="5743702"/>
                  </a:cubicBezTo>
                  <a:close/>
                  <a:moveTo>
                    <a:pt x="899795" y="5728462"/>
                  </a:moveTo>
                  <a:cubicBezTo>
                    <a:pt x="884555" y="5713222"/>
                    <a:pt x="892175" y="5690362"/>
                    <a:pt x="907415" y="5674995"/>
                  </a:cubicBezTo>
                  <a:cubicBezTo>
                    <a:pt x="922655" y="5659755"/>
                    <a:pt x="945515" y="5659755"/>
                    <a:pt x="960755" y="5674995"/>
                  </a:cubicBezTo>
                  <a:cubicBezTo>
                    <a:pt x="975995" y="5690235"/>
                    <a:pt x="968375" y="5713095"/>
                    <a:pt x="953135" y="5728462"/>
                  </a:cubicBezTo>
                  <a:cubicBezTo>
                    <a:pt x="945515" y="5736082"/>
                    <a:pt x="937895" y="5736082"/>
                    <a:pt x="930275" y="5736082"/>
                  </a:cubicBezTo>
                  <a:cubicBezTo>
                    <a:pt x="922655" y="5736082"/>
                    <a:pt x="907415" y="5736082"/>
                    <a:pt x="899795" y="5728462"/>
                  </a:cubicBezTo>
                  <a:close/>
                  <a:moveTo>
                    <a:pt x="6009132" y="5583555"/>
                  </a:moveTo>
                  <a:cubicBezTo>
                    <a:pt x="5986272" y="5568315"/>
                    <a:pt x="5986272" y="5545455"/>
                    <a:pt x="6001512" y="5530088"/>
                  </a:cubicBezTo>
                  <a:cubicBezTo>
                    <a:pt x="6016752" y="5514848"/>
                    <a:pt x="6039612" y="5514848"/>
                    <a:pt x="6054852" y="5522468"/>
                  </a:cubicBezTo>
                  <a:cubicBezTo>
                    <a:pt x="6070092" y="5537708"/>
                    <a:pt x="6070092" y="5560568"/>
                    <a:pt x="6062472" y="5575935"/>
                  </a:cubicBezTo>
                  <a:cubicBezTo>
                    <a:pt x="6054852" y="5591175"/>
                    <a:pt x="6039612" y="5591175"/>
                    <a:pt x="6031992" y="5591175"/>
                  </a:cubicBezTo>
                  <a:cubicBezTo>
                    <a:pt x="6024372" y="5591175"/>
                    <a:pt x="6009132" y="5591175"/>
                    <a:pt x="6009132" y="5583555"/>
                  </a:cubicBezTo>
                  <a:close/>
                  <a:moveTo>
                    <a:pt x="762508" y="5560695"/>
                  </a:moveTo>
                  <a:cubicBezTo>
                    <a:pt x="747268" y="5545455"/>
                    <a:pt x="747268" y="5522595"/>
                    <a:pt x="762508" y="5507228"/>
                  </a:cubicBezTo>
                  <a:cubicBezTo>
                    <a:pt x="785368" y="5499608"/>
                    <a:pt x="808228" y="5499608"/>
                    <a:pt x="823468" y="5514848"/>
                  </a:cubicBezTo>
                  <a:cubicBezTo>
                    <a:pt x="831088" y="5530088"/>
                    <a:pt x="831088" y="5552948"/>
                    <a:pt x="815848" y="5568315"/>
                  </a:cubicBezTo>
                  <a:cubicBezTo>
                    <a:pt x="808228" y="5575935"/>
                    <a:pt x="800608" y="5575935"/>
                    <a:pt x="792988" y="5575935"/>
                  </a:cubicBezTo>
                  <a:cubicBezTo>
                    <a:pt x="777748" y="5575935"/>
                    <a:pt x="770128" y="5575935"/>
                    <a:pt x="762508" y="5560695"/>
                  </a:cubicBezTo>
                  <a:close/>
                  <a:moveTo>
                    <a:pt x="6138799" y="5415788"/>
                  </a:moveTo>
                  <a:cubicBezTo>
                    <a:pt x="6123559" y="5400548"/>
                    <a:pt x="6115939" y="5377688"/>
                    <a:pt x="6131179" y="5362321"/>
                  </a:cubicBezTo>
                  <a:cubicBezTo>
                    <a:pt x="6138799" y="5347081"/>
                    <a:pt x="6161659" y="5339461"/>
                    <a:pt x="6184519" y="5354701"/>
                  </a:cubicBezTo>
                  <a:cubicBezTo>
                    <a:pt x="6199759" y="5369941"/>
                    <a:pt x="6199759" y="5392801"/>
                    <a:pt x="6192139" y="5408168"/>
                  </a:cubicBezTo>
                  <a:cubicBezTo>
                    <a:pt x="6184519" y="5415788"/>
                    <a:pt x="6169279" y="5423408"/>
                    <a:pt x="6161659" y="5423408"/>
                  </a:cubicBezTo>
                  <a:cubicBezTo>
                    <a:pt x="6154039" y="5423408"/>
                    <a:pt x="6146419" y="5423408"/>
                    <a:pt x="6138799" y="5415788"/>
                  </a:cubicBezTo>
                  <a:close/>
                  <a:moveTo>
                    <a:pt x="632841" y="5392928"/>
                  </a:moveTo>
                  <a:cubicBezTo>
                    <a:pt x="617601" y="5370068"/>
                    <a:pt x="625221" y="5347208"/>
                    <a:pt x="640461" y="5339461"/>
                  </a:cubicBezTo>
                  <a:cubicBezTo>
                    <a:pt x="655701" y="5324221"/>
                    <a:pt x="678561" y="5331841"/>
                    <a:pt x="693801" y="5347081"/>
                  </a:cubicBezTo>
                  <a:cubicBezTo>
                    <a:pt x="701421" y="5362321"/>
                    <a:pt x="701421" y="5385181"/>
                    <a:pt x="686181" y="5400548"/>
                  </a:cubicBezTo>
                  <a:cubicBezTo>
                    <a:pt x="678561" y="5408168"/>
                    <a:pt x="670941" y="5408168"/>
                    <a:pt x="663321" y="5408168"/>
                  </a:cubicBezTo>
                  <a:cubicBezTo>
                    <a:pt x="648081" y="5408168"/>
                    <a:pt x="640461" y="5400548"/>
                    <a:pt x="632841" y="5392928"/>
                  </a:cubicBezTo>
                  <a:close/>
                  <a:moveTo>
                    <a:pt x="6260719" y="5240401"/>
                  </a:moveTo>
                  <a:cubicBezTo>
                    <a:pt x="6237859" y="5225161"/>
                    <a:pt x="6237859" y="5202301"/>
                    <a:pt x="6245479" y="5186934"/>
                  </a:cubicBezTo>
                  <a:cubicBezTo>
                    <a:pt x="6260719" y="5171694"/>
                    <a:pt x="6283579" y="5164074"/>
                    <a:pt x="6298819" y="5171694"/>
                  </a:cubicBezTo>
                  <a:cubicBezTo>
                    <a:pt x="6314059" y="5186934"/>
                    <a:pt x="6321679" y="5209794"/>
                    <a:pt x="6314059" y="5225161"/>
                  </a:cubicBezTo>
                  <a:cubicBezTo>
                    <a:pt x="6306439" y="5240401"/>
                    <a:pt x="6291199" y="5248021"/>
                    <a:pt x="6275959" y="5248021"/>
                  </a:cubicBezTo>
                  <a:cubicBezTo>
                    <a:pt x="6275959" y="5248021"/>
                    <a:pt x="6268339" y="5240401"/>
                    <a:pt x="6260719" y="5240401"/>
                  </a:cubicBezTo>
                  <a:close/>
                  <a:moveTo>
                    <a:pt x="510794" y="5209921"/>
                  </a:moveTo>
                  <a:cubicBezTo>
                    <a:pt x="495554" y="5194681"/>
                    <a:pt x="503174" y="5171821"/>
                    <a:pt x="526034" y="5156454"/>
                  </a:cubicBezTo>
                  <a:cubicBezTo>
                    <a:pt x="541274" y="5148834"/>
                    <a:pt x="564134" y="5148834"/>
                    <a:pt x="571754" y="5171694"/>
                  </a:cubicBezTo>
                  <a:cubicBezTo>
                    <a:pt x="586994" y="5186934"/>
                    <a:pt x="579374" y="5209794"/>
                    <a:pt x="564134" y="5225161"/>
                  </a:cubicBezTo>
                  <a:cubicBezTo>
                    <a:pt x="556514" y="5225161"/>
                    <a:pt x="548894" y="5225161"/>
                    <a:pt x="541274" y="5225161"/>
                  </a:cubicBezTo>
                  <a:cubicBezTo>
                    <a:pt x="526034" y="5225161"/>
                    <a:pt x="518414" y="5225161"/>
                    <a:pt x="510794" y="5209921"/>
                  </a:cubicBezTo>
                  <a:close/>
                  <a:moveTo>
                    <a:pt x="6367526" y="5057394"/>
                  </a:moveTo>
                  <a:cubicBezTo>
                    <a:pt x="6352286" y="5042154"/>
                    <a:pt x="6344666" y="5019294"/>
                    <a:pt x="6352286" y="5003927"/>
                  </a:cubicBezTo>
                  <a:cubicBezTo>
                    <a:pt x="6367526" y="4988687"/>
                    <a:pt x="6390386" y="4981067"/>
                    <a:pt x="6405626" y="4988687"/>
                  </a:cubicBezTo>
                  <a:cubicBezTo>
                    <a:pt x="6420866" y="4996307"/>
                    <a:pt x="6428486" y="5019167"/>
                    <a:pt x="6420866" y="5042154"/>
                  </a:cubicBezTo>
                  <a:cubicBezTo>
                    <a:pt x="6413246" y="5049774"/>
                    <a:pt x="6398006" y="5057394"/>
                    <a:pt x="6390386" y="5057394"/>
                  </a:cubicBezTo>
                  <a:cubicBezTo>
                    <a:pt x="6382766" y="5057394"/>
                    <a:pt x="6375146" y="5057394"/>
                    <a:pt x="6367526" y="5057394"/>
                  </a:cubicBezTo>
                  <a:close/>
                  <a:moveTo>
                    <a:pt x="404114" y="5019294"/>
                  </a:moveTo>
                  <a:cubicBezTo>
                    <a:pt x="388874" y="5004054"/>
                    <a:pt x="396494" y="4981194"/>
                    <a:pt x="419354" y="4973574"/>
                  </a:cubicBezTo>
                  <a:cubicBezTo>
                    <a:pt x="434594" y="4958334"/>
                    <a:pt x="457454" y="4965954"/>
                    <a:pt x="472694" y="4988814"/>
                  </a:cubicBezTo>
                  <a:cubicBezTo>
                    <a:pt x="480314" y="5004054"/>
                    <a:pt x="472694" y="5026914"/>
                    <a:pt x="449834" y="5034534"/>
                  </a:cubicBezTo>
                  <a:cubicBezTo>
                    <a:pt x="449834" y="5042154"/>
                    <a:pt x="442214" y="5042154"/>
                    <a:pt x="434594" y="5042154"/>
                  </a:cubicBezTo>
                  <a:cubicBezTo>
                    <a:pt x="419354" y="5042154"/>
                    <a:pt x="411734" y="5034534"/>
                    <a:pt x="404114" y="5019294"/>
                  </a:cubicBezTo>
                  <a:close/>
                  <a:moveTo>
                    <a:pt x="6466713" y="4866767"/>
                  </a:moveTo>
                  <a:cubicBezTo>
                    <a:pt x="6451473" y="4859147"/>
                    <a:pt x="6436233" y="4836287"/>
                    <a:pt x="6451473" y="4813300"/>
                  </a:cubicBezTo>
                  <a:cubicBezTo>
                    <a:pt x="6459093" y="4798060"/>
                    <a:pt x="6481953" y="4790440"/>
                    <a:pt x="6497193" y="4798060"/>
                  </a:cubicBezTo>
                  <a:cubicBezTo>
                    <a:pt x="6520053" y="4805680"/>
                    <a:pt x="6527673" y="4828540"/>
                    <a:pt x="6520053" y="4843780"/>
                  </a:cubicBezTo>
                  <a:cubicBezTo>
                    <a:pt x="6512433" y="4859020"/>
                    <a:pt x="6497193" y="4866640"/>
                    <a:pt x="6481953" y="4866640"/>
                  </a:cubicBezTo>
                  <a:cubicBezTo>
                    <a:pt x="6474333" y="4866640"/>
                    <a:pt x="6474333" y="4866640"/>
                    <a:pt x="6466713" y="4866640"/>
                  </a:cubicBezTo>
                  <a:close/>
                  <a:moveTo>
                    <a:pt x="305054" y="4828540"/>
                  </a:moveTo>
                  <a:cubicBezTo>
                    <a:pt x="297434" y="4805680"/>
                    <a:pt x="305054" y="4782820"/>
                    <a:pt x="327914" y="4775073"/>
                  </a:cubicBezTo>
                  <a:cubicBezTo>
                    <a:pt x="343154" y="4767453"/>
                    <a:pt x="366014" y="4775073"/>
                    <a:pt x="373634" y="4797933"/>
                  </a:cubicBezTo>
                  <a:cubicBezTo>
                    <a:pt x="381254" y="4813173"/>
                    <a:pt x="373634" y="4836033"/>
                    <a:pt x="358394" y="4843653"/>
                  </a:cubicBezTo>
                  <a:cubicBezTo>
                    <a:pt x="350774" y="4851273"/>
                    <a:pt x="343154" y="4851273"/>
                    <a:pt x="343154" y="4851273"/>
                  </a:cubicBezTo>
                  <a:cubicBezTo>
                    <a:pt x="327914" y="4851273"/>
                    <a:pt x="312674" y="4843653"/>
                    <a:pt x="305054" y="4828413"/>
                  </a:cubicBezTo>
                  <a:close/>
                  <a:moveTo>
                    <a:pt x="6550660" y="4668520"/>
                  </a:moveTo>
                  <a:cubicBezTo>
                    <a:pt x="6535420" y="4660900"/>
                    <a:pt x="6520180" y="4638040"/>
                    <a:pt x="6527800" y="4622800"/>
                  </a:cubicBezTo>
                  <a:cubicBezTo>
                    <a:pt x="6535420" y="4599940"/>
                    <a:pt x="6558280" y="4592320"/>
                    <a:pt x="6581140" y="4599940"/>
                  </a:cubicBezTo>
                  <a:cubicBezTo>
                    <a:pt x="6604000" y="4607560"/>
                    <a:pt x="6611620" y="4630420"/>
                    <a:pt x="6604000" y="4645660"/>
                  </a:cubicBezTo>
                  <a:cubicBezTo>
                    <a:pt x="6596380" y="4660900"/>
                    <a:pt x="6581140" y="4668520"/>
                    <a:pt x="6565900" y="4668520"/>
                  </a:cubicBezTo>
                  <a:cubicBezTo>
                    <a:pt x="6565900" y="4668520"/>
                    <a:pt x="6558280" y="4668520"/>
                    <a:pt x="6550660" y="4668520"/>
                  </a:cubicBezTo>
                  <a:close/>
                  <a:moveTo>
                    <a:pt x="221107" y="4630420"/>
                  </a:moveTo>
                  <a:cubicBezTo>
                    <a:pt x="213487" y="4607560"/>
                    <a:pt x="228727" y="4584700"/>
                    <a:pt x="243967" y="4576953"/>
                  </a:cubicBezTo>
                  <a:cubicBezTo>
                    <a:pt x="266827" y="4569333"/>
                    <a:pt x="289687" y="4584573"/>
                    <a:pt x="297307" y="4599813"/>
                  </a:cubicBezTo>
                  <a:cubicBezTo>
                    <a:pt x="304927" y="4622673"/>
                    <a:pt x="289687" y="4645533"/>
                    <a:pt x="274447" y="4653280"/>
                  </a:cubicBezTo>
                  <a:cubicBezTo>
                    <a:pt x="266827" y="4653280"/>
                    <a:pt x="266827" y="4653280"/>
                    <a:pt x="259207" y="4653280"/>
                  </a:cubicBezTo>
                  <a:cubicBezTo>
                    <a:pt x="243967" y="4653280"/>
                    <a:pt x="228727" y="4645660"/>
                    <a:pt x="221107" y="4630420"/>
                  </a:cubicBezTo>
                  <a:close/>
                  <a:moveTo>
                    <a:pt x="6626860" y="4470146"/>
                  </a:moveTo>
                  <a:cubicBezTo>
                    <a:pt x="6604000" y="4462526"/>
                    <a:pt x="6596380" y="4439666"/>
                    <a:pt x="6604000" y="4416679"/>
                  </a:cubicBezTo>
                  <a:cubicBezTo>
                    <a:pt x="6604000" y="4401439"/>
                    <a:pt x="6626860" y="4386199"/>
                    <a:pt x="6649720" y="4393819"/>
                  </a:cubicBezTo>
                  <a:cubicBezTo>
                    <a:pt x="6672580" y="4401439"/>
                    <a:pt x="6680200" y="4424299"/>
                    <a:pt x="6672580" y="4439539"/>
                  </a:cubicBezTo>
                  <a:cubicBezTo>
                    <a:pt x="6672580" y="4454779"/>
                    <a:pt x="6657340" y="4470019"/>
                    <a:pt x="6634480" y="4470019"/>
                  </a:cubicBezTo>
                  <a:cubicBezTo>
                    <a:pt x="6634480" y="4470019"/>
                    <a:pt x="6626860" y="4470019"/>
                    <a:pt x="6626860" y="4470019"/>
                  </a:cubicBezTo>
                  <a:close/>
                  <a:moveTo>
                    <a:pt x="152527" y="4424299"/>
                  </a:moveTo>
                  <a:cubicBezTo>
                    <a:pt x="144907" y="4401439"/>
                    <a:pt x="160147" y="4378579"/>
                    <a:pt x="175387" y="4378579"/>
                  </a:cubicBezTo>
                  <a:cubicBezTo>
                    <a:pt x="198247" y="4370959"/>
                    <a:pt x="221107" y="4378579"/>
                    <a:pt x="228727" y="4401439"/>
                  </a:cubicBezTo>
                  <a:cubicBezTo>
                    <a:pt x="228727" y="4424299"/>
                    <a:pt x="221107" y="4439539"/>
                    <a:pt x="198247" y="4447159"/>
                  </a:cubicBezTo>
                  <a:cubicBezTo>
                    <a:pt x="198247" y="4447159"/>
                    <a:pt x="190627" y="4447159"/>
                    <a:pt x="190627" y="4447159"/>
                  </a:cubicBezTo>
                  <a:cubicBezTo>
                    <a:pt x="175387" y="4447159"/>
                    <a:pt x="160147" y="4439539"/>
                    <a:pt x="152527" y="4424299"/>
                  </a:cubicBezTo>
                  <a:close/>
                  <a:moveTo>
                    <a:pt x="6687947" y="4264025"/>
                  </a:moveTo>
                  <a:cubicBezTo>
                    <a:pt x="6665086" y="4256405"/>
                    <a:pt x="6649847" y="4233545"/>
                    <a:pt x="6657467" y="4218305"/>
                  </a:cubicBezTo>
                  <a:cubicBezTo>
                    <a:pt x="6665086" y="4195445"/>
                    <a:pt x="6680326" y="4180205"/>
                    <a:pt x="6703186" y="4187825"/>
                  </a:cubicBezTo>
                  <a:cubicBezTo>
                    <a:pt x="6726047" y="4195445"/>
                    <a:pt x="6733667" y="4210685"/>
                    <a:pt x="6733667" y="4233545"/>
                  </a:cubicBezTo>
                  <a:cubicBezTo>
                    <a:pt x="6726047" y="4248785"/>
                    <a:pt x="6710807" y="4264025"/>
                    <a:pt x="6695567" y="4264025"/>
                  </a:cubicBezTo>
                  <a:cubicBezTo>
                    <a:pt x="6695567" y="4264025"/>
                    <a:pt x="6687947" y="4264025"/>
                    <a:pt x="6687947" y="4264025"/>
                  </a:cubicBezTo>
                  <a:close/>
                  <a:moveTo>
                    <a:pt x="99187" y="4210812"/>
                  </a:moveTo>
                  <a:cubicBezTo>
                    <a:pt x="91567" y="4195572"/>
                    <a:pt x="106807" y="4172712"/>
                    <a:pt x="122047" y="4165092"/>
                  </a:cubicBezTo>
                  <a:cubicBezTo>
                    <a:pt x="144907" y="4165092"/>
                    <a:pt x="167767" y="4172712"/>
                    <a:pt x="167767" y="4195572"/>
                  </a:cubicBezTo>
                  <a:cubicBezTo>
                    <a:pt x="175387" y="4218432"/>
                    <a:pt x="160147" y="4241292"/>
                    <a:pt x="144907" y="4241292"/>
                  </a:cubicBezTo>
                  <a:cubicBezTo>
                    <a:pt x="137287" y="4241292"/>
                    <a:pt x="137287" y="4241292"/>
                    <a:pt x="129667" y="4241292"/>
                  </a:cubicBezTo>
                  <a:cubicBezTo>
                    <a:pt x="114427" y="4241292"/>
                    <a:pt x="99187" y="4233672"/>
                    <a:pt x="99187" y="4210812"/>
                  </a:cubicBezTo>
                  <a:close/>
                  <a:moveTo>
                    <a:pt x="6733667" y="4050538"/>
                  </a:moveTo>
                  <a:cubicBezTo>
                    <a:pt x="6710807" y="4050538"/>
                    <a:pt x="6695567" y="4027678"/>
                    <a:pt x="6703187" y="4004818"/>
                  </a:cubicBezTo>
                  <a:cubicBezTo>
                    <a:pt x="6703187" y="3989578"/>
                    <a:pt x="6726048" y="3974338"/>
                    <a:pt x="6748907" y="3974338"/>
                  </a:cubicBezTo>
                  <a:cubicBezTo>
                    <a:pt x="6764148" y="3981958"/>
                    <a:pt x="6779387" y="3997198"/>
                    <a:pt x="6779387" y="4020058"/>
                  </a:cubicBezTo>
                  <a:cubicBezTo>
                    <a:pt x="6771767" y="4042918"/>
                    <a:pt x="6756527" y="4050538"/>
                    <a:pt x="6741287" y="4050538"/>
                  </a:cubicBezTo>
                  <a:cubicBezTo>
                    <a:pt x="6741287" y="4050538"/>
                    <a:pt x="6733667" y="4050538"/>
                    <a:pt x="6733667" y="4050538"/>
                  </a:cubicBezTo>
                  <a:close/>
                  <a:moveTo>
                    <a:pt x="53340" y="4004818"/>
                  </a:moveTo>
                  <a:cubicBezTo>
                    <a:pt x="45720" y="3981958"/>
                    <a:pt x="60960" y="3959098"/>
                    <a:pt x="83820" y="3959098"/>
                  </a:cubicBezTo>
                  <a:cubicBezTo>
                    <a:pt x="106680" y="3951478"/>
                    <a:pt x="121920" y="3966718"/>
                    <a:pt x="129540" y="3989578"/>
                  </a:cubicBezTo>
                  <a:cubicBezTo>
                    <a:pt x="129540" y="4012438"/>
                    <a:pt x="114300" y="4027678"/>
                    <a:pt x="99060" y="4035298"/>
                  </a:cubicBezTo>
                  <a:cubicBezTo>
                    <a:pt x="91440" y="4035298"/>
                    <a:pt x="91440" y="4035298"/>
                    <a:pt x="91440" y="4035298"/>
                  </a:cubicBezTo>
                  <a:cubicBezTo>
                    <a:pt x="68580" y="4035298"/>
                    <a:pt x="53340" y="4020058"/>
                    <a:pt x="53340" y="4004818"/>
                  </a:cubicBezTo>
                  <a:close/>
                  <a:moveTo>
                    <a:pt x="6764147" y="3836924"/>
                  </a:moveTo>
                  <a:cubicBezTo>
                    <a:pt x="6748907" y="3836924"/>
                    <a:pt x="6733667" y="3821684"/>
                    <a:pt x="6733667" y="3798824"/>
                  </a:cubicBezTo>
                  <a:cubicBezTo>
                    <a:pt x="6733667" y="3775964"/>
                    <a:pt x="6756526" y="3760724"/>
                    <a:pt x="6771767" y="3768344"/>
                  </a:cubicBezTo>
                  <a:cubicBezTo>
                    <a:pt x="6794626" y="3768344"/>
                    <a:pt x="6809867" y="3783584"/>
                    <a:pt x="6809867" y="3806444"/>
                  </a:cubicBezTo>
                  <a:cubicBezTo>
                    <a:pt x="6809867" y="3829304"/>
                    <a:pt x="6787007" y="3844544"/>
                    <a:pt x="6771767" y="3844544"/>
                  </a:cubicBezTo>
                  <a:cubicBezTo>
                    <a:pt x="6771767" y="3844544"/>
                    <a:pt x="6764147" y="3836924"/>
                    <a:pt x="6764147" y="3836924"/>
                  </a:cubicBezTo>
                  <a:close/>
                  <a:moveTo>
                    <a:pt x="22860" y="3791204"/>
                  </a:moveTo>
                  <a:cubicBezTo>
                    <a:pt x="22860" y="3768344"/>
                    <a:pt x="38100" y="3745484"/>
                    <a:pt x="53340" y="3745484"/>
                  </a:cubicBezTo>
                  <a:cubicBezTo>
                    <a:pt x="76200" y="3745484"/>
                    <a:pt x="99060" y="3760724"/>
                    <a:pt x="99060" y="3775964"/>
                  </a:cubicBezTo>
                  <a:cubicBezTo>
                    <a:pt x="99060" y="3798824"/>
                    <a:pt x="83820" y="3821684"/>
                    <a:pt x="60960" y="3821684"/>
                  </a:cubicBezTo>
                  <a:cubicBezTo>
                    <a:pt x="38100" y="3821684"/>
                    <a:pt x="22860" y="3806444"/>
                    <a:pt x="22860" y="3791204"/>
                  </a:cubicBezTo>
                  <a:close/>
                  <a:moveTo>
                    <a:pt x="6787007" y="3623310"/>
                  </a:moveTo>
                  <a:cubicBezTo>
                    <a:pt x="6764147" y="3623310"/>
                    <a:pt x="6748907" y="3608070"/>
                    <a:pt x="6748907" y="3585210"/>
                  </a:cubicBezTo>
                  <a:cubicBezTo>
                    <a:pt x="6748907" y="3562350"/>
                    <a:pt x="6771767" y="3547110"/>
                    <a:pt x="6787007" y="3554730"/>
                  </a:cubicBezTo>
                  <a:cubicBezTo>
                    <a:pt x="6809867" y="3554730"/>
                    <a:pt x="6825107" y="3569970"/>
                    <a:pt x="6825107" y="3592830"/>
                  </a:cubicBezTo>
                  <a:cubicBezTo>
                    <a:pt x="6825107" y="3608070"/>
                    <a:pt x="6809867" y="3630930"/>
                    <a:pt x="6787007" y="3630930"/>
                  </a:cubicBezTo>
                  <a:cubicBezTo>
                    <a:pt x="6787007" y="3630930"/>
                    <a:pt x="6787007" y="3630930"/>
                    <a:pt x="6787007" y="3623310"/>
                  </a:cubicBezTo>
                  <a:close/>
                  <a:moveTo>
                    <a:pt x="7620" y="3569970"/>
                  </a:moveTo>
                  <a:cubicBezTo>
                    <a:pt x="7620" y="3547110"/>
                    <a:pt x="22860" y="3531870"/>
                    <a:pt x="45720" y="3531870"/>
                  </a:cubicBezTo>
                  <a:cubicBezTo>
                    <a:pt x="60960" y="3531870"/>
                    <a:pt x="83820" y="3547110"/>
                    <a:pt x="83820" y="3569970"/>
                  </a:cubicBezTo>
                  <a:cubicBezTo>
                    <a:pt x="83820" y="3592830"/>
                    <a:pt x="68580" y="3608070"/>
                    <a:pt x="45720" y="3608070"/>
                  </a:cubicBezTo>
                  <a:cubicBezTo>
                    <a:pt x="22860" y="3608070"/>
                    <a:pt x="7620" y="3592830"/>
                    <a:pt x="7620" y="3569970"/>
                  </a:cubicBezTo>
                  <a:close/>
                  <a:moveTo>
                    <a:pt x="6756526" y="3371596"/>
                  </a:moveTo>
                  <a:cubicBezTo>
                    <a:pt x="6756526" y="3356356"/>
                    <a:pt x="6771767" y="3333496"/>
                    <a:pt x="6794626" y="3333496"/>
                  </a:cubicBezTo>
                  <a:cubicBezTo>
                    <a:pt x="6809867" y="3333496"/>
                    <a:pt x="6832726" y="3356356"/>
                    <a:pt x="6832726" y="3371596"/>
                  </a:cubicBezTo>
                  <a:cubicBezTo>
                    <a:pt x="6832726" y="3394456"/>
                    <a:pt x="6809867" y="3409696"/>
                    <a:pt x="6794626" y="3409696"/>
                  </a:cubicBezTo>
                  <a:cubicBezTo>
                    <a:pt x="6771767" y="3409696"/>
                    <a:pt x="6756526" y="3394456"/>
                    <a:pt x="6756526" y="3371596"/>
                  </a:cubicBezTo>
                  <a:close/>
                  <a:moveTo>
                    <a:pt x="38100" y="3394456"/>
                  </a:moveTo>
                  <a:cubicBezTo>
                    <a:pt x="22860" y="3394456"/>
                    <a:pt x="0" y="3379216"/>
                    <a:pt x="0" y="3356356"/>
                  </a:cubicBezTo>
                  <a:cubicBezTo>
                    <a:pt x="0" y="3333496"/>
                    <a:pt x="22860" y="3318256"/>
                    <a:pt x="38100" y="3318256"/>
                  </a:cubicBezTo>
                  <a:cubicBezTo>
                    <a:pt x="60960" y="3318256"/>
                    <a:pt x="76200" y="3333496"/>
                    <a:pt x="76200" y="3356356"/>
                  </a:cubicBezTo>
                  <a:cubicBezTo>
                    <a:pt x="76200" y="3379216"/>
                    <a:pt x="60960" y="3394456"/>
                    <a:pt x="38100" y="3394456"/>
                  </a:cubicBezTo>
                  <a:close/>
                  <a:moveTo>
                    <a:pt x="6741287" y="3165602"/>
                  </a:moveTo>
                  <a:cubicBezTo>
                    <a:pt x="6741287" y="3142742"/>
                    <a:pt x="6756527" y="3127502"/>
                    <a:pt x="6779387" y="3119882"/>
                  </a:cubicBezTo>
                  <a:cubicBezTo>
                    <a:pt x="6802247" y="3119882"/>
                    <a:pt x="6817487" y="3135122"/>
                    <a:pt x="6817487" y="3157982"/>
                  </a:cubicBezTo>
                  <a:cubicBezTo>
                    <a:pt x="6825107" y="3180842"/>
                    <a:pt x="6809867" y="3196082"/>
                    <a:pt x="6787007" y="3196082"/>
                  </a:cubicBezTo>
                  <a:cubicBezTo>
                    <a:pt x="6787007" y="3196082"/>
                    <a:pt x="6787007" y="3196082"/>
                    <a:pt x="6779387" y="3196082"/>
                  </a:cubicBezTo>
                  <a:cubicBezTo>
                    <a:pt x="6764147" y="3196082"/>
                    <a:pt x="6748907" y="3180842"/>
                    <a:pt x="6741287" y="3165602"/>
                  </a:cubicBezTo>
                  <a:close/>
                  <a:moveTo>
                    <a:pt x="45720" y="3180842"/>
                  </a:moveTo>
                  <a:cubicBezTo>
                    <a:pt x="30480" y="3180842"/>
                    <a:pt x="15240" y="3157982"/>
                    <a:pt x="15240" y="3135122"/>
                  </a:cubicBezTo>
                  <a:cubicBezTo>
                    <a:pt x="15240" y="3119882"/>
                    <a:pt x="30480" y="3104642"/>
                    <a:pt x="53340" y="3104642"/>
                  </a:cubicBezTo>
                  <a:cubicBezTo>
                    <a:pt x="76200" y="3104642"/>
                    <a:pt x="91440" y="3119882"/>
                    <a:pt x="91440" y="3142742"/>
                  </a:cubicBezTo>
                  <a:cubicBezTo>
                    <a:pt x="91440" y="3165602"/>
                    <a:pt x="68580" y="3180842"/>
                    <a:pt x="53340" y="3180842"/>
                  </a:cubicBezTo>
                  <a:cubicBezTo>
                    <a:pt x="53340" y="3180842"/>
                    <a:pt x="45720" y="3180842"/>
                    <a:pt x="45720" y="3180842"/>
                  </a:cubicBezTo>
                  <a:close/>
                  <a:moveTo>
                    <a:pt x="6718426" y="2951988"/>
                  </a:moveTo>
                  <a:cubicBezTo>
                    <a:pt x="6718426" y="2929128"/>
                    <a:pt x="6733667" y="2913888"/>
                    <a:pt x="6756526" y="2906268"/>
                  </a:cubicBezTo>
                  <a:cubicBezTo>
                    <a:pt x="6771767" y="2906268"/>
                    <a:pt x="6794626" y="2921508"/>
                    <a:pt x="6794626" y="2944368"/>
                  </a:cubicBezTo>
                  <a:cubicBezTo>
                    <a:pt x="6802247" y="2959608"/>
                    <a:pt x="6787007" y="2982468"/>
                    <a:pt x="6764147" y="2982468"/>
                  </a:cubicBezTo>
                  <a:cubicBezTo>
                    <a:pt x="6764147" y="2982468"/>
                    <a:pt x="6764147" y="2982468"/>
                    <a:pt x="6756526" y="2982468"/>
                  </a:cubicBezTo>
                  <a:cubicBezTo>
                    <a:pt x="6741287" y="2982468"/>
                    <a:pt x="6726047" y="2974848"/>
                    <a:pt x="6718426" y="2951988"/>
                  </a:cubicBezTo>
                  <a:close/>
                  <a:moveTo>
                    <a:pt x="68580" y="2967228"/>
                  </a:moveTo>
                  <a:cubicBezTo>
                    <a:pt x="45720" y="2959608"/>
                    <a:pt x="38100" y="2944368"/>
                    <a:pt x="38100" y="2921508"/>
                  </a:cubicBezTo>
                  <a:cubicBezTo>
                    <a:pt x="38100" y="2898648"/>
                    <a:pt x="60960" y="2891028"/>
                    <a:pt x="83820" y="2891028"/>
                  </a:cubicBezTo>
                  <a:cubicBezTo>
                    <a:pt x="99060" y="2891028"/>
                    <a:pt x="114300" y="2913888"/>
                    <a:pt x="114300" y="2936748"/>
                  </a:cubicBezTo>
                  <a:cubicBezTo>
                    <a:pt x="106680" y="2951988"/>
                    <a:pt x="91440" y="2967228"/>
                    <a:pt x="76200" y="2967228"/>
                  </a:cubicBezTo>
                  <a:cubicBezTo>
                    <a:pt x="76200" y="2967228"/>
                    <a:pt x="68580" y="2967228"/>
                    <a:pt x="68580" y="2967228"/>
                  </a:cubicBezTo>
                  <a:close/>
                  <a:moveTo>
                    <a:pt x="6687820" y="2745994"/>
                  </a:moveTo>
                  <a:cubicBezTo>
                    <a:pt x="6680200" y="2723134"/>
                    <a:pt x="6695440" y="2700274"/>
                    <a:pt x="6718300" y="2700274"/>
                  </a:cubicBezTo>
                  <a:cubicBezTo>
                    <a:pt x="6733540" y="2692654"/>
                    <a:pt x="6756400" y="2707894"/>
                    <a:pt x="6764020" y="2730754"/>
                  </a:cubicBezTo>
                  <a:cubicBezTo>
                    <a:pt x="6764020" y="2745994"/>
                    <a:pt x="6748780" y="2768854"/>
                    <a:pt x="6733540" y="2776474"/>
                  </a:cubicBezTo>
                  <a:cubicBezTo>
                    <a:pt x="6725920" y="2776474"/>
                    <a:pt x="6725920" y="2776474"/>
                    <a:pt x="6725920" y="2776474"/>
                  </a:cubicBezTo>
                  <a:cubicBezTo>
                    <a:pt x="6703060" y="2776474"/>
                    <a:pt x="6687820" y="2761234"/>
                    <a:pt x="6687820" y="2745994"/>
                  </a:cubicBezTo>
                  <a:close/>
                  <a:moveTo>
                    <a:pt x="106680" y="2753614"/>
                  </a:moveTo>
                  <a:cubicBezTo>
                    <a:pt x="83820" y="2753614"/>
                    <a:pt x="68580" y="2730754"/>
                    <a:pt x="76200" y="2707894"/>
                  </a:cubicBezTo>
                  <a:cubicBezTo>
                    <a:pt x="76200" y="2685034"/>
                    <a:pt x="99060" y="2677414"/>
                    <a:pt x="121920" y="2677414"/>
                  </a:cubicBezTo>
                  <a:cubicBezTo>
                    <a:pt x="144780" y="2685034"/>
                    <a:pt x="152400" y="2707894"/>
                    <a:pt x="152400" y="2723134"/>
                  </a:cubicBezTo>
                  <a:cubicBezTo>
                    <a:pt x="144780" y="2745994"/>
                    <a:pt x="129540" y="2753614"/>
                    <a:pt x="114300" y="2753614"/>
                  </a:cubicBezTo>
                  <a:cubicBezTo>
                    <a:pt x="106680" y="2753614"/>
                    <a:pt x="106680" y="2753614"/>
                    <a:pt x="106680" y="2753614"/>
                  </a:cubicBezTo>
                  <a:close/>
                  <a:moveTo>
                    <a:pt x="6634480" y="2540000"/>
                  </a:moveTo>
                  <a:cubicBezTo>
                    <a:pt x="6634480" y="2517140"/>
                    <a:pt x="6642100" y="2494280"/>
                    <a:pt x="6664960" y="2494280"/>
                  </a:cubicBezTo>
                  <a:cubicBezTo>
                    <a:pt x="6687820" y="2486660"/>
                    <a:pt x="6703060" y="2494280"/>
                    <a:pt x="6710680" y="2517140"/>
                  </a:cubicBezTo>
                  <a:cubicBezTo>
                    <a:pt x="6718300" y="2540000"/>
                    <a:pt x="6703060" y="2562860"/>
                    <a:pt x="6687820" y="2562860"/>
                  </a:cubicBezTo>
                  <a:cubicBezTo>
                    <a:pt x="6680200" y="2562860"/>
                    <a:pt x="6680200" y="2562860"/>
                    <a:pt x="6672580" y="2562860"/>
                  </a:cubicBezTo>
                  <a:cubicBezTo>
                    <a:pt x="6657340" y="2562860"/>
                    <a:pt x="6642100" y="2555240"/>
                    <a:pt x="6634480" y="2540000"/>
                  </a:cubicBezTo>
                  <a:close/>
                  <a:moveTo>
                    <a:pt x="152527" y="2547620"/>
                  </a:moveTo>
                  <a:cubicBezTo>
                    <a:pt x="129667" y="2540000"/>
                    <a:pt x="122047" y="2517140"/>
                    <a:pt x="129667" y="2501900"/>
                  </a:cubicBezTo>
                  <a:cubicBezTo>
                    <a:pt x="129667" y="2479040"/>
                    <a:pt x="152527" y="2463800"/>
                    <a:pt x="175387" y="2471420"/>
                  </a:cubicBezTo>
                  <a:cubicBezTo>
                    <a:pt x="190627" y="2479040"/>
                    <a:pt x="205867" y="2501900"/>
                    <a:pt x="198247" y="2517140"/>
                  </a:cubicBezTo>
                  <a:cubicBezTo>
                    <a:pt x="198247" y="2532380"/>
                    <a:pt x="183007" y="2547620"/>
                    <a:pt x="167767" y="2547620"/>
                  </a:cubicBezTo>
                  <a:cubicBezTo>
                    <a:pt x="160147" y="2547620"/>
                    <a:pt x="160147" y="2547620"/>
                    <a:pt x="152527" y="2547620"/>
                  </a:cubicBezTo>
                  <a:close/>
                  <a:moveTo>
                    <a:pt x="6573520" y="2334006"/>
                  </a:moveTo>
                  <a:cubicBezTo>
                    <a:pt x="6565900" y="2318766"/>
                    <a:pt x="6581139" y="2295906"/>
                    <a:pt x="6596380" y="2288286"/>
                  </a:cubicBezTo>
                  <a:cubicBezTo>
                    <a:pt x="6619239" y="2280666"/>
                    <a:pt x="6642100" y="2288286"/>
                    <a:pt x="6649720" y="2311146"/>
                  </a:cubicBezTo>
                  <a:cubicBezTo>
                    <a:pt x="6657339" y="2334006"/>
                    <a:pt x="6642100" y="2349246"/>
                    <a:pt x="6626860" y="2356866"/>
                  </a:cubicBezTo>
                  <a:cubicBezTo>
                    <a:pt x="6619239" y="2364486"/>
                    <a:pt x="6611620" y="2364486"/>
                    <a:pt x="6611620" y="2364486"/>
                  </a:cubicBezTo>
                  <a:cubicBezTo>
                    <a:pt x="6596380" y="2364486"/>
                    <a:pt x="6581139" y="2349246"/>
                    <a:pt x="6573520" y="2334006"/>
                  </a:cubicBezTo>
                  <a:close/>
                  <a:moveTo>
                    <a:pt x="213487" y="2341626"/>
                  </a:moveTo>
                  <a:cubicBezTo>
                    <a:pt x="198247" y="2334006"/>
                    <a:pt x="183007" y="2311146"/>
                    <a:pt x="190627" y="2288159"/>
                  </a:cubicBezTo>
                  <a:cubicBezTo>
                    <a:pt x="198247" y="2272919"/>
                    <a:pt x="221107" y="2257679"/>
                    <a:pt x="243967" y="2265299"/>
                  </a:cubicBezTo>
                  <a:cubicBezTo>
                    <a:pt x="259207" y="2272919"/>
                    <a:pt x="274447" y="2295779"/>
                    <a:pt x="266827" y="2318766"/>
                  </a:cubicBezTo>
                  <a:cubicBezTo>
                    <a:pt x="259207" y="2334006"/>
                    <a:pt x="243967" y="2341626"/>
                    <a:pt x="228727" y="2341626"/>
                  </a:cubicBezTo>
                  <a:cubicBezTo>
                    <a:pt x="221107" y="2341626"/>
                    <a:pt x="221107" y="2341626"/>
                    <a:pt x="213487" y="2341626"/>
                  </a:cubicBezTo>
                  <a:close/>
                  <a:moveTo>
                    <a:pt x="6497320" y="2135632"/>
                  </a:moveTo>
                  <a:cubicBezTo>
                    <a:pt x="6489700" y="2120392"/>
                    <a:pt x="6504940" y="2097532"/>
                    <a:pt x="6520180" y="2089912"/>
                  </a:cubicBezTo>
                  <a:cubicBezTo>
                    <a:pt x="6543040" y="2082292"/>
                    <a:pt x="6565900" y="2089912"/>
                    <a:pt x="6573520" y="2105152"/>
                  </a:cubicBezTo>
                  <a:cubicBezTo>
                    <a:pt x="6581140" y="2128012"/>
                    <a:pt x="6565900" y="2150872"/>
                    <a:pt x="6550660" y="2158619"/>
                  </a:cubicBezTo>
                  <a:cubicBezTo>
                    <a:pt x="6543040" y="2158619"/>
                    <a:pt x="6543040" y="2158619"/>
                    <a:pt x="6535420" y="2158619"/>
                  </a:cubicBezTo>
                  <a:cubicBezTo>
                    <a:pt x="6520180" y="2158619"/>
                    <a:pt x="6504940" y="2150999"/>
                    <a:pt x="6497320" y="2135759"/>
                  </a:cubicBezTo>
                  <a:close/>
                  <a:moveTo>
                    <a:pt x="289814" y="2143379"/>
                  </a:moveTo>
                  <a:cubicBezTo>
                    <a:pt x="274574" y="2128139"/>
                    <a:pt x="259334" y="2112899"/>
                    <a:pt x="266954" y="2089912"/>
                  </a:cubicBezTo>
                  <a:cubicBezTo>
                    <a:pt x="274574" y="2067052"/>
                    <a:pt x="297434" y="2059432"/>
                    <a:pt x="320294" y="2067052"/>
                  </a:cubicBezTo>
                  <a:cubicBezTo>
                    <a:pt x="335534" y="2074672"/>
                    <a:pt x="350774" y="2097532"/>
                    <a:pt x="343154" y="2120519"/>
                  </a:cubicBezTo>
                  <a:cubicBezTo>
                    <a:pt x="335534" y="2135759"/>
                    <a:pt x="320294" y="2143379"/>
                    <a:pt x="305054" y="2143379"/>
                  </a:cubicBezTo>
                  <a:cubicBezTo>
                    <a:pt x="297434" y="2143379"/>
                    <a:pt x="297434" y="2143379"/>
                    <a:pt x="289814" y="2143379"/>
                  </a:cubicBezTo>
                  <a:close/>
                  <a:moveTo>
                    <a:pt x="6413373" y="1945005"/>
                  </a:moveTo>
                  <a:cubicBezTo>
                    <a:pt x="6405753" y="1922145"/>
                    <a:pt x="6413373" y="1899285"/>
                    <a:pt x="6428613" y="1891538"/>
                  </a:cubicBezTo>
                  <a:cubicBezTo>
                    <a:pt x="6451473" y="1883918"/>
                    <a:pt x="6474333" y="1891538"/>
                    <a:pt x="6481953" y="1914398"/>
                  </a:cubicBezTo>
                  <a:cubicBezTo>
                    <a:pt x="6489573" y="1929638"/>
                    <a:pt x="6481953" y="1952498"/>
                    <a:pt x="6466713" y="1960118"/>
                  </a:cubicBezTo>
                  <a:cubicBezTo>
                    <a:pt x="6459093" y="1967738"/>
                    <a:pt x="6451473" y="1967738"/>
                    <a:pt x="6443853" y="1967738"/>
                  </a:cubicBezTo>
                  <a:cubicBezTo>
                    <a:pt x="6436233" y="1967738"/>
                    <a:pt x="6420993" y="1960118"/>
                    <a:pt x="6413373" y="1944878"/>
                  </a:cubicBezTo>
                  <a:close/>
                  <a:moveTo>
                    <a:pt x="381254" y="1944878"/>
                  </a:moveTo>
                  <a:cubicBezTo>
                    <a:pt x="358394" y="1937258"/>
                    <a:pt x="350774" y="1914398"/>
                    <a:pt x="358394" y="1891411"/>
                  </a:cubicBezTo>
                  <a:cubicBezTo>
                    <a:pt x="373634" y="1876171"/>
                    <a:pt x="396494" y="1868551"/>
                    <a:pt x="411734" y="1876171"/>
                  </a:cubicBezTo>
                  <a:cubicBezTo>
                    <a:pt x="426974" y="1883791"/>
                    <a:pt x="434594" y="1906651"/>
                    <a:pt x="426974" y="1929638"/>
                  </a:cubicBezTo>
                  <a:cubicBezTo>
                    <a:pt x="419354" y="1937258"/>
                    <a:pt x="411734" y="1944878"/>
                    <a:pt x="396494" y="1944878"/>
                  </a:cubicBezTo>
                  <a:cubicBezTo>
                    <a:pt x="388874" y="1944878"/>
                    <a:pt x="381254" y="1944878"/>
                    <a:pt x="381254" y="1944878"/>
                  </a:cubicBezTo>
                  <a:close/>
                  <a:moveTo>
                    <a:pt x="6314186" y="1754124"/>
                  </a:moveTo>
                  <a:cubicBezTo>
                    <a:pt x="6306566" y="1738884"/>
                    <a:pt x="6306566" y="1716024"/>
                    <a:pt x="6329426" y="1708404"/>
                  </a:cubicBezTo>
                  <a:cubicBezTo>
                    <a:pt x="6344666" y="1693164"/>
                    <a:pt x="6367526" y="1700784"/>
                    <a:pt x="6382766" y="1716024"/>
                  </a:cubicBezTo>
                  <a:cubicBezTo>
                    <a:pt x="6390386" y="1738884"/>
                    <a:pt x="6382766" y="1761744"/>
                    <a:pt x="6367526" y="1769491"/>
                  </a:cubicBezTo>
                  <a:cubicBezTo>
                    <a:pt x="6359906" y="1777111"/>
                    <a:pt x="6352286" y="1777111"/>
                    <a:pt x="6344666" y="1777111"/>
                  </a:cubicBezTo>
                  <a:cubicBezTo>
                    <a:pt x="6329426" y="1777111"/>
                    <a:pt x="6321806" y="1769491"/>
                    <a:pt x="6314186" y="1754251"/>
                  </a:cubicBezTo>
                  <a:close/>
                  <a:moveTo>
                    <a:pt x="480441" y="1754251"/>
                  </a:moveTo>
                  <a:cubicBezTo>
                    <a:pt x="457581" y="1746631"/>
                    <a:pt x="449961" y="1723771"/>
                    <a:pt x="465201" y="1700784"/>
                  </a:cubicBezTo>
                  <a:cubicBezTo>
                    <a:pt x="472821" y="1685544"/>
                    <a:pt x="495681" y="1677924"/>
                    <a:pt x="518541" y="1685544"/>
                  </a:cubicBezTo>
                  <a:cubicBezTo>
                    <a:pt x="533781" y="1700784"/>
                    <a:pt x="541401" y="1723644"/>
                    <a:pt x="526161" y="1739011"/>
                  </a:cubicBezTo>
                  <a:cubicBezTo>
                    <a:pt x="518541" y="1754251"/>
                    <a:pt x="510921" y="1761871"/>
                    <a:pt x="495681" y="1761871"/>
                  </a:cubicBezTo>
                  <a:cubicBezTo>
                    <a:pt x="488061" y="1761871"/>
                    <a:pt x="480441" y="1754251"/>
                    <a:pt x="480441" y="1754251"/>
                  </a:cubicBezTo>
                  <a:close/>
                  <a:moveTo>
                    <a:pt x="6199886" y="1578737"/>
                  </a:moveTo>
                  <a:cubicBezTo>
                    <a:pt x="6199886" y="1571117"/>
                    <a:pt x="6199886" y="1571117"/>
                    <a:pt x="6199886" y="1571117"/>
                  </a:cubicBezTo>
                  <a:cubicBezTo>
                    <a:pt x="6184646" y="1555877"/>
                    <a:pt x="6192266" y="1533017"/>
                    <a:pt x="6207506" y="1517650"/>
                  </a:cubicBezTo>
                  <a:cubicBezTo>
                    <a:pt x="6230366" y="1510030"/>
                    <a:pt x="6253226" y="1510030"/>
                    <a:pt x="6260846" y="1532890"/>
                  </a:cubicBezTo>
                  <a:cubicBezTo>
                    <a:pt x="6268466" y="1532890"/>
                    <a:pt x="6268466" y="1532890"/>
                    <a:pt x="6268466" y="1532890"/>
                  </a:cubicBezTo>
                  <a:cubicBezTo>
                    <a:pt x="6276086" y="1555750"/>
                    <a:pt x="6276086" y="1578610"/>
                    <a:pt x="6253226" y="1586357"/>
                  </a:cubicBezTo>
                  <a:cubicBezTo>
                    <a:pt x="6245606" y="1593977"/>
                    <a:pt x="6237986" y="1593977"/>
                    <a:pt x="6230366" y="1593977"/>
                  </a:cubicBezTo>
                  <a:cubicBezTo>
                    <a:pt x="6222746" y="1593977"/>
                    <a:pt x="6207506" y="1586357"/>
                    <a:pt x="6199886" y="1578737"/>
                  </a:cubicBezTo>
                  <a:close/>
                  <a:moveTo>
                    <a:pt x="587248" y="1571117"/>
                  </a:moveTo>
                  <a:cubicBezTo>
                    <a:pt x="572008" y="1555877"/>
                    <a:pt x="564388" y="1533017"/>
                    <a:pt x="579628" y="1517650"/>
                  </a:cubicBezTo>
                  <a:cubicBezTo>
                    <a:pt x="587248" y="1502410"/>
                    <a:pt x="610108" y="1494790"/>
                    <a:pt x="632968" y="1510030"/>
                  </a:cubicBezTo>
                  <a:cubicBezTo>
                    <a:pt x="648208" y="1517650"/>
                    <a:pt x="655828" y="1540510"/>
                    <a:pt x="640588" y="1563497"/>
                  </a:cubicBezTo>
                  <a:cubicBezTo>
                    <a:pt x="632968" y="1571117"/>
                    <a:pt x="625348" y="1578737"/>
                    <a:pt x="610108" y="1578737"/>
                  </a:cubicBezTo>
                  <a:cubicBezTo>
                    <a:pt x="602488" y="1578737"/>
                    <a:pt x="594868" y="1578737"/>
                    <a:pt x="587248" y="1571117"/>
                  </a:cubicBezTo>
                  <a:close/>
                  <a:moveTo>
                    <a:pt x="6077839" y="1403223"/>
                  </a:moveTo>
                  <a:cubicBezTo>
                    <a:pt x="6062599" y="1380363"/>
                    <a:pt x="6070219" y="1357503"/>
                    <a:pt x="6085459" y="1349756"/>
                  </a:cubicBezTo>
                  <a:cubicBezTo>
                    <a:pt x="6100699" y="1334516"/>
                    <a:pt x="6123559" y="1334516"/>
                    <a:pt x="6138799" y="1357376"/>
                  </a:cubicBezTo>
                  <a:cubicBezTo>
                    <a:pt x="6146419" y="1372616"/>
                    <a:pt x="6146419" y="1395476"/>
                    <a:pt x="6131179" y="1410843"/>
                  </a:cubicBezTo>
                  <a:cubicBezTo>
                    <a:pt x="6123559" y="1410843"/>
                    <a:pt x="6115939" y="1418463"/>
                    <a:pt x="6108319" y="1418463"/>
                  </a:cubicBezTo>
                  <a:cubicBezTo>
                    <a:pt x="6093079" y="1418463"/>
                    <a:pt x="6085459" y="1410843"/>
                    <a:pt x="6077839" y="1403223"/>
                  </a:cubicBezTo>
                  <a:close/>
                  <a:moveTo>
                    <a:pt x="709168" y="1395603"/>
                  </a:moveTo>
                  <a:cubicBezTo>
                    <a:pt x="693928" y="1380363"/>
                    <a:pt x="693928" y="1357503"/>
                    <a:pt x="701548" y="1342136"/>
                  </a:cubicBezTo>
                  <a:cubicBezTo>
                    <a:pt x="716788" y="1326896"/>
                    <a:pt x="739648" y="1319276"/>
                    <a:pt x="754888" y="1334516"/>
                  </a:cubicBezTo>
                  <a:cubicBezTo>
                    <a:pt x="777748" y="1349756"/>
                    <a:pt x="777748" y="1372616"/>
                    <a:pt x="762508" y="1387983"/>
                  </a:cubicBezTo>
                  <a:cubicBezTo>
                    <a:pt x="754888" y="1395603"/>
                    <a:pt x="747268" y="1403223"/>
                    <a:pt x="732028" y="1403223"/>
                  </a:cubicBezTo>
                  <a:cubicBezTo>
                    <a:pt x="724408" y="1403223"/>
                    <a:pt x="716788" y="1403223"/>
                    <a:pt x="709168" y="1395603"/>
                  </a:cubicBezTo>
                  <a:close/>
                  <a:moveTo>
                    <a:pt x="5940552" y="1235456"/>
                  </a:moveTo>
                  <a:cubicBezTo>
                    <a:pt x="5932932" y="1220216"/>
                    <a:pt x="5932932" y="1197356"/>
                    <a:pt x="5948172" y="1181989"/>
                  </a:cubicBezTo>
                  <a:cubicBezTo>
                    <a:pt x="5963412" y="1166749"/>
                    <a:pt x="5986272" y="1166749"/>
                    <a:pt x="6001512" y="1181989"/>
                  </a:cubicBezTo>
                  <a:cubicBezTo>
                    <a:pt x="6016752" y="1204849"/>
                    <a:pt x="6009132" y="1227709"/>
                    <a:pt x="5993892" y="1243076"/>
                  </a:cubicBezTo>
                  <a:cubicBezTo>
                    <a:pt x="5986272" y="1243076"/>
                    <a:pt x="5978652" y="1250696"/>
                    <a:pt x="5971032" y="1250696"/>
                  </a:cubicBezTo>
                  <a:cubicBezTo>
                    <a:pt x="5963412" y="1250696"/>
                    <a:pt x="5948172" y="1243076"/>
                    <a:pt x="5940552" y="1235456"/>
                  </a:cubicBezTo>
                  <a:close/>
                  <a:moveTo>
                    <a:pt x="846455" y="1227836"/>
                  </a:moveTo>
                  <a:cubicBezTo>
                    <a:pt x="831215" y="1212596"/>
                    <a:pt x="831215" y="1189736"/>
                    <a:pt x="838835" y="1174369"/>
                  </a:cubicBezTo>
                  <a:cubicBezTo>
                    <a:pt x="854075" y="1159129"/>
                    <a:pt x="876935" y="1159129"/>
                    <a:pt x="892175" y="1174369"/>
                  </a:cubicBezTo>
                  <a:cubicBezTo>
                    <a:pt x="907415" y="1181989"/>
                    <a:pt x="915035" y="1204849"/>
                    <a:pt x="899795" y="1227836"/>
                  </a:cubicBezTo>
                  <a:cubicBezTo>
                    <a:pt x="892175" y="1235456"/>
                    <a:pt x="884555" y="1235456"/>
                    <a:pt x="869315" y="1235456"/>
                  </a:cubicBezTo>
                  <a:cubicBezTo>
                    <a:pt x="861695" y="1235456"/>
                    <a:pt x="854075" y="1235456"/>
                    <a:pt x="846455" y="1227836"/>
                  </a:cubicBezTo>
                  <a:close/>
                  <a:moveTo>
                    <a:pt x="5803265" y="1082802"/>
                  </a:moveTo>
                  <a:cubicBezTo>
                    <a:pt x="5788025" y="1067562"/>
                    <a:pt x="5788025" y="1037082"/>
                    <a:pt x="5803265" y="1029335"/>
                  </a:cubicBezTo>
                  <a:cubicBezTo>
                    <a:pt x="5818505" y="1014095"/>
                    <a:pt x="5841365" y="1014095"/>
                    <a:pt x="5856605" y="1029335"/>
                  </a:cubicBezTo>
                  <a:cubicBezTo>
                    <a:pt x="5871845" y="1044575"/>
                    <a:pt x="5871845" y="1067435"/>
                    <a:pt x="5856605" y="1082802"/>
                  </a:cubicBezTo>
                  <a:cubicBezTo>
                    <a:pt x="5848985" y="1090422"/>
                    <a:pt x="5833745" y="1090422"/>
                    <a:pt x="5826125" y="1090422"/>
                  </a:cubicBezTo>
                  <a:cubicBezTo>
                    <a:pt x="5818505" y="1090422"/>
                    <a:pt x="5810885" y="1090422"/>
                    <a:pt x="5803265" y="1082802"/>
                  </a:cubicBezTo>
                  <a:close/>
                  <a:moveTo>
                    <a:pt x="991362" y="1067562"/>
                  </a:moveTo>
                  <a:cubicBezTo>
                    <a:pt x="976122" y="1052322"/>
                    <a:pt x="976122" y="1029462"/>
                    <a:pt x="991362" y="1014095"/>
                  </a:cubicBezTo>
                  <a:cubicBezTo>
                    <a:pt x="1006602" y="998855"/>
                    <a:pt x="1029462" y="998855"/>
                    <a:pt x="1044702" y="1014095"/>
                  </a:cubicBezTo>
                  <a:cubicBezTo>
                    <a:pt x="1059942" y="1029335"/>
                    <a:pt x="1059942" y="1052195"/>
                    <a:pt x="1044702" y="1067562"/>
                  </a:cubicBezTo>
                  <a:cubicBezTo>
                    <a:pt x="1037082" y="1075182"/>
                    <a:pt x="1029462" y="1082802"/>
                    <a:pt x="1014222" y="1082802"/>
                  </a:cubicBezTo>
                  <a:cubicBezTo>
                    <a:pt x="1006602" y="1082802"/>
                    <a:pt x="998982" y="1075182"/>
                    <a:pt x="991362" y="1067562"/>
                  </a:cubicBezTo>
                  <a:close/>
                  <a:moveTo>
                    <a:pt x="5643118" y="930275"/>
                  </a:moveTo>
                  <a:cubicBezTo>
                    <a:pt x="5627878" y="922655"/>
                    <a:pt x="5627878" y="892175"/>
                    <a:pt x="5643118" y="876808"/>
                  </a:cubicBezTo>
                  <a:cubicBezTo>
                    <a:pt x="5658358" y="861568"/>
                    <a:pt x="5681218" y="861568"/>
                    <a:pt x="5696458" y="876808"/>
                  </a:cubicBezTo>
                  <a:cubicBezTo>
                    <a:pt x="5711698" y="892048"/>
                    <a:pt x="5711698" y="914908"/>
                    <a:pt x="5704078" y="930275"/>
                  </a:cubicBezTo>
                  <a:cubicBezTo>
                    <a:pt x="5696458" y="937895"/>
                    <a:pt x="5681218" y="945515"/>
                    <a:pt x="5673598" y="945515"/>
                  </a:cubicBezTo>
                  <a:cubicBezTo>
                    <a:pt x="5665978" y="945515"/>
                    <a:pt x="5650738" y="937895"/>
                    <a:pt x="5643118" y="930275"/>
                  </a:cubicBezTo>
                  <a:close/>
                  <a:moveTo>
                    <a:pt x="1143889" y="922655"/>
                  </a:moveTo>
                  <a:cubicBezTo>
                    <a:pt x="1128649" y="907415"/>
                    <a:pt x="1128649" y="876935"/>
                    <a:pt x="1143889" y="869188"/>
                  </a:cubicBezTo>
                  <a:cubicBezTo>
                    <a:pt x="1159129" y="853948"/>
                    <a:pt x="1189609" y="853948"/>
                    <a:pt x="1197229" y="869188"/>
                  </a:cubicBezTo>
                  <a:cubicBezTo>
                    <a:pt x="1212469" y="884428"/>
                    <a:pt x="1212469" y="907288"/>
                    <a:pt x="1197229" y="922655"/>
                  </a:cubicBezTo>
                  <a:cubicBezTo>
                    <a:pt x="1189609" y="930275"/>
                    <a:pt x="1181989" y="930275"/>
                    <a:pt x="1174369" y="930275"/>
                  </a:cubicBezTo>
                  <a:cubicBezTo>
                    <a:pt x="1159129" y="930275"/>
                    <a:pt x="1151509" y="930275"/>
                    <a:pt x="1143889" y="922655"/>
                  </a:cubicBezTo>
                  <a:close/>
                  <a:moveTo>
                    <a:pt x="5482971" y="792861"/>
                  </a:moveTo>
                  <a:cubicBezTo>
                    <a:pt x="5467731" y="785241"/>
                    <a:pt x="5467731" y="762381"/>
                    <a:pt x="5475351" y="739394"/>
                  </a:cubicBezTo>
                  <a:cubicBezTo>
                    <a:pt x="5490591" y="724154"/>
                    <a:pt x="5513451" y="724154"/>
                    <a:pt x="5528691" y="739394"/>
                  </a:cubicBezTo>
                  <a:cubicBezTo>
                    <a:pt x="5551551" y="747014"/>
                    <a:pt x="5551551" y="769874"/>
                    <a:pt x="5536311" y="792861"/>
                  </a:cubicBezTo>
                  <a:cubicBezTo>
                    <a:pt x="5528691" y="800481"/>
                    <a:pt x="5521071" y="808101"/>
                    <a:pt x="5505831" y="808101"/>
                  </a:cubicBezTo>
                  <a:cubicBezTo>
                    <a:pt x="5498211" y="808101"/>
                    <a:pt x="5490591" y="800481"/>
                    <a:pt x="5482971" y="792861"/>
                  </a:cubicBezTo>
                  <a:close/>
                  <a:moveTo>
                    <a:pt x="1304036" y="777621"/>
                  </a:moveTo>
                  <a:cubicBezTo>
                    <a:pt x="1296416" y="762381"/>
                    <a:pt x="1296416" y="739521"/>
                    <a:pt x="1311656" y="724154"/>
                  </a:cubicBezTo>
                  <a:cubicBezTo>
                    <a:pt x="1326896" y="716534"/>
                    <a:pt x="1349756" y="716534"/>
                    <a:pt x="1364996" y="731774"/>
                  </a:cubicBezTo>
                  <a:cubicBezTo>
                    <a:pt x="1380236" y="747014"/>
                    <a:pt x="1372616" y="777494"/>
                    <a:pt x="1357376" y="785241"/>
                  </a:cubicBezTo>
                  <a:cubicBezTo>
                    <a:pt x="1349756" y="792861"/>
                    <a:pt x="1342136" y="792861"/>
                    <a:pt x="1334516" y="792861"/>
                  </a:cubicBezTo>
                  <a:cubicBezTo>
                    <a:pt x="1326896" y="792861"/>
                    <a:pt x="1311656" y="792861"/>
                    <a:pt x="1304036" y="777621"/>
                  </a:cubicBezTo>
                  <a:close/>
                  <a:moveTo>
                    <a:pt x="5315204" y="670814"/>
                  </a:moveTo>
                  <a:cubicBezTo>
                    <a:pt x="5299964" y="655574"/>
                    <a:pt x="5292344" y="632714"/>
                    <a:pt x="5307584" y="617347"/>
                  </a:cubicBezTo>
                  <a:cubicBezTo>
                    <a:pt x="5315204" y="602107"/>
                    <a:pt x="5338064" y="594487"/>
                    <a:pt x="5360924" y="609727"/>
                  </a:cubicBezTo>
                  <a:cubicBezTo>
                    <a:pt x="5376164" y="617347"/>
                    <a:pt x="5376164" y="640207"/>
                    <a:pt x="5368544" y="663194"/>
                  </a:cubicBezTo>
                  <a:cubicBezTo>
                    <a:pt x="5360924" y="670814"/>
                    <a:pt x="5345684" y="678434"/>
                    <a:pt x="5338064" y="678434"/>
                  </a:cubicBezTo>
                  <a:cubicBezTo>
                    <a:pt x="5330444" y="678434"/>
                    <a:pt x="5322824" y="678434"/>
                    <a:pt x="5315204" y="670814"/>
                  </a:cubicBezTo>
                  <a:close/>
                  <a:moveTo>
                    <a:pt x="1479423" y="655574"/>
                  </a:moveTo>
                  <a:cubicBezTo>
                    <a:pt x="1464183" y="632714"/>
                    <a:pt x="1471803" y="609854"/>
                    <a:pt x="1487043" y="602107"/>
                  </a:cubicBezTo>
                  <a:cubicBezTo>
                    <a:pt x="1502283" y="586867"/>
                    <a:pt x="1525143" y="594487"/>
                    <a:pt x="1540383" y="609727"/>
                  </a:cubicBezTo>
                  <a:cubicBezTo>
                    <a:pt x="1548003" y="624967"/>
                    <a:pt x="1548003" y="647827"/>
                    <a:pt x="1532763" y="663194"/>
                  </a:cubicBezTo>
                  <a:cubicBezTo>
                    <a:pt x="1525143" y="663194"/>
                    <a:pt x="1517523" y="670814"/>
                    <a:pt x="1509903" y="670814"/>
                  </a:cubicBezTo>
                  <a:cubicBezTo>
                    <a:pt x="1494663" y="670814"/>
                    <a:pt x="1487043" y="663194"/>
                    <a:pt x="1479423" y="655574"/>
                  </a:cubicBezTo>
                  <a:close/>
                  <a:moveTo>
                    <a:pt x="5139817" y="556387"/>
                  </a:moveTo>
                  <a:cubicBezTo>
                    <a:pt x="5116957" y="541147"/>
                    <a:pt x="5109337" y="518287"/>
                    <a:pt x="5124577" y="502920"/>
                  </a:cubicBezTo>
                  <a:cubicBezTo>
                    <a:pt x="5132197" y="487680"/>
                    <a:pt x="5155057" y="480060"/>
                    <a:pt x="5177917" y="487680"/>
                  </a:cubicBezTo>
                  <a:cubicBezTo>
                    <a:pt x="5193157" y="502920"/>
                    <a:pt x="5200777" y="525780"/>
                    <a:pt x="5185537" y="541147"/>
                  </a:cubicBezTo>
                  <a:cubicBezTo>
                    <a:pt x="5185537" y="556387"/>
                    <a:pt x="5170297" y="564007"/>
                    <a:pt x="5155057" y="564007"/>
                  </a:cubicBezTo>
                  <a:cubicBezTo>
                    <a:pt x="5147437" y="564007"/>
                    <a:pt x="5139817" y="556387"/>
                    <a:pt x="5139817" y="556387"/>
                  </a:cubicBezTo>
                  <a:close/>
                  <a:moveTo>
                    <a:pt x="1654810" y="533527"/>
                  </a:moveTo>
                  <a:cubicBezTo>
                    <a:pt x="1647190" y="518287"/>
                    <a:pt x="1654810" y="495427"/>
                    <a:pt x="1670050" y="480060"/>
                  </a:cubicBezTo>
                  <a:cubicBezTo>
                    <a:pt x="1685290" y="472440"/>
                    <a:pt x="1708150" y="480060"/>
                    <a:pt x="1723390" y="495300"/>
                  </a:cubicBezTo>
                  <a:cubicBezTo>
                    <a:pt x="1731010" y="510540"/>
                    <a:pt x="1723390" y="533400"/>
                    <a:pt x="1708150" y="548767"/>
                  </a:cubicBezTo>
                  <a:cubicBezTo>
                    <a:pt x="1700530" y="548767"/>
                    <a:pt x="1692910" y="556387"/>
                    <a:pt x="1685290" y="556387"/>
                  </a:cubicBezTo>
                  <a:cubicBezTo>
                    <a:pt x="1677670" y="556387"/>
                    <a:pt x="1662430" y="548767"/>
                    <a:pt x="1654810" y="533527"/>
                  </a:cubicBezTo>
                  <a:close/>
                  <a:moveTo>
                    <a:pt x="4949190" y="449580"/>
                  </a:moveTo>
                  <a:cubicBezTo>
                    <a:pt x="4933950" y="441960"/>
                    <a:pt x="4926330" y="419100"/>
                    <a:pt x="4933950" y="403860"/>
                  </a:cubicBezTo>
                  <a:cubicBezTo>
                    <a:pt x="4949190" y="381000"/>
                    <a:pt x="4972050" y="373380"/>
                    <a:pt x="4987290" y="381000"/>
                  </a:cubicBezTo>
                  <a:cubicBezTo>
                    <a:pt x="5002530" y="396240"/>
                    <a:pt x="5010150" y="419100"/>
                    <a:pt x="5002530" y="434467"/>
                  </a:cubicBezTo>
                  <a:cubicBezTo>
                    <a:pt x="4994910" y="449707"/>
                    <a:pt x="4979670" y="457327"/>
                    <a:pt x="4972050" y="457327"/>
                  </a:cubicBezTo>
                  <a:cubicBezTo>
                    <a:pt x="4964430" y="457327"/>
                    <a:pt x="4956810" y="457327"/>
                    <a:pt x="4949190" y="449707"/>
                  </a:cubicBezTo>
                  <a:close/>
                  <a:moveTo>
                    <a:pt x="1845437" y="426847"/>
                  </a:moveTo>
                  <a:cubicBezTo>
                    <a:pt x="1830197" y="411607"/>
                    <a:pt x="1837817" y="388747"/>
                    <a:pt x="1860677" y="381127"/>
                  </a:cubicBezTo>
                  <a:cubicBezTo>
                    <a:pt x="1875917" y="365887"/>
                    <a:pt x="1898777" y="373507"/>
                    <a:pt x="1906397" y="396367"/>
                  </a:cubicBezTo>
                  <a:cubicBezTo>
                    <a:pt x="1921637" y="411607"/>
                    <a:pt x="1914017" y="434467"/>
                    <a:pt x="1891157" y="442087"/>
                  </a:cubicBezTo>
                  <a:cubicBezTo>
                    <a:pt x="1891157" y="449707"/>
                    <a:pt x="1883537" y="449707"/>
                    <a:pt x="1875917" y="449707"/>
                  </a:cubicBezTo>
                  <a:cubicBezTo>
                    <a:pt x="1860677" y="449707"/>
                    <a:pt x="1845437" y="442087"/>
                    <a:pt x="1845437" y="426847"/>
                  </a:cubicBezTo>
                  <a:close/>
                  <a:moveTo>
                    <a:pt x="4758563" y="358140"/>
                  </a:moveTo>
                  <a:cubicBezTo>
                    <a:pt x="4743323" y="350520"/>
                    <a:pt x="4735703" y="327660"/>
                    <a:pt x="4743323" y="312420"/>
                  </a:cubicBezTo>
                  <a:cubicBezTo>
                    <a:pt x="4750943" y="289560"/>
                    <a:pt x="4773803" y="281940"/>
                    <a:pt x="4789043" y="289560"/>
                  </a:cubicBezTo>
                  <a:cubicBezTo>
                    <a:pt x="4811903" y="297180"/>
                    <a:pt x="4819523" y="320040"/>
                    <a:pt x="4811903" y="343027"/>
                  </a:cubicBezTo>
                  <a:cubicBezTo>
                    <a:pt x="4804283" y="358267"/>
                    <a:pt x="4789043" y="365887"/>
                    <a:pt x="4773803" y="365887"/>
                  </a:cubicBezTo>
                  <a:cubicBezTo>
                    <a:pt x="4773803" y="365887"/>
                    <a:pt x="4766183" y="365887"/>
                    <a:pt x="4758563" y="358267"/>
                  </a:cubicBezTo>
                  <a:close/>
                  <a:moveTo>
                    <a:pt x="2036064" y="335407"/>
                  </a:moveTo>
                  <a:cubicBezTo>
                    <a:pt x="2028444" y="312547"/>
                    <a:pt x="2036064" y="289687"/>
                    <a:pt x="2051304" y="281940"/>
                  </a:cubicBezTo>
                  <a:cubicBezTo>
                    <a:pt x="2074164" y="274320"/>
                    <a:pt x="2097024" y="281940"/>
                    <a:pt x="2104644" y="304800"/>
                  </a:cubicBezTo>
                  <a:cubicBezTo>
                    <a:pt x="2112264" y="320040"/>
                    <a:pt x="2104644" y="342900"/>
                    <a:pt x="2081784" y="358267"/>
                  </a:cubicBezTo>
                  <a:cubicBezTo>
                    <a:pt x="2081784" y="358267"/>
                    <a:pt x="2074164" y="358267"/>
                    <a:pt x="2066544" y="358267"/>
                  </a:cubicBezTo>
                  <a:cubicBezTo>
                    <a:pt x="2051304" y="358267"/>
                    <a:pt x="2043684" y="350647"/>
                    <a:pt x="2036064" y="335407"/>
                  </a:cubicBezTo>
                  <a:close/>
                  <a:moveTo>
                    <a:pt x="4567809" y="281940"/>
                  </a:moveTo>
                  <a:cubicBezTo>
                    <a:pt x="4544949" y="274320"/>
                    <a:pt x="4537329" y="251460"/>
                    <a:pt x="4544949" y="228473"/>
                  </a:cubicBezTo>
                  <a:cubicBezTo>
                    <a:pt x="4552569" y="213233"/>
                    <a:pt x="4567809" y="205613"/>
                    <a:pt x="4590669" y="213233"/>
                  </a:cubicBezTo>
                  <a:cubicBezTo>
                    <a:pt x="4613529" y="213233"/>
                    <a:pt x="4621149" y="236093"/>
                    <a:pt x="4613529" y="258953"/>
                  </a:cubicBezTo>
                  <a:cubicBezTo>
                    <a:pt x="4605909" y="274193"/>
                    <a:pt x="4590669" y="281813"/>
                    <a:pt x="4575429" y="281813"/>
                  </a:cubicBezTo>
                  <a:cubicBezTo>
                    <a:pt x="4575429" y="281813"/>
                    <a:pt x="4567809" y="281813"/>
                    <a:pt x="4567809" y="281813"/>
                  </a:cubicBezTo>
                  <a:close/>
                  <a:moveTo>
                    <a:pt x="2234311" y="251333"/>
                  </a:moveTo>
                  <a:cubicBezTo>
                    <a:pt x="2226691" y="236093"/>
                    <a:pt x="2234311" y="213233"/>
                    <a:pt x="2257171" y="205613"/>
                  </a:cubicBezTo>
                  <a:cubicBezTo>
                    <a:pt x="2272411" y="197993"/>
                    <a:pt x="2295271" y="205613"/>
                    <a:pt x="2302891" y="228473"/>
                  </a:cubicBezTo>
                  <a:cubicBezTo>
                    <a:pt x="2310511" y="243713"/>
                    <a:pt x="2302891" y="266573"/>
                    <a:pt x="2280031" y="274193"/>
                  </a:cubicBezTo>
                  <a:cubicBezTo>
                    <a:pt x="2280031" y="274193"/>
                    <a:pt x="2272411" y="281813"/>
                    <a:pt x="2272411" y="281813"/>
                  </a:cubicBezTo>
                  <a:cubicBezTo>
                    <a:pt x="2249551" y="281813"/>
                    <a:pt x="2241931" y="266573"/>
                    <a:pt x="2234311" y="251333"/>
                  </a:cubicBezTo>
                  <a:close/>
                  <a:moveTo>
                    <a:pt x="4361942" y="213233"/>
                  </a:moveTo>
                  <a:cubicBezTo>
                    <a:pt x="4346702" y="205613"/>
                    <a:pt x="4331462" y="190373"/>
                    <a:pt x="4339082" y="167513"/>
                  </a:cubicBezTo>
                  <a:cubicBezTo>
                    <a:pt x="4346702" y="144653"/>
                    <a:pt x="4361942" y="137033"/>
                    <a:pt x="4384802" y="144653"/>
                  </a:cubicBezTo>
                  <a:cubicBezTo>
                    <a:pt x="4407662" y="144653"/>
                    <a:pt x="4415282" y="167513"/>
                    <a:pt x="4407662" y="190373"/>
                  </a:cubicBezTo>
                  <a:cubicBezTo>
                    <a:pt x="4407662" y="205613"/>
                    <a:pt x="4392422" y="213233"/>
                    <a:pt x="4377182" y="213233"/>
                  </a:cubicBezTo>
                  <a:cubicBezTo>
                    <a:pt x="4369562" y="213233"/>
                    <a:pt x="4369562" y="213233"/>
                    <a:pt x="4361942" y="213233"/>
                  </a:cubicBezTo>
                  <a:close/>
                  <a:moveTo>
                    <a:pt x="2432558" y="182753"/>
                  </a:moveTo>
                  <a:cubicBezTo>
                    <a:pt x="2432558" y="167513"/>
                    <a:pt x="2440178" y="144653"/>
                    <a:pt x="2463038" y="137033"/>
                  </a:cubicBezTo>
                  <a:cubicBezTo>
                    <a:pt x="2478278" y="129413"/>
                    <a:pt x="2501138" y="144653"/>
                    <a:pt x="2508758" y="159893"/>
                  </a:cubicBezTo>
                  <a:cubicBezTo>
                    <a:pt x="2516378" y="182753"/>
                    <a:pt x="2501138" y="205613"/>
                    <a:pt x="2485898" y="213360"/>
                  </a:cubicBezTo>
                  <a:cubicBezTo>
                    <a:pt x="2478278" y="213360"/>
                    <a:pt x="2478278" y="213360"/>
                    <a:pt x="2470658" y="213360"/>
                  </a:cubicBezTo>
                  <a:cubicBezTo>
                    <a:pt x="2455418" y="213360"/>
                    <a:pt x="2440178" y="198120"/>
                    <a:pt x="2432558" y="182880"/>
                  </a:cubicBezTo>
                  <a:close/>
                  <a:moveTo>
                    <a:pt x="4155948" y="160020"/>
                  </a:moveTo>
                  <a:cubicBezTo>
                    <a:pt x="4140708" y="160020"/>
                    <a:pt x="4125468" y="137160"/>
                    <a:pt x="4133088" y="114300"/>
                  </a:cubicBezTo>
                  <a:cubicBezTo>
                    <a:pt x="4133088" y="91440"/>
                    <a:pt x="4155948" y="83820"/>
                    <a:pt x="4178808" y="83820"/>
                  </a:cubicBezTo>
                  <a:cubicBezTo>
                    <a:pt x="4194048" y="91440"/>
                    <a:pt x="4209288" y="114300"/>
                    <a:pt x="4201668" y="129540"/>
                  </a:cubicBezTo>
                  <a:cubicBezTo>
                    <a:pt x="4201668" y="152400"/>
                    <a:pt x="4186428" y="160020"/>
                    <a:pt x="4163568" y="160020"/>
                  </a:cubicBezTo>
                  <a:cubicBezTo>
                    <a:pt x="4163568" y="160020"/>
                    <a:pt x="4163568" y="160020"/>
                    <a:pt x="4155948" y="160020"/>
                  </a:cubicBezTo>
                  <a:close/>
                  <a:moveTo>
                    <a:pt x="2646045" y="129540"/>
                  </a:moveTo>
                  <a:cubicBezTo>
                    <a:pt x="2638425" y="106680"/>
                    <a:pt x="2653665" y="91440"/>
                    <a:pt x="2668905" y="83820"/>
                  </a:cubicBezTo>
                  <a:cubicBezTo>
                    <a:pt x="2691765" y="76200"/>
                    <a:pt x="2714625" y="91440"/>
                    <a:pt x="2714625" y="114300"/>
                  </a:cubicBezTo>
                  <a:cubicBezTo>
                    <a:pt x="2722245" y="129540"/>
                    <a:pt x="2707005" y="152400"/>
                    <a:pt x="2684145" y="160020"/>
                  </a:cubicBezTo>
                  <a:cubicBezTo>
                    <a:pt x="2684145" y="160020"/>
                    <a:pt x="2684145" y="160020"/>
                    <a:pt x="2676525" y="160020"/>
                  </a:cubicBezTo>
                  <a:cubicBezTo>
                    <a:pt x="2661285" y="160020"/>
                    <a:pt x="2646045" y="144780"/>
                    <a:pt x="2646045" y="129540"/>
                  </a:cubicBezTo>
                  <a:close/>
                  <a:moveTo>
                    <a:pt x="3950081" y="121920"/>
                  </a:moveTo>
                  <a:cubicBezTo>
                    <a:pt x="3927221" y="114300"/>
                    <a:pt x="3919601" y="99060"/>
                    <a:pt x="3919601" y="76200"/>
                  </a:cubicBezTo>
                  <a:cubicBezTo>
                    <a:pt x="3919601" y="53340"/>
                    <a:pt x="3942461" y="45720"/>
                    <a:pt x="3965321" y="45720"/>
                  </a:cubicBezTo>
                  <a:cubicBezTo>
                    <a:pt x="3980561" y="45720"/>
                    <a:pt x="3995801" y="68580"/>
                    <a:pt x="3995801" y="91440"/>
                  </a:cubicBezTo>
                  <a:cubicBezTo>
                    <a:pt x="3988181" y="106680"/>
                    <a:pt x="3972941" y="121920"/>
                    <a:pt x="3957701" y="121920"/>
                  </a:cubicBezTo>
                  <a:cubicBezTo>
                    <a:pt x="3957701" y="121920"/>
                    <a:pt x="3950081" y="121920"/>
                    <a:pt x="3950081" y="121920"/>
                  </a:cubicBezTo>
                  <a:close/>
                  <a:moveTo>
                    <a:pt x="2851912" y="83820"/>
                  </a:moveTo>
                  <a:cubicBezTo>
                    <a:pt x="2851912" y="68580"/>
                    <a:pt x="2867152" y="45720"/>
                    <a:pt x="2882392" y="45720"/>
                  </a:cubicBezTo>
                  <a:cubicBezTo>
                    <a:pt x="2905252" y="38100"/>
                    <a:pt x="2928112" y="53340"/>
                    <a:pt x="2928112" y="76200"/>
                  </a:cubicBezTo>
                  <a:cubicBezTo>
                    <a:pt x="2928112" y="99060"/>
                    <a:pt x="2920492" y="114300"/>
                    <a:pt x="2897632" y="121920"/>
                  </a:cubicBezTo>
                  <a:cubicBezTo>
                    <a:pt x="2897632" y="121920"/>
                    <a:pt x="2890012" y="121920"/>
                    <a:pt x="2890012" y="121920"/>
                  </a:cubicBezTo>
                  <a:cubicBezTo>
                    <a:pt x="2874772" y="121920"/>
                    <a:pt x="2851912" y="106680"/>
                    <a:pt x="2851912" y="83820"/>
                  </a:cubicBezTo>
                  <a:close/>
                  <a:moveTo>
                    <a:pt x="3744087" y="91440"/>
                  </a:moveTo>
                  <a:cubicBezTo>
                    <a:pt x="3721227" y="91440"/>
                    <a:pt x="3705987" y="76200"/>
                    <a:pt x="3705987" y="53340"/>
                  </a:cubicBezTo>
                  <a:cubicBezTo>
                    <a:pt x="3705987" y="30480"/>
                    <a:pt x="3728847" y="15240"/>
                    <a:pt x="3751707" y="15240"/>
                  </a:cubicBezTo>
                  <a:cubicBezTo>
                    <a:pt x="3766947" y="22860"/>
                    <a:pt x="3782187" y="38100"/>
                    <a:pt x="3782187" y="60960"/>
                  </a:cubicBezTo>
                  <a:cubicBezTo>
                    <a:pt x="3782187" y="76200"/>
                    <a:pt x="3766947" y="91440"/>
                    <a:pt x="3744087" y="91440"/>
                  </a:cubicBezTo>
                  <a:close/>
                  <a:moveTo>
                    <a:pt x="3065399" y="60960"/>
                  </a:moveTo>
                  <a:cubicBezTo>
                    <a:pt x="3065399" y="38100"/>
                    <a:pt x="3080639" y="15240"/>
                    <a:pt x="3095879" y="15240"/>
                  </a:cubicBezTo>
                  <a:cubicBezTo>
                    <a:pt x="3118739" y="15240"/>
                    <a:pt x="3141599" y="30480"/>
                    <a:pt x="3141599" y="53340"/>
                  </a:cubicBezTo>
                  <a:cubicBezTo>
                    <a:pt x="3141599" y="68580"/>
                    <a:pt x="3126359" y="91440"/>
                    <a:pt x="3103499" y="91440"/>
                  </a:cubicBezTo>
                  <a:cubicBezTo>
                    <a:pt x="3080639" y="91440"/>
                    <a:pt x="3065399" y="76200"/>
                    <a:pt x="3065399" y="60960"/>
                  </a:cubicBezTo>
                  <a:close/>
                  <a:moveTo>
                    <a:pt x="3530600" y="83820"/>
                  </a:moveTo>
                  <a:cubicBezTo>
                    <a:pt x="3507740" y="76200"/>
                    <a:pt x="3492500" y="60960"/>
                    <a:pt x="3492500" y="38100"/>
                  </a:cubicBezTo>
                  <a:cubicBezTo>
                    <a:pt x="3492500" y="22860"/>
                    <a:pt x="3507740" y="0"/>
                    <a:pt x="3530600" y="7620"/>
                  </a:cubicBezTo>
                  <a:cubicBezTo>
                    <a:pt x="3553460" y="7620"/>
                    <a:pt x="3568700" y="22860"/>
                    <a:pt x="3568700" y="45720"/>
                  </a:cubicBezTo>
                  <a:cubicBezTo>
                    <a:pt x="3568700" y="60960"/>
                    <a:pt x="3553460" y="83820"/>
                    <a:pt x="3530600" y="83820"/>
                  </a:cubicBezTo>
                  <a:close/>
                  <a:moveTo>
                    <a:pt x="3278886" y="45720"/>
                  </a:moveTo>
                  <a:cubicBezTo>
                    <a:pt x="3278886" y="22860"/>
                    <a:pt x="3294126" y="7620"/>
                    <a:pt x="3316986" y="0"/>
                  </a:cubicBezTo>
                  <a:cubicBezTo>
                    <a:pt x="3339846" y="0"/>
                    <a:pt x="3355086" y="22860"/>
                    <a:pt x="3355086" y="38100"/>
                  </a:cubicBezTo>
                  <a:cubicBezTo>
                    <a:pt x="3355086" y="60960"/>
                    <a:pt x="3339846" y="76200"/>
                    <a:pt x="3316986" y="76200"/>
                  </a:cubicBezTo>
                  <a:cubicBezTo>
                    <a:pt x="3294126" y="76200"/>
                    <a:pt x="3278886" y="60960"/>
                    <a:pt x="3278886" y="45720"/>
                  </a:cubicBezTo>
                  <a:close/>
                </a:path>
              </a:pathLst>
            </a:custGeom>
            <a:solidFill>
              <a:srgbClr val="BFBFBF"/>
            </a:solidFill>
          </p:spPr>
          <p:txBody>
            <a:bodyPr/>
            <a:lstStyle/>
            <a:p>
              <a:endParaRPr lang="fr-SN">
                <a:latin typeface="Arial" panose="020B0604020202020204" pitchFamily="34" charset="0"/>
                <a:cs typeface="Arial" panose="020B0604020202020204" pitchFamily="34" charset="0"/>
              </a:endParaRPr>
            </a:p>
          </p:txBody>
        </p:sp>
      </p:grpSp>
      <p:grpSp>
        <p:nvGrpSpPr>
          <p:cNvPr id="5" name="Group 5"/>
          <p:cNvGrpSpPr/>
          <p:nvPr/>
        </p:nvGrpSpPr>
        <p:grpSpPr>
          <a:xfrm>
            <a:off x="11094230" y="6369201"/>
            <a:ext cx="1244889" cy="1241912"/>
            <a:chOff x="0" y="0"/>
            <a:chExt cx="2409120" cy="2403360"/>
          </a:xfrm>
        </p:grpSpPr>
        <p:sp>
          <p:nvSpPr>
            <p:cNvPr id="6" name="Freeform 6"/>
            <p:cNvSpPr/>
            <p:nvPr/>
          </p:nvSpPr>
          <p:spPr>
            <a:xfrm>
              <a:off x="0" y="0"/>
              <a:ext cx="2409190" cy="2403348"/>
            </a:xfrm>
            <a:custGeom>
              <a:avLst/>
              <a:gdLst/>
              <a:ahLst/>
              <a:cxnLst/>
              <a:rect l="l" t="t" r="r" b="b"/>
              <a:pathLst>
                <a:path w="2409190" h="2403348">
                  <a:moveTo>
                    <a:pt x="0" y="1201674"/>
                  </a:moveTo>
                  <a:cubicBezTo>
                    <a:pt x="0" y="537972"/>
                    <a:pt x="539242" y="0"/>
                    <a:pt x="1204595" y="0"/>
                  </a:cubicBezTo>
                  <a:cubicBezTo>
                    <a:pt x="1869948" y="0"/>
                    <a:pt x="2409190" y="537972"/>
                    <a:pt x="2409190" y="1201674"/>
                  </a:cubicBezTo>
                  <a:cubicBezTo>
                    <a:pt x="2409190" y="1865376"/>
                    <a:pt x="1869948" y="2403348"/>
                    <a:pt x="1204595" y="2403348"/>
                  </a:cubicBezTo>
                  <a:cubicBezTo>
                    <a:pt x="539242" y="2403348"/>
                    <a:pt x="0" y="1865376"/>
                    <a:pt x="0" y="1201674"/>
                  </a:cubicBezTo>
                  <a:close/>
                </a:path>
              </a:pathLst>
            </a:custGeom>
            <a:solidFill>
              <a:srgbClr val="47ACEF"/>
            </a:solidFill>
          </p:spPr>
          <p:txBody>
            <a:bodyPr/>
            <a:lstStyle/>
            <a:p>
              <a:endParaRPr lang="fr-SN">
                <a:latin typeface="Arial" panose="020B0604020202020204" pitchFamily="34" charset="0"/>
                <a:cs typeface="Arial" panose="020B0604020202020204" pitchFamily="34" charset="0"/>
              </a:endParaRPr>
            </a:p>
          </p:txBody>
        </p:sp>
      </p:grpSp>
      <p:grpSp>
        <p:nvGrpSpPr>
          <p:cNvPr id="7" name="Group 7"/>
          <p:cNvGrpSpPr/>
          <p:nvPr/>
        </p:nvGrpSpPr>
        <p:grpSpPr>
          <a:xfrm>
            <a:off x="10723293" y="6333112"/>
            <a:ext cx="283876" cy="288713"/>
            <a:chOff x="0" y="0"/>
            <a:chExt cx="549360" cy="558720"/>
          </a:xfrm>
        </p:grpSpPr>
        <p:sp>
          <p:nvSpPr>
            <p:cNvPr id="8" name="Freeform 8"/>
            <p:cNvSpPr/>
            <p:nvPr/>
          </p:nvSpPr>
          <p:spPr>
            <a:xfrm>
              <a:off x="38100" y="38100"/>
              <a:ext cx="473075" cy="482473"/>
            </a:xfrm>
            <a:custGeom>
              <a:avLst/>
              <a:gdLst/>
              <a:ahLst/>
              <a:cxnLst/>
              <a:rect l="l" t="t" r="r" b="b"/>
              <a:pathLst>
                <a:path w="473075" h="482473">
                  <a:moveTo>
                    <a:pt x="0" y="241300"/>
                  </a:moveTo>
                  <a:cubicBezTo>
                    <a:pt x="0" y="108077"/>
                    <a:pt x="105918" y="0"/>
                    <a:pt x="236601" y="0"/>
                  </a:cubicBezTo>
                  <a:cubicBezTo>
                    <a:pt x="367284" y="0"/>
                    <a:pt x="473075" y="108077"/>
                    <a:pt x="473075" y="241300"/>
                  </a:cubicBezTo>
                  <a:cubicBezTo>
                    <a:pt x="473075" y="374523"/>
                    <a:pt x="367157" y="482473"/>
                    <a:pt x="236601" y="482473"/>
                  </a:cubicBezTo>
                  <a:cubicBezTo>
                    <a:pt x="106045" y="482473"/>
                    <a:pt x="0" y="374523"/>
                    <a:pt x="0" y="241300"/>
                  </a:cubicBezTo>
                  <a:close/>
                </a:path>
              </a:pathLst>
            </a:custGeom>
            <a:solidFill>
              <a:srgbClr val="47ACEF"/>
            </a:solidFill>
          </p:spPr>
          <p:txBody>
            <a:bodyPr/>
            <a:lstStyle/>
            <a:p>
              <a:endParaRPr lang="fr-SN">
                <a:latin typeface="Arial" panose="020B0604020202020204" pitchFamily="34" charset="0"/>
                <a:cs typeface="Arial" panose="020B0604020202020204" pitchFamily="34" charset="0"/>
              </a:endParaRPr>
            </a:p>
          </p:txBody>
        </p:sp>
        <p:sp>
          <p:nvSpPr>
            <p:cNvPr id="9" name="Freeform 9"/>
            <p:cNvSpPr/>
            <p:nvPr/>
          </p:nvSpPr>
          <p:spPr>
            <a:xfrm>
              <a:off x="0" y="0"/>
              <a:ext cx="549402" cy="558800"/>
            </a:xfrm>
            <a:custGeom>
              <a:avLst/>
              <a:gdLst/>
              <a:ahLst/>
              <a:cxnLst/>
              <a:rect l="l" t="t" r="r" b="b"/>
              <a:pathLst>
                <a:path w="549402" h="558800">
                  <a:moveTo>
                    <a:pt x="0" y="279400"/>
                  </a:moveTo>
                  <a:cubicBezTo>
                    <a:pt x="0" y="125730"/>
                    <a:pt x="122301" y="0"/>
                    <a:pt x="274701" y="0"/>
                  </a:cubicBezTo>
                  <a:lnTo>
                    <a:pt x="274701" y="38100"/>
                  </a:lnTo>
                  <a:lnTo>
                    <a:pt x="274701" y="0"/>
                  </a:lnTo>
                  <a:cubicBezTo>
                    <a:pt x="427101" y="0"/>
                    <a:pt x="549402" y="125730"/>
                    <a:pt x="549402" y="279400"/>
                  </a:cubicBezTo>
                  <a:lnTo>
                    <a:pt x="511302" y="279400"/>
                  </a:lnTo>
                  <a:lnTo>
                    <a:pt x="549402" y="279400"/>
                  </a:lnTo>
                  <a:cubicBezTo>
                    <a:pt x="549402" y="432943"/>
                    <a:pt x="427101" y="558800"/>
                    <a:pt x="274701" y="558800"/>
                  </a:cubicBezTo>
                  <a:lnTo>
                    <a:pt x="274701" y="520700"/>
                  </a:lnTo>
                  <a:lnTo>
                    <a:pt x="274701" y="558800"/>
                  </a:lnTo>
                  <a:cubicBezTo>
                    <a:pt x="122301" y="558673"/>
                    <a:pt x="0" y="432943"/>
                    <a:pt x="0" y="279400"/>
                  </a:cubicBezTo>
                  <a:lnTo>
                    <a:pt x="38100" y="279400"/>
                  </a:lnTo>
                  <a:lnTo>
                    <a:pt x="76200" y="279400"/>
                  </a:lnTo>
                  <a:lnTo>
                    <a:pt x="38100" y="279400"/>
                  </a:lnTo>
                  <a:lnTo>
                    <a:pt x="0" y="279400"/>
                  </a:lnTo>
                  <a:moveTo>
                    <a:pt x="76327" y="279400"/>
                  </a:moveTo>
                  <a:cubicBezTo>
                    <a:pt x="76327" y="300482"/>
                    <a:pt x="59182" y="317500"/>
                    <a:pt x="38227" y="317500"/>
                  </a:cubicBezTo>
                  <a:cubicBezTo>
                    <a:pt x="17272" y="317500"/>
                    <a:pt x="127" y="300355"/>
                    <a:pt x="127" y="279400"/>
                  </a:cubicBezTo>
                  <a:cubicBezTo>
                    <a:pt x="127" y="258445"/>
                    <a:pt x="17272" y="241300"/>
                    <a:pt x="38227" y="241300"/>
                  </a:cubicBezTo>
                  <a:cubicBezTo>
                    <a:pt x="59182" y="241300"/>
                    <a:pt x="76327" y="258445"/>
                    <a:pt x="76327" y="279400"/>
                  </a:cubicBezTo>
                  <a:cubicBezTo>
                    <a:pt x="76327" y="392303"/>
                    <a:pt x="165862" y="482473"/>
                    <a:pt x="274701" y="482473"/>
                  </a:cubicBezTo>
                  <a:cubicBezTo>
                    <a:pt x="383540" y="482473"/>
                    <a:pt x="473075" y="392176"/>
                    <a:pt x="473075" y="279400"/>
                  </a:cubicBezTo>
                  <a:cubicBezTo>
                    <a:pt x="473075" y="166624"/>
                    <a:pt x="383540" y="76327"/>
                    <a:pt x="274701" y="76327"/>
                  </a:cubicBezTo>
                  <a:lnTo>
                    <a:pt x="274701" y="38100"/>
                  </a:lnTo>
                  <a:lnTo>
                    <a:pt x="274701" y="76200"/>
                  </a:lnTo>
                  <a:cubicBezTo>
                    <a:pt x="165862" y="76327"/>
                    <a:pt x="76327" y="166497"/>
                    <a:pt x="76327" y="279400"/>
                  </a:cubicBezTo>
                  <a:close/>
                </a:path>
              </a:pathLst>
            </a:custGeom>
            <a:solidFill>
              <a:srgbClr val="37C9EF"/>
            </a:solidFill>
          </p:spPr>
          <p:txBody>
            <a:bodyPr/>
            <a:lstStyle/>
            <a:p>
              <a:endParaRPr lang="fr-SN">
                <a:latin typeface="Arial" panose="020B0604020202020204" pitchFamily="34" charset="0"/>
                <a:cs typeface="Arial" panose="020B0604020202020204" pitchFamily="34" charset="0"/>
              </a:endParaRPr>
            </a:p>
          </p:txBody>
        </p:sp>
      </p:grpSp>
      <p:grpSp>
        <p:nvGrpSpPr>
          <p:cNvPr id="10" name="Group 10"/>
          <p:cNvGrpSpPr/>
          <p:nvPr/>
        </p:nvGrpSpPr>
        <p:grpSpPr>
          <a:xfrm>
            <a:off x="10802169" y="6416824"/>
            <a:ext cx="122777" cy="121289"/>
            <a:chOff x="0" y="0"/>
            <a:chExt cx="237600" cy="234720"/>
          </a:xfrm>
        </p:grpSpPr>
        <p:sp>
          <p:nvSpPr>
            <p:cNvPr id="11" name="Freeform 11"/>
            <p:cNvSpPr/>
            <p:nvPr/>
          </p:nvSpPr>
          <p:spPr>
            <a:xfrm>
              <a:off x="0" y="0"/>
              <a:ext cx="237490" cy="234696"/>
            </a:xfrm>
            <a:custGeom>
              <a:avLst/>
              <a:gdLst/>
              <a:ahLst/>
              <a:cxnLst/>
              <a:rect l="l" t="t" r="r" b="b"/>
              <a:pathLst>
                <a:path w="237490" h="234696">
                  <a:moveTo>
                    <a:pt x="0" y="117348"/>
                  </a:moveTo>
                  <a:cubicBezTo>
                    <a:pt x="0" y="52578"/>
                    <a:pt x="53213" y="0"/>
                    <a:pt x="118745" y="0"/>
                  </a:cubicBezTo>
                  <a:cubicBezTo>
                    <a:pt x="184277" y="0"/>
                    <a:pt x="237490" y="52578"/>
                    <a:pt x="237490" y="117348"/>
                  </a:cubicBezTo>
                  <a:cubicBezTo>
                    <a:pt x="237490" y="182118"/>
                    <a:pt x="184277" y="234696"/>
                    <a:pt x="118745" y="234696"/>
                  </a:cubicBezTo>
                  <a:cubicBezTo>
                    <a:pt x="53213" y="234696"/>
                    <a:pt x="0" y="182118"/>
                    <a:pt x="0" y="117348"/>
                  </a:cubicBezTo>
                  <a:close/>
                </a:path>
              </a:pathLst>
            </a:custGeom>
            <a:solidFill>
              <a:srgbClr val="47ACEF"/>
            </a:solidFill>
          </p:spPr>
          <p:txBody>
            <a:bodyPr/>
            <a:lstStyle/>
            <a:p>
              <a:endParaRPr lang="fr-SN">
                <a:latin typeface="Arial" panose="020B0604020202020204" pitchFamily="34" charset="0"/>
                <a:cs typeface="Arial" panose="020B0604020202020204" pitchFamily="34" charset="0"/>
              </a:endParaRPr>
            </a:p>
          </p:txBody>
        </p:sp>
      </p:grpSp>
      <p:grpSp>
        <p:nvGrpSpPr>
          <p:cNvPr id="12" name="Group 12"/>
          <p:cNvGrpSpPr/>
          <p:nvPr/>
        </p:nvGrpSpPr>
        <p:grpSpPr>
          <a:xfrm>
            <a:off x="6013768" y="4927182"/>
            <a:ext cx="1245261" cy="1241912"/>
            <a:chOff x="0" y="0"/>
            <a:chExt cx="2409840" cy="2403360"/>
          </a:xfrm>
        </p:grpSpPr>
        <p:sp>
          <p:nvSpPr>
            <p:cNvPr id="13" name="Freeform 13"/>
            <p:cNvSpPr/>
            <p:nvPr/>
          </p:nvSpPr>
          <p:spPr>
            <a:xfrm>
              <a:off x="0" y="0"/>
              <a:ext cx="2409952" cy="2403348"/>
            </a:xfrm>
            <a:custGeom>
              <a:avLst/>
              <a:gdLst/>
              <a:ahLst/>
              <a:cxnLst/>
              <a:rect l="l" t="t" r="r" b="b"/>
              <a:pathLst>
                <a:path w="2409952" h="2403348">
                  <a:moveTo>
                    <a:pt x="0" y="1201674"/>
                  </a:moveTo>
                  <a:cubicBezTo>
                    <a:pt x="0" y="537972"/>
                    <a:pt x="539496" y="0"/>
                    <a:pt x="1204976" y="0"/>
                  </a:cubicBezTo>
                  <a:cubicBezTo>
                    <a:pt x="1870456" y="0"/>
                    <a:pt x="2409952" y="537972"/>
                    <a:pt x="2409952" y="1201674"/>
                  </a:cubicBezTo>
                  <a:cubicBezTo>
                    <a:pt x="2409952" y="1865376"/>
                    <a:pt x="1870456" y="2403348"/>
                    <a:pt x="1204976" y="2403348"/>
                  </a:cubicBezTo>
                  <a:cubicBezTo>
                    <a:pt x="539496" y="2403348"/>
                    <a:pt x="0" y="1865376"/>
                    <a:pt x="0" y="1201674"/>
                  </a:cubicBezTo>
                  <a:close/>
                </a:path>
              </a:pathLst>
            </a:custGeom>
            <a:solidFill>
              <a:srgbClr val="1970A7"/>
            </a:solidFill>
          </p:spPr>
          <p:txBody>
            <a:bodyPr/>
            <a:lstStyle/>
            <a:p>
              <a:endParaRPr lang="fr-SN">
                <a:latin typeface="Arial" panose="020B0604020202020204" pitchFamily="34" charset="0"/>
                <a:cs typeface="Arial" panose="020B0604020202020204" pitchFamily="34" charset="0"/>
              </a:endParaRPr>
            </a:p>
          </p:txBody>
        </p:sp>
      </p:grpSp>
      <p:grpSp>
        <p:nvGrpSpPr>
          <p:cNvPr id="14" name="Group 14"/>
          <p:cNvGrpSpPr/>
          <p:nvPr/>
        </p:nvGrpSpPr>
        <p:grpSpPr>
          <a:xfrm>
            <a:off x="7427390" y="5448584"/>
            <a:ext cx="337598" cy="343350"/>
            <a:chOff x="0" y="0"/>
            <a:chExt cx="549360" cy="558720"/>
          </a:xfrm>
        </p:grpSpPr>
        <p:sp>
          <p:nvSpPr>
            <p:cNvPr id="15" name="Freeform 15"/>
            <p:cNvSpPr/>
            <p:nvPr/>
          </p:nvSpPr>
          <p:spPr>
            <a:xfrm>
              <a:off x="38100" y="38100"/>
              <a:ext cx="473075" cy="482473"/>
            </a:xfrm>
            <a:custGeom>
              <a:avLst/>
              <a:gdLst/>
              <a:ahLst/>
              <a:cxnLst/>
              <a:rect l="l" t="t" r="r" b="b"/>
              <a:pathLst>
                <a:path w="473075" h="482473">
                  <a:moveTo>
                    <a:pt x="0" y="241300"/>
                  </a:moveTo>
                  <a:cubicBezTo>
                    <a:pt x="0" y="108077"/>
                    <a:pt x="105918" y="0"/>
                    <a:pt x="236601" y="0"/>
                  </a:cubicBezTo>
                  <a:cubicBezTo>
                    <a:pt x="367284" y="0"/>
                    <a:pt x="473075" y="108077"/>
                    <a:pt x="473075" y="241300"/>
                  </a:cubicBezTo>
                  <a:cubicBezTo>
                    <a:pt x="473075" y="374523"/>
                    <a:pt x="367157" y="482473"/>
                    <a:pt x="236601" y="482473"/>
                  </a:cubicBezTo>
                  <a:cubicBezTo>
                    <a:pt x="106045" y="482473"/>
                    <a:pt x="0" y="374523"/>
                    <a:pt x="0" y="241300"/>
                  </a:cubicBezTo>
                  <a:close/>
                </a:path>
              </a:pathLst>
            </a:custGeom>
            <a:solidFill>
              <a:srgbClr val="47ACEF"/>
            </a:solidFill>
          </p:spPr>
          <p:txBody>
            <a:bodyPr/>
            <a:lstStyle/>
            <a:p>
              <a:endParaRPr lang="fr-SN">
                <a:latin typeface="Arial" panose="020B0604020202020204" pitchFamily="34" charset="0"/>
                <a:cs typeface="Arial" panose="020B0604020202020204" pitchFamily="34" charset="0"/>
              </a:endParaRPr>
            </a:p>
          </p:txBody>
        </p:sp>
        <p:sp>
          <p:nvSpPr>
            <p:cNvPr id="16" name="Freeform 16"/>
            <p:cNvSpPr/>
            <p:nvPr/>
          </p:nvSpPr>
          <p:spPr>
            <a:xfrm>
              <a:off x="0" y="0"/>
              <a:ext cx="549402" cy="558800"/>
            </a:xfrm>
            <a:custGeom>
              <a:avLst/>
              <a:gdLst/>
              <a:ahLst/>
              <a:cxnLst/>
              <a:rect l="l" t="t" r="r" b="b"/>
              <a:pathLst>
                <a:path w="549402" h="558800">
                  <a:moveTo>
                    <a:pt x="0" y="279400"/>
                  </a:moveTo>
                  <a:cubicBezTo>
                    <a:pt x="0" y="125730"/>
                    <a:pt x="122301" y="0"/>
                    <a:pt x="274701" y="0"/>
                  </a:cubicBezTo>
                  <a:lnTo>
                    <a:pt x="274701" y="38100"/>
                  </a:lnTo>
                  <a:lnTo>
                    <a:pt x="274701" y="0"/>
                  </a:lnTo>
                  <a:cubicBezTo>
                    <a:pt x="427101" y="0"/>
                    <a:pt x="549402" y="125730"/>
                    <a:pt x="549402" y="279400"/>
                  </a:cubicBezTo>
                  <a:lnTo>
                    <a:pt x="511302" y="279400"/>
                  </a:lnTo>
                  <a:lnTo>
                    <a:pt x="549402" y="279400"/>
                  </a:lnTo>
                  <a:cubicBezTo>
                    <a:pt x="549402" y="432943"/>
                    <a:pt x="427101" y="558800"/>
                    <a:pt x="274701" y="558800"/>
                  </a:cubicBezTo>
                  <a:lnTo>
                    <a:pt x="274701" y="520700"/>
                  </a:lnTo>
                  <a:lnTo>
                    <a:pt x="274701" y="558800"/>
                  </a:lnTo>
                  <a:cubicBezTo>
                    <a:pt x="122301" y="558673"/>
                    <a:pt x="0" y="432943"/>
                    <a:pt x="0" y="279400"/>
                  </a:cubicBezTo>
                  <a:lnTo>
                    <a:pt x="38100" y="279400"/>
                  </a:lnTo>
                  <a:lnTo>
                    <a:pt x="76200" y="279400"/>
                  </a:lnTo>
                  <a:lnTo>
                    <a:pt x="38100" y="279400"/>
                  </a:lnTo>
                  <a:lnTo>
                    <a:pt x="0" y="279400"/>
                  </a:lnTo>
                  <a:moveTo>
                    <a:pt x="76327" y="279400"/>
                  </a:moveTo>
                  <a:cubicBezTo>
                    <a:pt x="76327" y="300482"/>
                    <a:pt x="59182" y="317500"/>
                    <a:pt x="38227" y="317500"/>
                  </a:cubicBezTo>
                  <a:cubicBezTo>
                    <a:pt x="17272" y="317500"/>
                    <a:pt x="127" y="300355"/>
                    <a:pt x="127" y="279400"/>
                  </a:cubicBezTo>
                  <a:cubicBezTo>
                    <a:pt x="127" y="258445"/>
                    <a:pt x="17272" y="241300"/>
                    <a:pt x="38227" y="241300"/>
                  </a:cubicBezTo>
                  <a:cubicBezTo>
                    <a:pt x="59182" y="241300"/>
                    <a:pt x="76327" y="258445"/>
                    <a:pt x="76327" y="279400"/>
                  </a:cubicBezTo>
                  <a:cubicBezTo>
                    <a:pt x="76327" y="392303"/>
                    <a:pt x="165862" y="482473"/>
                    <a:pt x="274701" y="482473"/>
                  </a:cubicBezTo>
                  <a:cubicBezTo>
                    <a:pt x="383540" y="482473"/>
                    <a:pt x="473075" y="392176"/>
                    <a:pt x="473075" y="279400"/>
                  </a:cubicBezTo>
                  <a:cubicBezTo>
                    <a:pt x="473075" y="166624"/>
                    <a:pt x="383540" y="76327"/>
                    <a:pt x="274701" y="76327"/>
                  </a:cubicBezTo>
                  <a:lnTo>
                    <a:pt x="274701" y="38100"/>
                  </a:lnTo>
                  <a:lnTo>
                    <a:pt x="274701" y="76200"/>
                  </a:lnTo>
                  <a:cubicBezTo>
                    <a:pt x="165862" y="76327"/>
                    <a:pt x="76327" y="166497"/>
                    <a:pt x="76327" y="279400"/>
                  </a:cubicBezTo>
                  <a:close/>
                </a:path>
              </a:pathLst>
            </a:custGeom>
            <a:solidFill>
              <a:srgbClr val="37C9EF"/>
            </a:solidFill>
          </p:spPr>
          <p:txBody>
            <a:bodyPr/>
            <a:lstStyle/>
            <a:p>
              <a:endParaRPr lang="fr-SN">
                <a:latin typeface="Arial" panose="020B0604020202020204" pitchFamily="34" charset="0"/>
                <a:cs typeface="Arial" panose="020B0604020202020204" pitchFamily="34" charset="0"/>
              </a:endParaRPr>
            </a:p>
          </p:txBody>
        </p:sp>
      </p:grpSp>
      <p:grpSp>
        <p:nvGrpSpPr>
          <p:cNvPr id="17" name="Group 17"/>
          <p:cNvGrpSpPr/>
          <p:nvPr/>
        </p:nvGrpSpPr>
        <p:grpSpPr>
          <a:xfrm>
            <a:off x="7524732" y="5548138"/>
            <a:ext cx="146455" cy="144242"/>
            <a:chOff x="0" y="0"/>
            <a:chExt cx="238320" cy="234720"/>
          </a:xfrm>
        </p:grpSpPr>
        <p:sp>
          <p:nvSpPr>
            <p:cNvPr id="18" name="Freeform 18"/>
            <p:cNvSpPr/>
            <p:nvPr/>
          </p:nvSpPr>
          <p:spPr>
            <a:xfrm>
              <a:off x="0" y="0"/>
              <a:ext cx="238252" cy="234696"/>
            </a:xfrm>
            <a:custGeom>
              <a:avLst/>
              <a:gdLst/>
              <a:ahLst/>
              <a:cxnLst/>
              <a:rect l="l" t="t" r="r" b="b"/>
              <a:pathLst>
                <a:path w="238252" h="234696">
                  <a:moveTo>
                    <a:pt x="0" y="117348"/>
                  </a:moveTo>
                  <a:cubicBezTo>
                    <a:pt x="0" y="52578"/>
                    <a:pt x="53340" y="0"/>
                    <a:pt x="119126" y="0"/>
                  </a:cubicBezTo>
                  <a:cubicBezTo>
                    <a:pt x="184912" y="0"/>
                    <a:pt x="238252" y="52578"/>
                    <a:pt x="238252" y="117348"/>
                  </a:cubicBezTo>
                  <a:cubicBezTo>
                    <a:pt x="238252" y="182118"/>
                    <a:pt x="184912" y="234696"/>
                    <a:pt x="119126" y="234696"/>
                  </a:cubicBezTo>
                  <a:cubicBezTo>
                    <a:pt x="53340" y="234696"/>
                    <a:pt x="0" y="182118"/>
                    <a:pt x="0" y="117348"/>
                  </a:cubicBezTo>
                  <a:close/>
                </a:path>
              </a:pathLst>
            </a:custGeom>
            <a:solidFill>
              <a:srgbClr val="47ACEF"/>
            </a:solidFill>
          </p:spPr>
          <p:txBody>
            <a:bodyPr/>
            <a:lstStyle/>
            <a:p>
              <a:endParaRPr lang="fr-SN">
                <a:latin typeface="Arial" panose="020B0604020202020204" pitchFamily="34" charset="0"/>
                <a:cs typeface="Arial" panose="020B0604020202020204" pitchFamily="34" charset="0"/>
              </a:endParaRPr>
            </a:p>
          </p:txBody>
        </p:sp>
      </p:grpSp>
      <p:grpSp>
        <p:nvGrpSpPr>
          <p:cNvPr id="19" name="Group 19"/>
          <p:cNvGrpSpPr/>
          <p:nvPr/>
        </p:nvGrpSpPr>
        <p:grpSpPr>
          <a:xfrm>
            <a:off x="8722579" y="2428104"/>
            <a:ext cx="1245261" cy="1241912"/>
            <a:chOff x="0" y="0"/>
            <a:chExt cx="2409840" cy="2403360"/>
          </a:xfrm>
        </p:grpSpPr>
        <p:sp>
          <p:nvSpPr>
            <p:cNvPr id="20" name="Freeform 20"/>
            <p:cNvSpPr/>
            <p:nvPr/>
          </p:nvSpPr>
          <p:spPr>
            <a:xfrm>
              <a:off x="0" y="0"/>
              <a:ext cx="2409952" cy="2403348"/>
            </a:xfrm>
            <a:custGeom>
              <a:avLst/>
              <a:gdLst/>
              <a:ahLst/>
              <a:cxnLst/>
              <a:rect l="l" t="t" r="r" b="b"/>
              <a:pathLst>
                <a:path w="2409952" h="2403348">
                  <a:moveTo>
                    <a:pt x="0" y="1201674"/>
                  </a:moveTo>
                  <a:cubicBezTo>
                    <a:pt x="0" y="537972"/>
                    <a:pt x="539496" y="0"/>
                    <a:pt x="1204976" y="0"/>
                  </a:cubicBezTo>
                  <a:cubicBezTo>
                    <a:pt x="1870456" y="0"/>
                    <a:pt x="2409952" y="537972"/>
                    <a:pt x="2409952" y="1201674"/>
                  </a:cubicBezTo>
                  <a:cubicBezTo>
                    <a:pt x="2409952" y="1865376"/>
                    <a:pt x="1870456" y="2403348"/>
                    <a:pt x="1204976" y="2403348"/>
                  </a:cubicBezTo>
                  <a:cubicBezTo>
                    <a:pt x="539496" y="2403348"/>
                    <a:pt x="0" y="1865376"/>
                    <a:pt x="0" y="1201674"/>
                  </a:cubicBezTo>
                  <a:close/>
                </a:path>
              </a:pathLst>
            </a:custGeom>
            <a:solidFill>
              <a:srgbClr val="37C9EF"/>
            </a:solidFill>
          </p:spPr>
          <p:txBody>
            <a:bodyPr/>
            <a:lstStyle/>
            <a:p>
              <a:endParaRPr lang="fr-SN">
                <a:latin typeface="Arial" panose="020B0604020202020204" pitchFamily="34" charset="0"/>
                <a:cs typeface="Arial" panose="020B0604020202020204" pitchFamily="34" charset="0"/>
              </a:endParaRPr>
            </a:p>
          </p:txBody>
        </p:sp>
      </p:grpSp>
      <p:sp>
        <p:nvSpPr>
          <p:cNvPr id="21" name="Freeform 21"/>
          <p:cNvSpPr/>
          <p:nvPr/>
        </p:nvSpPr>
        <p:spPr>
          <a:xfrm>
            <a:off x="11297125" y="6621825"/>
            <a:ext cx="833597" cy="729019"/>
          </a:xfrm>
          <a:custGeom>
            <a:avLst/>
            <a:gdLst/>
            <a:ahLst/>
            <a:cxnLst/>
            <a:rect l="l" t="t" r="r" b="b"/>
            <a:pathLst>
              <a:path w="833597" h="729019">
                <a:moveTo>
                  <a:pt x="0" y="0"/>
                </a:moveTo>
                <a:lnTo>
                  <a:pt x="833597" y="0"/>
                </a:lnTo>
                <a:lnTo>
                  <a:pt x="833597" y="729019"/>
                </a:lnTo>
                <a:lnTo>
                  <a:pt x="0" y="72901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fr-SN">
              <a:latin typeface="Arial" panose="020B0604020202020204" pitchFamily="34" charset="0"/>
              <a:cs typeface="Arial" panose="020B0604020202020204" pitchFamily="34" charset="0"/>
            </a:endParaRPr>
          </a:p>
        </p:txBody>
      </p:sp>
      <p:sp>
        <p:nvSpPr>
          <p:cNvPr id="22" name="Freeform 22"/>
          <p:cNvSpPr/>
          <p:nvPr/>
        </p:nvSpPr>
        <p:spPr>
          <a:xfrm>
            <a:off x="11297125" y="3926569"/>
            <a:ext cx="839100" cy="675116"/>
          </a:xfrm>
          <a:custGeom>
            <a:avLst/>
            <a:gdLst/>
            <a:ahLst/>
            <a:cxnLst/>
            <a:rect l="l" t="t" r="r" b="b"/>
            <a:pathLst>
              <a:path w="839100" h="675116">
                <a:moveTo>
                  <a:pt x="0" y="0"/>
                </a:moveTo>
                <a:lnTo>
                  <a:pt x="839099" y="0"/>
                </a:lnTo>
                <a:lnTo>
                  <a:pt x="839099" y="675115"/>
                </a:lnTo>
                <a:lnTo>
                  <a:pt x="0" y="67511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fr-SN">
              <a:latin typeface="Arial" panose="020B0604020202020204" pitchFamily="34" charset="0"/>
              <a:cs typeface="Arial" panose="020B0604020202020204" pitchFamily="34" charset="0"/>
            </a:endParaRPr>
          </a:p>
        </p:txBody>
      </p:sp>
      <p:grpSp>
        <p:nvGrpSpPr>
          <p:cNvPr id="23" name="Group 23"/>
          <p:cNvGrpSpPr/>
          <p:nvPr/>
        </p:nvGrpSpPr>
        <p:grpSpPr>
          <a:xfrm>
            <a:off x="8082219" y="4357268"/>
            <a:ext cx="2525981" cy="2525981"/>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0" cap="sq">
              <a:solidFill>
                <a:srgbClr val="1970A7"/>
              </a:solidFill>
              <a:prstDash val="solid"/>
              <a:miter/>
            </a:ln>
          </p:spPr>
          <p:txBody>
            <a:bodyPr/>
            <a:lstStyle/>
            <a:p>
              <a:endParaRPr lang="fr-SN" dirty="0">
                <a:latin typeface="Arial" panose="020B0604020202020204" pitchFamily="34" charset="0"/>
                <a:cs typeface="Arial" panose="020B0604020202020204" pitchFamily="34" charset="0"/>
              </a:endParaRPr>
            </a:p>
          </p:txBody>
        </p:sp>
        <p:sp>
          <p:nvSpPr>
            <p:cNvPr id="25" name="TextBox 25"/>
            <p:cNvSpPr txBox="1"/>
            <p:nvPr/>
          </p:nvSpPr>
          <p:spPr>
            <a:xfrm>
              <a:off x="76200" y="9525"/>
              <a:ext cx="660400" cy="727075"/>
            </a:xfrm>
            <a:prstGeom prst="rect">
              <a:avLst/>
            </a:prstGeom>
          </p:spPr>
          <p:txBody>
            <a:bodyPr lIns="50800" tIns="50800" rIns="50800" bIns="50800" rtlCol="0" anchor="ctr"/>
            <a:lstStyle/>
            <a:p>
              <a:pPr algn="ctr">
                <a:lnSpc>
                  <a:spcPts val="2859"/>
                </a:lnSpc>
              </a:pPr>
              <a:endParaRPr>
                <a:latin typeface="Arial" panose="020B0604020202020204" pitchFamily="34" charset="0"/>
                <a:cs typeface="Arial" panose="020B0604020202020204" pitchFamily="34" charset="0"/>
              </a:endParaRPr>
            </a:p>
          </p:txBody>
        </p:sp>
      </p:grpSp>
      <p:grpSp>
        <p:nvGrpSpPr>
          <p:cNvPr id="26" name="Group 26"/>
          <p:cNvGrpSpPr/>
          <p:nvPr/>
        </p:nvGrpSpPr>
        <p:grpSpPr>
          <a:xfrm>
            <a:off x="9203272" y="3735531"/>
            <a:ext cx="283876" cy="288713"/>
            <a:chOff x="0" y="0"/>
            <a:chExt cx="549360" cy="558720"/>
          </a:xfrm>
        </p:grpSpPr>
        <p:sp>
          <p:nvSpPr>
            <p:cNvPr id="27" name="Freeform 27"/>
            <p:cNvSpPr/>
            <p:nvPr/>
          </p:nvSpPr>
          <p:spPr>
            <a:xfrm>
              <a:off x="38100" y="38100"/>
              <a:ext cx="473075" cy="482473"/>
            </a:xfrm>
            <a:custGeom>
              <a:avLst/>
              <a:gdLst/>
              <a:ahLst/>
              <a:cxnLst/>
              <a:rect l="l" t="t" r="r" b="b"/>
              <a:pathLst>
                <a:path w="473075" h="482473">
                  <a:moveTo>
                    <a:pt x="0" y="241300"/>
                  </a:moveTo>
                  <a:cubicBezTo>
                    <a:pt x="0" y="108077"/>
                    <a:pt x="105918" y="0"/>
                    <a:pt x="236601" y="0"/>
                  </a:cubicBezTo>
                  <a:cubicBezTo>
                    <a:pt x="367284" y="0"/>
                    <a:pt x="473075" y="108077"/>
                    <a:pt x="473075" y="241300"/>
                  </a:cubicBezTo>
                  <a:cubicBezTo>
                    <a:pt x="473075" y="374523"/>
                    <a:pt x="367157" y="482473"/>
                    <a:pt x="236601" y="482473"/>
                  </a:cubicBezTo>
                  <a:cubicBezTo>
                    <a:pt x="106045" y="482473"/>
                    <a:pt x="0" y="374523"/>
                    <a:pt x="0" y="241300"/>
                  </a:cubicBezTo>
                  <a:close/>
                </a:path>
              </a:pathLst>
            </a:custGeom>
            <a:solidFill>
              <a:srgbClr val="47ACEF"/>
            </a:solidFill>
          </p:spPr>
          <p:txBody>
            <a:bodyPr/>
            <a:lstStyle/>
            <a:p>
              <a:endParaRPr lang="fr-SN">
                <a:latin typeface="Arial" panose="020B0604020202020204" pitchFamily="34" charset="0"/>
                <a:cs typeface="Arial" panose="020B0604020202020204" pitchFamily="34" charset="0"/>
              </a:endParaRPr>
            </a:p>
          </p:txBody>
        </p:sp>
        <p:sp>
          <p:nvSpPr>
            <p:cNvPr id="28" name="Freeform 28"/>
            <p:cNvSpPr/>
            <p:nvPr/>
          </p:nvSpPr>
          <p:spPr>
            <a:xfrm>
              <a:off x="0" y="0"/>
              <a:ext cx="549402" cy="558800"/>
            </a:xfrm>
            <a:custGeom>
              <a:avLst/>
              <a:gdLst/>
              <a:ahLst/>
              <a:cxnLst/>
              <a:rect l="l" t="t" r="r" b="b"/>
              <a:pathLst>
                <a:path w="549402" h="558800">
                  <a:moveTo>
                    <a:pt x="0" y="279400"/>
                  </a:moveTo>
                  <a:cubicBezTo>
                    <a:pt x="0" y="125730"/>
                    <a:pt x="122301" y="0"/>
                    <a:pt x="274701" y="0"/>
                  </a:cubicBezTo>
                  <a:lnTo>
                    <a:pt x="274701" y="38100"/>
                  </a:lnTo>
                  <a:lnTo>
                    <a:pt x="274701" y="0"/>
                  </a:lnTo>
                  <a:cubicBezTo>
                    <a:pt x="427101" y="0"/>
                    <a:pt x="549402" y="125730"/>
                    <a:pt x="549402" y="279400"/>
                  </a:cubicBezTo>
                  <a:lnTo>
                    <a:pt x="511302" y="279400"/>
                  </a:lnTo>
                  <a:lnTo>
                    <a:pt x="549402" y="279400"/>
                  </a:lnTo>
                  <a:cubicBezTo>
                    <a:pt x="549402" y="432943"/>
                    <a:pt x="427101" y="558800"/>
                    <a:pt x="274701" y="558800"/>
                  </a:cubicBezTo>
                  <a:lnTo>
                    <a:pt x="274701" y="520700"/>
                  </a:lnTo>
                  <a:lnTo>
                    <a:pt x="274701" y="558800"/>
                  </a:lnTo>
                  <a:cubicBezTo>
                    <a:pt x="122301" y="558673"/>
                    <a:pt x="0" y="432943"/>
                    <a:pt x="0" y="279400"/>
                  </a:cubicBezTo>
                  <a:lnTo>
                    <a:pt x="38100" y="279400"/>
                  </a:lnTo>
                  <a:lnTo>
                    <a:pt x="76200" y="279400"/>
                  </a:lnTo>
                  <a:lnTo>
                    <a:pt x="38100" y="279400"/>
                  </a:lnTo>
                  <a:lnTo>
                    <a:pt x="0" y="279400"/>
                  </a:lnTo>
                  <a:moveTo>
                    <a:pt x="76327" y="279400"/>
                  </a:moveTo>
                  <a:cubicBezTo>
                    <a:pt x="76327" y="300482"/>
                    <a:pt x="59182" y="317500"/>
                    <a:pt x="38227" y="317500"/>
                  </a:cubicBezTo>
                  <a:cubicBezTo>
                    <a:pt x="17272" y="317500"/>
                    <a:pt x="127" y="300355"/>
                    <a:pt x="127" y="279400"/>
                  </a:cubicBezTo>
                  <a:cubicBezTo>
                    <a:pt x="127" y="258445"/>
                    <a:pt x="17272" y="241300"/>
                    <a:pt x="38227" y="241300"/>
                  </a:cubicBezTo>
                  <a:cubicBezTo>
                    <a:pt x="59182" y="241300"/>
                    <a:pt x="76327" y="258445"/>
                    <a:pt x="76327" y="279400"/>
                  </a:cubicBezTo>
                  <a:cubicBezTo>
                    <a:pt x="76327" y="392303"/>
                    <a:pt x="165862" y="482473"/>
                    <a:pt x="274701" y="482473"/>
                  </a:cubicBezTo>
                  <a:cubicBezTo>
                    <a:pt x="383540" y="482473"/>
                    <a:pt x="473075" y="392176"/>
                    <a:pt x="473075" y="279400"/>
                  </a:cubicBezTo>
                  <a:cubicBezTo>
                    <a:pt x="473075" y="166624"/>
                    <a:pt x="383540" y="76327"/>
                    <a:pt x="274701" y="76327"/>
                  </a:cubicBezTo>
                  <a:lnTo>
                    <a:pt x="274701" y="38100"/>
                  </a:lnTo>
                  <a:lnTo>
                    <a:pt x="274701" y="76200"/>
                  </a:lnTo>
                  <a:cubicBezTo>
                    <a:pt x="165862" y="76327"/>
                    <a:pt x="76327" y="166497"/>
                    <a:pt x="76327" y="279400"/>
                  </a:cubicBezTo>
                  <a:close/>
                </a:path>
              </a:pathLst>
            </a:custGeom>
            <a:solidFill>
              <a:srgbClr val="37C9EF"/>
            </a:solidFill>
          </p:spPr>
          <p:txBody>
            <a:bodyPr/>
            <a:lstStyle/>
            <a:p>
              <a:endParaRPr lang="fr-SN">
                <a:latin typeface="Arial" panose="020B0604020202020204" pitchFamily="34" charset="0"/>
                <a:cs typeface="Arial" panose="020B0604020202020204" pitchFamily="34" charset="0"/>
              </a:endParaRPr>
            </a:p>
          </p:txBody>
        </p:sp>
      </p:grpSp>
      <p:grpSp>
        <p:nvGrpSpPr>
          <p:cNvPr id="29" name="Group 29"/>
          <p:cNvGrpSpPr/>
          <p:nvPr/>
        </p:nvGrpSpPr>
        <p:grpSpPr>
          <a:xfrm>
            <a:off x="9285123" y="3819243"/>
            <a:ext cx="123149" cy="121289"/>
            <a:chOff x="0" y="0"/>
            <a:chExt cx="238320" cy="234720"/>
          </a:xfrm>
        </p:grpSpPr>
        <p:sp>
          <p:nvSpPr>
            <p:cNvPr id="30" name="Freeform 30"/>
            <p:cNvSpPr/>
            <p:nvPr/>
          </p:nvSpPr>
          <p:spPr>
            <a:xfrm>
              <a:off x="0" y="0"/>
              <a:ext cx="238252" cy="234696"/>
            </a:xfrm>
            <a:custGeom>
              <a:avLst/>
              <a:gdLst/>
              <a:ahLst/>
              <a:cxnLst/>
              <a:rect l="l" t="t" r="r" b="b"/>
              <a:pathLst>
                <a:path w="238252" h="234696">
                  <a:moveTo>
                    <a:pt x="0" y="117348"/>
                  </a:moveTo>
                  <a:cubicBezTo>
                    <a:pt x="0" y="52578"/>
                    <a:pt x="53340" y="0"/>
                    <a:pt x="119126" y="0"/>
                  </a:cubicBezTo>
                  <a:cubicBezTo>
                    <a:pt x="184912" y="0"/>
                    <a:pt x="238252" y="52578"/>
                    <a:pt x="238252" y="117348"/>
                  </a:cubicBezTo>
                  <a:cubicBezTo>
                    <a:pt x="238252" y="182118"/>
                    <a:pt x="184912" y="234696"/>
                    <a:pt x="119126" y="234696"/>
                  </a:cubicBezTo>
                  <a:cubicBezTo>
                    <a:pt x="53340" y="234696"/>
                    <a:pt x="0" y="182118"/>
                    <a:pt x="0" y="117348"/>
                  </a:cubicBezTo>
                  <a:close/>
                </a:path>
              </a:pathLst>
            </a:custGeom>
            <a:solidFill>
              <a:srgbClr val="47ACEF"/>
            </a:solidFill>
          </p:spPr>
          <p:txBody>
            <a:bodyPr/>
            <a:lstStyle/>
            <a:p>
              <a:endParaRPr lang="fr-SN">
                <a:latin typeface="Arial" panose="020B0604020202020204" pitchFamily="34" charset="0"/>
                <a:cs typeface="Arial" panose="020B0604020202020204" pitchFamily="34" charset="0"/>
              </a:endParaRPr>
            </a:p>
          </p:txBody>
        </p:sp>
      </p:grpSp>
      <p:sp>
        <p:nvSpPr>
          <p:cNvPr id="31" name="Freeform 31"/>
          <p:cNvSpPr/>
          <p:nvPr/>
        </p:nvSpPr>
        <p:spPr>
          <a:xfrm>
            <a:off x="8992412" y="2624204"/>
            <a:ext cx="705595" cy="800159"/>
          </a:xfrm>
          <a:custGeom>
            <a:avLst/>
            <a:gdLst/>
            <a:ahLst/>
            <a:cxnLst/>
            <a:rect l="l" t="t" r="r" b="b"/>
            <a:pathLst>
              <a:path w="705595" h="800159">
                <a:moveTo>
                  <a:pt x="0" y="0"/>
                </a:moveTo>
                <a:lnTo>
                  <a:pt x="705595" y="0"/>
                </a:lnTo>
                <a:lnTo>
                  <a:pt x="705595" y="800160"/>
                </a:lnTo>
                <a:lnTo>
                  <a:pt x="0" y="80016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fr-SN">
              <a:latin typeface="Arial" panose="020B0604020202020204" pitchFamily="34" charset="0"/>
              <a:cs typeface="Arial" panose="020B0604020202020204" pitchFamily="34" charset="0"/>
            </a:endParaRPr>
          </a:p>
        </p:txBody>
      </p:sp>
      <p:sp>
        <p:nvSpPr>
          <p:cNvPr id="32" name="Freeform 32"/>
          <p:cNvSpPr/>
          <p:nvPr/>
        </p:nvSpPr>
        <p:spPr>
          <a:xfrm>
            <a:off x="6380065" y="5188565"/>
            <a:ext cx="666326" cy="730038"/>
          </a:xfrm>
          <a:custGeom>
            <a:avLst/>
            <a:gdLst/>
            <a:ahLst/>
            <a:cxnLst/>
            <a:rect l="l" t="t" r="r" b="b"/>
            <a:pathLst>
              <a:path w="666326" h="730038">
                <a:moveTo>
                  <a:pt x="0" y="0"/>
                </a:moveTo>
                <a:lnTo>
                  <a:pt x="666325" y="0"/>
                </a:lnTo>
                <a:lnTo>
                  <a:pt x="666325" y="730038"/>
                </a:lnTo>
                <a:lnTo>
                  <a:pt x="0" y="730038"/>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fr-SN">
              <a:latin typeface="Arial" panose="020B0604020202020204" pitchFamily="34" charset="0"/>
              <a:cs typeface="Arial" panose="020B0604020202020204" pitchFamily="34" charset="0"/>
            </a:endParaRPr>
          </a:p>
        </p:txBody>
      </p:sp>
      <p:sp>
        <p:nvSpPr>
          <p:cNvPr id="35" name="TextBox 35"/>
          <p:cNvSpPr txBox="1"/>
          <p:nvPr/>
        </p:nvSpPr>
        <p:spPr>
          <a:xfrm>
            <a:off x="10454582" y="2602164"/>
            <a:ext cx="5460451" cy="859081"/>
          </a:xfrm>
          <a:prstGeom prst="rect">
            <a:avLst/>
          </a:prstGeom>
        </p:spPr>
        <p:txBody>
          <a:bodyPr lIns="0" tIns="0" rIns="0" bIns="0" rtlCol="0" anchor="t">
            <a:spAutoFit/>
          </a:bodyPr>
          <a:lstStyle/>
          <a:p>
            <a:pPr marL="0" lvl="0" indent="0" algn="l">
              <a:lnSpc>
                <a:spcPts val="3481"/>
              </a:lnSpc>
              <a:spcBef>
                <a:spcPct val="0"/>
              </a:spcBef>
            </a:pPr>
            <a:r>
              <a:rPr lang="en-US" sz="2400" spc="247" dirty="0" err="1">
                <a:solidFill>
                  <a:srgbClr val="231F20"/>
                </a:solidFill>
                <a:latin typeface="Arial" panose="020B0604020202020204" pitchFamily="34" charset="0"/>
                <a:ea typeface="Times New Roman"/>
                <a:cs typeface="Arial" panose="020B0604020202020204" pitchFamily="34" charset="0"/>
                <a:sym typeface="Times New Roman"/>
              </a:rPr>
              <a:t>Rendre</a:t>
            </a:r>
            <a:r>
              <a:rPr lang="en-US" sz="2400" spc="247" dirty="0">
                <a:solidFill>
                  <a:srgbClr val="231F20"/>
                </a:solidFill>
                <a:latin typeface="Arial" panose="020B0604020202020204" pitchFamily="34" charset="0"/>
                <a:ea typeface="Times New Roman"/>
                <a:cs typeface="Arial" panose="020B0604020202020204" pitchFamily="34" charset="0"/>
                <a:sym typeface="Times New Roman"/>
              </a:rPr>
              <a:t> les </a:t>
            </a:r>
            <a:r>
              <a:rPr lang="en-US" sz="2400" spc="247" dirty="0" err="1">
                <a:solidFill>
                  <a:srgbClr val="231F20"/>
                </a:solidFill>
                <a:latin typeface="Arial" panose="020B0604020202020204" pitchFamily="34" charset="0"/>
                <a:ea typeface="Times New Roman"/>
                <a:cs typeface="Arial" panose="020B0604020202020204" pitchFamily="34" charset="0"/>
                <a:sym typeface="Times New Roman"/>
              </a:rPr>
              <a:t>Systèmes</a:t>
            </a:r>
            <a:r>
              <a:rPr lang="en-US" sz="2400" spc="247" dirty="0">
                <a:solidFill>
                  <a:srgbClr val="231F20"/>
                </a:solidFill>
                <a:latin typeface="Arial" panose="020B0604020202020204" pitchFamily="34" charset="0"/>
                <a:ea typeface="Times New Roman"/>
                <a:cs typeface="Arial" panose="020B0604020202020204" pitchFamily="34" charset="0"/>
                <a:sym typeface="Times New Roman"/>
              </a:rPr>
              <a:t> de </a:t>
            </a:r>
            <a:r>
              <a:rPr lang="en-US" sz="2400" spc="247" dirty="0" err="1">
                <a:solidFill>
                  <a:srgbClr val="231F20"/>
                </a:solidFill>
                <a:latin typeface="Arial" panose="020B0604020202020204" pitchFamily="34" charset="0"/>
                <a:ea typeface="Times New Roman"/>
                <a:cs typeface="Arial" panose="020B0604020202020204" pitchFamily="34" charset="0"/>
                <a:sym typeface="Times New Roman"/>
              </a:rPr>
              <a:t>Collecte</a:t>
            </a:r>
            <a:r>
              <a:rPr lang="en-US" sz="2400" spc="247" dirty="0">
                <a:solidFill>
                  <a:srgbClr val="231F20"/>
                </a:solidFill>
                <a:latin typeface="Arial" panose="020B0604020202020204" pitchFamily="34" charset="0"/>
                <a:ea typeface="Times New Roman"/>
                <a:cs typeface="Arial" panose="020B0604020202020204" pitchFamily="34" charset="0"/>
                <a:sym typeface="Times New Roman"/>
              </a:rPr>
              <a:t> </a:t>
            </a:r>
            <a:r>
              <a:rPr lang="en-US" sz="2400" spc="247" dirty="0" err="1">
                <a:solidFill>
                  <a:srgbClr val="231F20"/>
                </a:solidFill>
                <a:latin typeface="Arial" panose="020B0604020202020204" pitchFamily="34" charset="0"/>
                <a:ea typeface="Times New Roman"/>
                <a:cs typeface="Arial" panose="020B0604020202020204" pitchFamily="34" charset="0"/>
                <a:sym typeface="Times New Roman"/>
              </a:rPr>
              <a:t>efficaces</a:t>
            </a:r>
            <a:endParaRPr lang="en-US" sz="2400" spc="247" dirty="0">
              <a:solidFill>
                <a:srgbClr val="231F20"/>
              </a:solidFill>
              <a:latin typeface="Arial" panose="020B0604020202020204" pitchFamily="34" charset="0"/>
              <a:ea typeface="Times New Roman"/>
              <a:cs typeface="Arial" panose="020B0604020202020204" pitchFamily="34" charset="0"/>
              <a:sym typeface="Times New Roman"/>
            </a:endParaRPr>
          </a:p>
        </p:txBody>
      </p:sp>
      <p:sp>
        <p:nvSpPr>
          <p:cNvPr id="36" name="TextBox 36"/>
          <p:cNvSpPr txBox="1"/>
          <p:nvPr/>
        </p:nvSpPr>
        <p:spPr>
          <a:xfrm>
            <a:off x="10454582" y="1946676"/>
            <a:ext cx="2880418" cy="488980"/>
          </a:xfrm>
          <a:prstGeom prst="rect">
            <a:avLst/>
          </a:prstGeom>
        </p:spPr>
        <p:txBody>
          <a:bodyPr wrap="square" lIns="0" tIns="0" rIns="0" bIns="0" rtlCol="0" anchor="t">
            <a:spAutoFit/>
          </a:bodyPr>
          <a:lstStyle/>
          <a:p>
            <a:pPr marL="0" lvl="0" indent="0" algn="l">
              <a:lnSpc>
                <a:spcPts val="4140"/>
              </a:lnSpc>
              <a:spcBef>
                <a:spcPct val="0"/>
              </a:spcBef>
            </a:pPr>
            <a:r>
              <a:rPr lang="en-US" sz="2800" spc="294" dirty="0">
                <a:latin typeface="Arial Black" panose="020B0A04020102020204" pitchFamily="34" charset="0"/>
                <a:ea typeface="Times New Roman Bold"/>
                <a:cs typeface="Arial" panose="020B0604020202020204" pitchFamily="34" charset="0"/>
                <a:sym typeface="Times New Roman Bold"/>
              </a:rPr>
              <a:t>Objectif 01</a:t>
            </a:r>
          </a:p>
        </p:txBody>
      </p:sp>
      <p:sp>
        <p:nvSpPr>
          <p:cNvPr id="37" name="TextBox 37"/>
          <p:cNvSpPr txBox="1"/>
          <p:nvPr/>
        </p:nvSpPr>
        <p:spPr>
          <a:xfrm>
            <a:off x="1989404" y="6862966"/>
            <a:ext cx="5260100" cy="859081"/>
          </a:xfrm>
          <a:prstGeom prst="rect">
            <a:avLst/>
          </a:prstGeom>
        </p:spPr>
        <p:txBody>
          <a:bodyPr lIns="0" tIns="0" rIns="0" bIns="0" rtlCol="0" anchor="t">
            <a:spAutoFit/>
          </a:bodyPr>
          <a:lstStyle/>
          <a:p>
            <a:pPr marL="0" lvl="0" indent="0" algn="r">
              <a:lnSpc>
                <a:spcPts val="3481"/>
              </a:lnSpc>
              <a:spcBef>
                <a:spcPct val="0"/>
              </a:spcBef>
            </a:pPr>
            <a:r>
              <a:rPr lang="en-US" sz="2522" spc="247">
                <a:solidFill>
                  <a:srgbClr val="231F20"/>
                </a:solidFill>
                <a:latin typeface="Arial" panose="020B0604020202020204" pitchFamily="34" charset="0"/>
                <a:ea typeface="Times New Roman"/>
                <a:cs typeface="Arial" panose="020B0604020202020204" pitchFamily="34" charset="0"/>
                <a:sym typeface="Times New Roman"/>
              </a:rPr>
              <a:t>Mettre une plateforme de suivi et de gestions des déchets</a:t>
            </a:r>
          </a:p>
        </p:txBody>
      </p:sp>
      <p:sp>
        <p:nvSpPr>
          <p:cNvPr id="38" name="TextBox 38"/>
          <p:cNvSpPr txBox="1"/>
          <p:nvPr/>
        </p:nvSpPr>
        <p:spPr>
          <a:xfrm>
            <a:off x="4038600" y="6279878"/>
            <a:ext cx="3255469" cy="481863"/>
          </a:xfrm>
          <a:prstGeom prst="rect">
            <a:avLst/>
          </a:prstGeom>
        </p:spPr>
        <p:txBody>
          <a:bodyPr wrap="square" lIns="0" tIns="0" rIns="0" bIns="0" rtlCol="0" anchor="t">
            <a:spAutoFit/>
          </a:bodyPr>
          <a:lstStyle/>
          <a:p>
            <a:pPr marL="0" lvl="0" indent="0" algn="l">
              <a:lnSpc>
                <a:spcPts val="4140"/>
              </a:lnSpc>
              <a:spcBef>
                <a:spcPct val="0"/>
              </a:spcBef>
            </a:pPr>
            <a:r>
              <a:rPr lang="en-US" sz="2400" spc="294" dirty="0">
                <a:latin typeface="Arial Black" panose="020B0A04020102020204" pitchFamily="34" charset="0"/>
                <a:ea typeface="Times New Roman Bold"/>
                <a:cs typeface="Arial" panose="020B0604020202020204" pitchFamily="34" charset="0"/>
                <a:sym typeface="Times New Roman Bold"/>
              </a:rPr>
              <a:t>Objectif 02</a:t>
            </a:r>
          </a:p>
        </p:txBody>
      </p:sp>
      <p:sp>
        <p:nvSpPr>
          <p:cNvPr id="39" name="TextBox 39"/>
          <p:cNvSpPr txBox="1"/>
          <p:nvPr/>
        </p:nvSpPr>
        <p:spPr>
          <a:xfrm>
            <a:off x="12723565" y="6977619"/>
            <a:ext cx="5107235" cy="859081"/>
          </a:xfrm>
          <a:prstGeom prst="rect">
            <a:avLst/>
          </a:prstGeom>
        </p:spPr>
        <p:txBody>
          <a:bodyPr lIns="0" tIns="0" rIns="0" bIns="0" rtlCol="0" anchor="t">
            <a:spAutoFit/>
          </a:bodyPr>
          <a:lstStyle/>
          <a:p>
            <a:pPr marL="0" lvl="0" indent="0" algn="l">
              <a:lnSpc>
                <a:spcPts val="3481"/>
              </a:lnSpc>
              <a:spcBef>
                <a:spcPct val="0"/>
              </a:spcBef>
            </a:pPr>
            <a:r>
              <a:rPr lang="en-US" sz="2400" spc="247" dirty="0">
                <a:solidFill>
                  <a:srgbClr val="231F20"/>
                </a:solidFill>
                <a:latin typeface="Arial" panose="020B0604020202020204" pitchFamily="34" charset="0"/>
                <a:ea typeface="Times New Roman"/>
                <a:cs typeface="Arial" panose="020B0604020202020204" pitchFamily="34" charset="0"/>
                <a:sym typeface="Times New Roman"/>
              </a:rPr>
              <a:t>Engagement </a:t>
            </a:r>
            <a:r>
              <a:rPr lang="en-US" sz="2400" spc="247" dirty="0" err="1">
                <a:solidFill>
                  <a:srgbClr val="231F20"/>
                </a:solidFill>
                <a:latin typeface="Arial" panose="020B0604020202020204" pitchFamily="34" charset="0"/>
                <a:ea typeface="Times New Roman"/>
                <a:cs typeface="Arial" panose="020B0604020202020204" pitchFamily="34" charset="0"/>
                <a:sym typeface="Times New Roman"/>
              </a:rPr>
              <a:t>communautaire</a:t>
            </a:r>
            <a:r>
              <a:rPr lang="en-US" sz="2400" spc="247" dirty="0">
                <a:solidFill>
                  <a:srgbClr val="231F20"/>
                </a:solidFill>
                <a:latin typeface="Arial" panose="020B0604020202020204" pitchFamily="34" charset="0"/>
                <a:ea typeface="Times New Roman"/>
                <a:cs typeface="Arial" panose="020B0604020202020204" pitchFamily="34" charset="0"/>
                <a:sym typeface="Times New Roman"/>
              </a:rPr>
              <a:t> : application mobile</a:t>
            </a:r>
          </a:p>
        </p:txBody>
      </p:sp>
      <p:sp>
        <p:nvSpPr>
          <p:cNvPr id="40" name="TextBox 40"/>
          <p:cNvSpPr txBox="1"/>
          <p:nvPr/>
        </p:nvSpPr>
        <p:spPr>
          <a:xfrm>
            <a:off x="12723565" y="6363169"/>
            <a:ext cx="3191468" cy="488980"/>
          </a:xfrm>
          <a:prstGeom prst="rect">
            <a:avLst/>
          </a:prstGeom>
        </p:spPr>
        <p:txBody>
          <a:bodyPr wrap="square" lIns="0" tIns="0" rIns="0" bIns="0" rtlCol="0" anchor="t">
            <a:spAutoFit/>
          </a:bodyPr>
          <a:lstStyle/>
          <a:p>
            <a:pPr marL="0" lvl="0" indent="0" algn="l">
              <a:lnSpc>
                <a:spcPts val="4140"/>
              </a:lnSpc>
              <a:spcBef>
                <a:spcPct val="0"/>
              </a:spcBef>
            </a:pPr>
            <a:r>
              <a:rPr lang="en-US" sz="2800" spc="294" dirty="0">
                <a:latin typeface="Arial Black" panose="020B0A04020102020204" pitchFamily="34" charset="0"/>
                <a:ea typeface="Times New Roman Bold"/>
                <a:cs typeface="Arial" panose="020B0604020202020204" pitchFamily="34" charset="0"/>
                <a:sym typeface="Times New Roman Bold"/>
              </a:rPr>
              <a:t>Objectif 03</a:t>
            </a:r>
          </a:p>
        </p:txBody>
      </p:sp>
      <p:sp>
        <p:nvSpPr>
          <p:cNvPr id="41" name="TextBox 42">
            <a:extLst>
              <a:ext uri="{FF2B5EF4-FFF2-40B4-BE49-F238E27FC236}">
                <a16:creationId xmlns:a16="http://schemas.microsoft.com/office/drawing/2014/main" id="{0B4EA017-4FC8-2B9E-76C2-EE52AF73740E}"/>
              </a:ext>
            </a:extLst>
          </p:cNvPr>
          <p:cNvSpPr txBox="1"/>
          <p:nvPr/>
        </p:nvSpPr>
        <p:spPr>
          <a:xfrm>
            <a:off x="2852454" y="483052"/>
            <a:ext cx="11823072" cy="769441"/>
          </a:xfrm>
          <a:prstGeom prst="rect">
            <a:avLst/>
          </a:prstGeom>
        </p:spPr>
        <p:txBody>
          <a:bodyPr lIns="0" tIns="0" rIns="0" bIns="0" rtlCol="0" anchor="t">
            <a:spAutoFit/>
          </a:bodyPr>
          <a:lstStyle/>
          <a:p>
            <a:pPr algn="ctr">
              <a:lnSpc>
                <a:spcPts val="6000"/>
              </a:lnSpc>
            </a:pPr>
            <a:r>
              <a:rPr lang="en-US" sz="5400" dirty="0">
                <a:solidFill>
                  <a:srgbClr val="0070C0"/>
                </a:solidFill>
                <a:latin typeface="Arial Black" panose="020B0A04020102020204" pitchFamily="34" charset="0"/>
                <a:ea typeface="Arimo Bold"/>
                <a:cs typeface="Arial" panose="020B0604020202020204" pitchFamily="34" charset="0"/>
                <a:sym typeface="Arimo Bold"/>
              </a:rPr>
              <a:t> OBJECTIFS</a:t>
            </a:r>
          </a:p>
        </p:txBody>
      </p:sp>
      <p:sp>
        <p:nvSpPr>
          <p:cNvPr id="42" name="TextBox 20">
            <a:extLst>
              <a:ext uri="{FF2B5EF4-FFF2-40B4-BE49-F238E27FC236}">
                <a16:creationId xmlns:a16="http://schemas.microsoft.com/office/drawing/2014/main" id="{2FDD69F5-E0C1-1F18-7B7F-584BB2A9CC92}"/>
              </a:ext>
            </a:extLst>
          </p:cNvPr>
          <p:cNvSpPr txBox="1"/>
          <p:nvPr/>
        </p:nvSpPr>
        <p:spPr>
          <a:xfrm>
            <a:off x="17127734" y="9791700"/>
            <a:ext cx="855466" cy="245260"/>
          </a:xfrm>
          <a:prstGeom prst="rect">
            <a:avLst/>
          </a:prstGeom>
        </p:spPr>
        <p:txBody>
          <a:bodyPr wrap="square" lIns="0" tIns="0" rIns="0" bIns="0" rtlCol="0" anchor="t">
            <a:spAutoFit/>
          </a:bodyPr>
          <a:lstStyle/>
          <a:p>
            <a:pPr algn="ctr">
              <a:lnSpc>
                <a:spcPts val="1980"/>
              </a:lnSpc>
            </a:pPr>
            <a:r>
              <a:rPr lang="en-US" sz="1650" spc="15" dirty="0">
                <a:solidFill>
                  <a:srgbClr val="0070C0"/>
                </a:solidFill>
                <a:latin typeface="TT Rounds Condensed"/>
                <a:ea typeface="TT Rounds Condensed"/>
                <a:cs typeface="TT Rounds Condensed"/>
                <a:sym typeface="TT Rounds Condensed"/>
              </a:rPr>
              <a:t>09 | </a:t>
            </a:r>
            <a:r>
              <a:rPr lang="en-US" sz="1650" spc="15" dirty="0">
                <a:solidFill>
                  <a:srgbClr val="0070C0"/>
                </a:solidFill>
                <a:latin typeface="Arial Black" panose="020B0A04020102020204" pitchFamily="34" charset="0"/>
                <a:ea typeface="TT Rounds Condensed"/>
                <a:cs typeface="TT Rounds Condensed"/>
                <a:sym typeface="TT Rounds Condensed"/>
              </a:rPr>
              <a:t>33</a:t>
            </a:r>
            <a:endParaRPr lang="en-US" sz="1650" spc="15" dirty="0">
              <a:solidFill>
                <a:srgbClr val="0070C0"/>
              </a:solidFill>
              <a:latin typeface="Arial Black" panose="020B0A04020102020204" pitchFamily="34" charset="0"/>
              <a:ea typeface="TT Rounds Condensed Bold"/>
              <a:cs typeface="TT Rounds Condensed Bold"/>
              <a:sym typeface="TT Rounds Condensed Bo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fr-SN"/>
          </a:p>
        </p:txBody>
      </p:sp>
      <p:sp>
        <p:nvSpPr>
          <p:cNvPr id="3" name="TextBox 3"/>
          <p:cNvSpPr txBox="1"/>
          <p:nvPr/>
        </p:nvSpPr>
        <p:spPr>
          <a:xfrm>
            <a:off x="3232464" y="3924300"/>
            <a:ext cx="11823072" cy="779765"/>
          </a:xfrm>
          <a:prstGeom prst="rect">
            <a:avLst/>
          </a:prstGeom>
        </p:spPr>
        <p:txBody>
          <a:bodyPr lIns="0" tIns="0" rIns="0" bIns="0" rtlCol="0" anchor="t">
            <a:spAutoFit/>
          </a:bodyPr>
          <a:lstStyle/>
          <a:p>
            <a:pPr algn="ctr">
              <a:lnSpc>
                <a:spcPts val="6000"/>
              </a:lnSpc>
            </a:pPr>
            <a:r>
              <a:rPr lang="en-US" sz="6000" dirty="0">
                <a:solidFill>
                  <a:srgbClr val="FFFFFF"/>
                </a:solidFill>
                <a:latin typeface="Arial Black" panose="020B0A04020102020204" pitchFamily="34" charset="0"/>
                <a:ea typeface="Arimo Bold" panose="020B0604020202020204" charset="0"/>
                <a:cs typeface="Arimo Bold" panose="020B0604020202020204" charset="0"/>
                <a:sym typeface="Arimo Bold"/>
              </a:rPr>
              <a:t>INTERNET des OBJETS</a:t>
            </a:r>
          </a:p>
        </p:txBody>
      </p:sp>
      <p:sp>
        <p:nvSpPr>
          <p:cNvPr id="5" name="TextBox 20">
            <a:extLst>
              <a:ext uri="{FF2B5EF4-FFF2-40B4-BE49-F238E27FC236}">
                <a16:creationId xmlns:a16="http://schemas.microsoft.com/office/drawing/2014/main" id="{C1D4D932-9048-E603-3DC0-46A1901A10EE}"/>
              </a:ext>
            </a:extLst>
          </p:cNvPr>
          <p:cNvSpPr txBox="1"/>
          <p:nvPr/>
        </p:nvSpPr>
        <p:spPr>
          <a:xfrm>
            <a:off x="17127734" y="9791700"/>
            <a:ext cx="855466" cy="245260"/>
          </a:xfrm>
          <a:prstGeom prst="rect">
            <a:avLst/>
          </a:prstGeom>
        </p:spPr>
        <p:txBody>
          <a:bodyPr wrap="square" lIns="0" tIns="0" rIns="0" bIns="0" rtlCol="0" anchor="t">
            <a:spAutoFit/>
          </a:bodyPr>
          <a:lstStyle/>
          <a:p>
            <a:pPr algn="ctr">
              <a:lnSpc>
                <a:spcPts val="1980"/>
              </a:lnSpc>
            </a:pPr>
            <a:r>
              <a:rPr lang="en-US" sz="1650" spc="15" dirty="0">
                <a:solidFill>
                  <a:schemeClr val="bg1"/>
                </a:solidFill>
                <a:latin typeface="TT Rounds Condensed"/>
                <a:ea typeface="TT Rounds Condensed"/>
                <a:cs typeface="TT Rounds Condensed"/>
                <a:sym typeface="TT Rounds Condensed"/>
              </a:rPr>
              <a:t>10 | </a:t>
            </a:r>
            <a:r>
              <a:rPr lang="en-US" sz="1650" spc="15" dirty="0">
                <a:solidFill>
                  <a:schemeClr val="bg1"/>
                </a:solidFill>
                <a:latin typeface="Arial Black" panose="020B0A04020102020204" pitchFamily="34" charset="0"/>
                <a:ea typeface="TT Rounds Condensed"/>
                <a:cs typeface="TT Rounds Condensed"/>
                <a:sym typeface="TT Rounds Condensed"/>
              </a:rPr>
              <a:t>33</a:t>
            </a:r>
            <a:endParaRPr lang="en-US" sz="1650" spc="15" dirty="0">
              <a:solidFill>
                <a:schemeClr val="bg1"/>
              </a:solidFill>
              <a:latin typeface="Arial Black" panose="020B0A04020102020204" pitchFamily="34" charset="0"/>
              <a:ea typeface="TT Rounds Condensed Bold"/>
              <a:cs typeface="TT Rounds Condensed Bold"/>
              <a:sym typeface="TT Rounds Condensed Bold"/>
            </a:endParaRPr>
          </a:p>
        </p:txBody>
      </p:sp>
    </p:spTree>
    <p:extLst>
      <p:ext uri="{BB962C8B-B14F-4D97-AF65-F5344CB8AC3E}">
        <p14:creationId xmlns:p14="http://schemas.microsoft.com/office/powerpoint/2010/main" val="28131568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40394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fr-SN"/>
          </a:p>
        </p:txBody>
      </p:sp>
      <p:sp>
        <p:nvSpPr>
          <p:cNvPr id="4" name="TextBox 4"/>
          <p:cNvSpPr txBox="1"/>
          <p:nvPr/>
        </p:nvSpPr>
        <p:spPr>
          <a:xfrm>
            <a:off x="381000" y="483052"/>
            <a:ext cx="14294526" cy="769441"/>
          </a:xfrm>
          <a:prstGeom prst="rect">
            <a:avLst/>
          </a:prstGeom>
        </p:spPr>
        <p:txBody>
          <a:bodyPr wrap="square" lIns="0" tIns="0" rIns="0" bIns="0" rtlCol="0" anchor="t">
            <a:spAutoFit/>
          </a:bodyPr>
          <a:lstStyle/>
          <a:p>
            <a:pPr algn="ctr">
              <a:lnSpc>
                <a:spcPts val="6000"/>
              </a:lnSpc>
            </a:pPr>
            <a:r>
              <a:rPr lang="en-US" sz="5400" dirty="0">
                <a:solidFill>
                  <a:srgbClr val="0070C0"/>
                </a:solidFill>
                <a:latin typeface="Arial Black" panose="020B0A04020102020204" pitchFamily="34" charset="0"/>
                <a:ea typeface="Arimo Bold"/>
                <a:cs typeface="Arimo Bold"/>
                <a:sym typeface="Arimo Bold"/>
              </a:rPr>
              <a:t>CONCEPTS DE </a:t>
            </a:r>
            <a:r>
              <a:rPr lang="en-US" sz="5400" dirty="0" err="1">
                <a:solidFill>
                  <a:srgbClr val="0070C0"/>
                </a:solidFill>
                <a:latin typeface="Arial Black" panose="020B0A04020102020204" pitchFamily="34" charset="0"/>
                <a:ea typeface="Arimo Bold"/>
                <a:cs typeface="Arimo Bold"/>
                <a:sym typeface="Arimo Bold"/>
              </a:rPr>
              <a:t>L’IdO</a:t>
            </a:r>
            <a:endParaRPr lang="en-US" sz="5400" dirty="0">
              <a:solidFill>
                <a:srgbClr val="0070C0"/>
              </a:solidFill>
              <a:latin typeface="Arial Black" panose="020B0A04020102020204" pitchFamily="34" charset="0"/>
              <a:ea typeface="Arimo Bold"/>
              <a:cs typeface="Arimo Bold"/>
              <a:sym typeface="Arimo Bold"/>
            </a:endParaRPr>
          </a:p>
        </p:txBody>
      </p:sp>
      <p:sp>
        <p:nvSpPr>
          <p:cNvPr id="6" name="TextBox 6"/>
          <p:cNvSpPr txBox="1"/>
          <p:nvPr/>
        </p:nvSpPr>
        <p:spPr>
          <a:xfrm>
            <a:off x="914400" y="2570857"/>
            <a:ext cx="9958076" cy="6001643"/>
          </a:xfrm>
          <a:prstGeom prst="rect">
            <a:avLst/>
          </a:prstGeom>
        </p:spPr>
        <p:txBody>
          <a:bodyPr wrap="square" lIns="0" tIns="0" rIns="0" bIns="0" rtlCol="0" anchor="t">
            <a:spAutoFit/>
          </a:bodyPr>
          <a:lstStyle/>
          <a:p>
            <a:endParaRPr lang="fr-FR" b="1" dirty="0">
              <a:latin typeface="Arial" panose="020B0604020202020204" pitchFamily="34" charset="0"/>
              <a:cs typeface="Arial" panose="020B0604020202020204" pitchFamily="34" charset="0"/>
            </a:endParaRPr>
          </a:p>
          <a:p>
            <a:pPr marL="457200" indent="-457200">
              <a:buFont typeface="Wingdings" panose="05000000000000000000" pitchFamily="2" charset="2"/>
              <a:buChar char="v"/>
            </a:pPr>
            <a:r>
              <a:rPr lang="fr-FR" sz="2800" b="1" dirty="0">
                <a:latin typeface="Arial Black" panose="020B0A04020102020204" pitchFamily="34" charset="0"/>
                <a:cs typeface="Arial" panose="020B0604020202020204" pitchFamily="34" charset="0"/>
              </a:rPr>
              <a:t>Origines du concept</a:t>
            </a:r>
            <a:r>
              <a:rPr lang="fr-FR" sz="2800" dirty="0">
                <a:latin typeface="Arial Black" panose="020B0A04020102020204" pitchFamily="34" charset="0"/>
                <a:cs typeface="Arial" panose="020B0604020202020204" pitchFamily="34" charset="0"/>
              </a:rPr>
              <a:t> </a:t>
            </a:r>
            <a:r>
              <a:rPr lang="fr-FR" sz="2400" dirty="0">
                <a:latin typeface="Arial Black" panose="020B0A04020102020204" pitchFamily="34" charset="0"/>
                <a:cs typeface="Arial" panose="020B0604020202020204" pitchFamily="34" charset="0"/>
              </a:rPr>
              <a:t>:</a:t>
            </a:r>
            <a:endParaRPr lang="fr-FR" sz="2400" dirty="0">
              <a:latin typeface="Arial" panose="020B0604020202020204" pitchFamily="34" charset="0"/>
              <a:cs typeface="Arial" panose="020B0604020202020204" pitchFamily="34" charset="0"/>
            </a:endParaRPr>
          </a:p>
          <a:p>
            <a:pPr algn="just"/>
            <a:r>
              <a:rPr lang="fr-FR" sz="2400" dirty="0">
                <a:latin typeface="Arial" panose="020B0604020202020204" pitchFamily="34" charset="0"/>
                <a:cs typeface="Arial" panose="020B0604020202020204" pitchFamily="34" charset="0"/>
              </a:rPr>
              <a:t>Première discussion en 1982 avec une machine à Coca modifiée à l'Université Carnegie Mellon capable de signaler son inventaire et la température des boissons.</a:t>
            </a:r>
          </a:p>
          <a:p>
            <a:pPr algn="just"/>
            <a:endParaRPr lang="fr-FR" sz="2400" dirty="0">
              <a:latin typeface="Arial" panose="020B0604020202020204" pitchFamily="34" charset="0"/>
              <a:cs typeface="Arial" panose="020B0604020202020204" pitchFamily="34" charset="0"/>
            </a:endParaRPr>
          </a:p>
          <a:p>
            <a:pPr marL="457200" indent="-457200" algn="just">
              <a:buFont typeface="Wingdings" panose="05000000000000000000" pitchFamily="2" charset="2"/>
              <a:buChar char="v"/>
            </a:pPr>
            <a:r>
              <a:rPr lang="fr-FR" sz="2800" b="1" dirty="0">
                <a:latin typeface="Arial Black" panose="020B0A04020102020204" pitchFamily="34" charset="0"/>
                <a:cs typeface="Arial" panose="020B0604020202020204" pitchFamily="34" charset="0"/>
              </a:rPr>
              <a:t>Création du terme "Internet des objets"  :  </a:t>
            </a:r>
          </a:p>
          <a:p>
            <a:pPr algn="just"/>
            <a:r>
              <a:rPr lang="fr-FR" sz="2400" dirty="0">
                <a:latin typeface="Arial" panose="020B0604020202020204" pitchFamily="34" charset="0"/>
                <a:cs typeface="Arial" panose="020B0604020202020204" pitchFamily="34" charset="0"/>
              </a:rPr>
              <a:t>Kevin Ashton, pionnier britannique, a inventé le terme en 1999. Il a décrit </a:t>
            </a:r>
            <a:r>
              <a:rPr lang="fr-FR" sz="2400" dirty="0" err="1">
                <a:latin typeface="Arial" panose="020B0604020202020204" pitchFamily="34" charset="0"/>
                <a:cs typeface="Arial" panose="020B0604020202020204" pitchFamily="34" charset="0"/>
              </a:rPr>
              <a:t>l'IdO</a:t>
            </a:r>
            <a:r>
              <a:rPr lang="fr-FR" sz="2400" dirty="0">
                <a:latin typeface="Arial" panose="020B0604020202020204" pitchFamily="34" charset="0"/>
                <a:cs typeface="Arial" panose="020B0604020202020204" pitchFamily="34" charset="0"/>
              </a:rPr>
              <a:t> comme un système reliant Internet au monde physique via des capteurs. </a:t>
            </a:r>
          </a:p>
          <a:p>
            <a:pPr algn="just"/>
            <a:endParaRPr lang="fr-FR" sz="2400" dirty="0">
              <a:latin typeface="Arial" panose="020B0604020202020204" pitchFamily="34" charset="0"/>
              <a:cs typeface="Arial" panose="020B0604020202020204" pitchFamily="34" charset="0"/>
            </a:endParaRPr>
          </a:p>
          <a:p>
            <a:pPr marL="457200" indent="-457200">
              <a:buFont typeface="Wingdings" panose="05000000000000000000" pitchFamily="2" charset="2"/>
              <a:buChar char="v"/>
            </a:pPr>
            <a:r>
              <a:rPr lang="fr-FR" sz="2800" b="1" dirty="0">
                <a:latin typeface="Arial Black" panose="020B0A04020102020204" pitchFamily="34" charset="0"/>
                <a:cs typeface="Arial" panose="020B0604020202020204" pitchFamily="34" charset="0"/>
              </a:rPr>
              <a:t>Définition de </a:t>
            </a:r>
            <a:r>
              <a:rPr lang="fr-FR" sz="2800" b="1" dirty="0" err="1">
                <a:latin typeface="Arial Black" panose="020B0A04020102020204" pitchFamily="34" charset="0"/>
                <a:cs typeface="Arial" panose="020B0604020202020204" pitchFamily="34" charset="0"/>
              </a:rPr>
              <a:t>l'IdO</a:t>
            </a:r>
            <a:r>
              <a:rPr lang="fr-FR" sz="2800" dirty="0">
                <a:latin typeface="Arial Black" panose="020B0A04020102020204" pitchFamily="34" charset="0"/>
                <a:cs typeface="Arial" panose="020B0604020202020204" pitchFamily="34" charset="0"/>
              </a:rPr>
              <a:t> :</a:t>
            </a:r>
          </a:p>
          <a:p>
            <a:pPr algn="just"/>
            <a:r>
              <a:rPr lang="fr-FR" sz="2400" dirty="0">
                <a:latin typeface="Arial" panose="020B0604020202020204" pitchFamily="34" charset="0"/>
                <a:cs typeface="Arial" panose="020B0604020202020204" pitchFamily="34" charset="0"/>
              </a:rPr>
              <a:t>Selon l'Union Internationale des Télécommunications (UIT), </a:t>
            </a:r>
            <a:r>
              <a:rPr lang="fr-FR" sz="2400" dirty="0" err="1">
                <a:latin typeface="Arial" panose="020B0604020202020204" pitchFamily="34" charset="0"/>
                <a:cs typeface="Arial" panose="020B0604020202020204" pitchFamily="34" charset="0"/>
              </a:rPr>
              <a:t>l'IdO</a:t>
            </a:r>
            <a:r>
              <a:rPr lang="fr-FR" sz="2400" dirty="0">
                <a:latin typeface="Arial" panose="020B0604020202020204" pitchFamily="34" charset="0"/>
                <a:cs typeface="Arial" panose="020B0604020202020204" pitchFamily="34" charset="0"/>
              </a:rPr>
              <a:t> est une infrastructure mondiale pour la société de l'information, interconnectant des objets physiques ou virtuels via des technologies de l'information et de la communication.</a:t>
            </a:r>
          </a:p>
        </p:txBody>
      </p:sp>
      <p:grpSp>
        <p:nvGrpSpPr>
          <p:cNvPr id="7" name="Group 3">
            <a:extLst>
              <a:ext uri="{FF2B5EF4-FFF2-40B4-BE49-F238E27FC236}">
                <a16:creationId xmlns:a16="http://schemas.microsoft.com/office/drawing/2014/main" id="{54B607FC-8358-2A1B-0586-E61AEC0F5963}"/>
              </a:ext>
            </a:extLst>
          </p:cNvPr>
          <p:cNvGrpSpPr/>
          <p:nvPr/>
        </p:nvGrpSpPr>
        <p:grpSpPr>
          <a:xfrm>
            <a:off x="11210975" y="2247899"/>
            <a:ext cx="6064518" cy="7187771"/>
            <a:chOff x="0" y="0"/>
            <a:chExt cx="8911590" cy="10189083"/>
          </a:xfrm>
        </p:grpSpPr>
        <p:sp>
          <p:nvSpPr>
            <p:cNvPr id="8" name="Freeform 4">
              <a:extLst>
                <a:ext uri="{FF2B5EF4-FFF2-40B4-BE49-F238E27FC236}">
                  <a16:creationId xmlns:a16="http://schemas.microsoft.com/office/drawing/2014/main" id="{CBB19F8C-8CF4-1E12-F055-146C0A38E2FF}"/>
                </a:ext>
              </a:extLst>
            </p:cNvPr>
            <p:cNvSpPr/>
            <p:nvPr/>
          </p:nvSpPr>
          <p:spPr>
            <a:xfrm>
              <a:off x="0" y="0"/>
              <a:ext cx="8911590" cy="10189083"/>
            </a:xfrm>
            <a:custGeom>
              <a:avLst/>
              <a:gdLst/>
              <a:ahLst/>
              <a:cxnLst/>
              <a:rect l="l" t="t" r="r" b="b"/>
              <a:pathLst>
                <a:path w="8911590" h="10189083">
                  <a:moveTo>
                    <a:pt x="0" y="1485265"/>
                  </a:moveTo>
                  <a:cubicBezTo>
                    <a:pt x="0" y="664972"/>
                    <a:pt x="664972" y="0"/>
                    <a:pt x="1485265" y="0"/>
                  </a:cubicBezTo>
                  <a:lnTo>
                    <a:pt x="7426325" y="0"/>
                  </a:lnTo>
                  <a:cubicBezTo>
                    <a:pt x="8246618" y="0"/>
                    <a:pt x="8911590" y="664972"/>
                    <a:pt x="8911590" y="1485265"/>
                  </a:cubicBezTo>
                  <a:lnTo>
                    <a:pt x="8911590" y="8703691"/>
                  </a:lnTo>
                  <a:cubicBezTo>
                    <a:pt x="8911590" y="9523985"/>
                    <a:pt x="8246618" y="10188956"/>
                    <a:pt x="7426325" y="10188956"/>
                  </a:cubicBezTo>
                  <a:lnTo>
                    <a:pt x="1485265" y="10188956"/>
                  </a:lnTo>
                  <a:cubicBezTo>
                    <a:pt x="664972" y="10189083"/>
                    <a:pt x="0" y="9523984"/>
                    <a:pt x="0" y="8703691"/>
                  </a:cubicBezTo>
                  <a:close/>
                </a:path>
              </a:pathLst>
            </a:custGeom>
            <a:gradFill rotWithShape="1">
              <a:gsLst>
                <a:gs pos="0">
                  <a:srgbClr val="00B0F0">
                    <a:alpha val="100000"/>
                  </a:srgbClr>
                </a:gs>
                <a:gs pos="100000">
                  <a:srgbClr val="0070C0">
                    <a:alpha val="100000"/>
                  </a:srgbClr>
                </a:gs>
              </a:gsLst>
              <a:lin ang="10800000"/>
            </a:gradFill>
          </p:spPr>
          <p:txBody>
            <a:bodyPr/>
            <a:lstStyle/>
            <a:p>
              <a:endParaRPr lang="fr-SN" dirty="0"/>
            </a:p>
          </p:txBody>
        </p:sp>
      </p:grpSp>
      <p:sp>
        <p:nvSpPr>
          <p:cNvPr id="9" name="Freeform 5">
            <a:extLst>
              <a:ext uri="{FF2B5EF4-FFF2-40B4-BE49-F238E27FC236}">
                <a16:creationId xmlns:a16="http://schemas.microsoft.com/office/drawing/2014/main" id="{D31AFBDA-6B6B-2C50-D93D-6124A067BB9F}"/>
              </a:ext>
            </a:extLst>
          </p:cNvPr>
          <p:cNvSpPr/>
          <p:nvPr/>
        </p:nvSpPr>
        <p:spPr>
          <a:xfrm>
            <a:off x="10970584" y="6493677"/>
            <a:ext cx="1202271" cy="2446824"/>
          </a:xfrm>
          <a:custGeom>
            <a:avLst/>
            <a:gdLst/>
            <a:ahLst/>
            <a:cxnLst/>
            <a:rect l="l" t="t" r="r" b="b"/>
            <a:pathLst>
              <a:path w="1202271" h="2446824">
                <a:moveTo>
                  <a:pt x="0" y="0"/>
                </a:moveTo>
                <a:lnTo>
                  <a:pt x="1202272" y="0"/>
                </a:lnTo>
                <a:lnTo>
                  <a:pt x="1202272" y="2446824"/>
                </a:lnTo>
                <a:lnTo>
                  <a:pt x="0" y="244682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fr-SN" dirty="0"/>
          </a:p>
        </p:txBody>
      </p:sp>
      <p:pic>
        <p:nvPicPr>
          <p:cNvPr id="4110" name="Picture 14" descr="concept abstrait de l'internet des objets iot internet des objets icône de  concept de technologie d'innovation de réseau de communication. connecter  des appareils sans fil et une technologie d'innovation en réseau. 19865351  Art vectoriel chez Vecteezy">
            <a:extLst>
              <a:ext uri="{FF2B5EF4-FFF2-40B4-BE49-F238E27FC236}">
                <a16:creationId xmlns:a16="http://schemas.microsoft.com/office/drawing/2014/main" id="{0A70253C-15FE-261D-5A1E-9405BD803B86}"/>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405" t="14825" r="43009" b="3902"/>
          <a:stretch/>
        </p:blipFill>
        <p:spPr bwMode="auto">
          <a:xfrm>
            <a:off x="11506200" y="2151535"/>
            <a:ext cx="5929948" cy="6801965"/>
          </a:xfrm>
          <a:prstGeom prst="roundRect">
            <a:avLst/>
          </a:prstGeom>
          <a:noFill/>
          <a:extLst>
            <a:ext uri="{909E8E84-426E-40DD-AFC4-6F175D3DCCD1}">
              <a14:hiddenFill xmlns:a14="http://schemas.microsoft.com/office/drawing/2010/main">
                <a:solidFill>
                  <a:srgbClr val="FFFFFF"/>
                </a:solidFill>
              </a14:hiddenFill>
            </a:ext>
          </a:extLst>
        </p:spPr>
      </p:pic>
      <p:sp>
        <p:nvSpPr>
          <p:cNvPr id="3" name="TextBox 20">
            <a:extLst>
              <a:ext uri="{FF2B5EF4-FFF2-40B4-BE49-F238E27FC236}">
                <a16:creationId xmlns:a16="http://schemas.microsoft.com/office/drawing/2014/main" id="{47749EB3-27AD-3E3C-CC86-AEDF04DAFCCA}"/>
              </a:ext>
            </a:extLst>
          </p:cNvPr>
          <p:cNvSpPr txBox="1"/>
          <p:nvPr/>
        </p:nvSpPr>
        <p:spPr>
          <a:xfrm>
            <a:off x="17127734" y="9791700"/>
            <a:ext cx="855466" cy="245260"/>
          </a:xfrm>
          <a:prstGeom prst="rect">
            <a:avLst/>
          </a:prstGeom>
        </p:spPr>
        <p:txBody>
          <a:bodyPr wrap="square" lIns="0" tIns="0" rIns="0" bIns="0" rtlCol="0" anchor="t">
            <a:spAutoFit/>
          </a:bodyPr>
          <a:lstStyle/>
          <a:p>
            <a:pPr algn="ctr">
              <a:lnSpc>
                <a:spcPts val="1980"/>
              </a:lnSpc>
            </a:pPr>
            <a:r>
              <a:rPr lang="en-US" sz="1650" spc="15" dirty="0">
                <a:solidFill>
                  <a:srgbClr val="0070C0"/>
                </a:solidFill>
                <a:latin typeface="TT Rounds Condensed"/>
                <a:ea typeface="TT Rounds Condensed"/>
                <a:cs typeface="TT Rounds Condensed"/>
                <a:sym typeface="TT Rounds Condensed"/>
              </a:rPr>
              <a:t>11 | </a:t>
            </a:r>
            <a:r>
              <a:rPr lang="en-US" sz="1650" spc="15" dirty="0">
                <a:solidFill>
                  <a:srgbClr val="0070C0"/>
                </a:solidFill>
                <a:latin typeface="Arial Black" panose="020B0A04020102020204" pitchFamily="34" charset="0"/>
                <a:ea typeface="TT Rounds Condensed"/>
                <a:cs typeface="TT Rounds Condensed"/>
                <a:sym typeface="TT Rounds Condensed"/>
              </a:rPr>
              <a:t>33</a:t>
            </a:r>
            <a:endParaRPr lang="en-US" sz="1650" spc="15" dirty="0">
              <a:solidFill>
                <a:srgbClr val="0070C0"/>
              </a:solidFill>
              <a:latin typeface="Arial Black" panose="020B0A04020102020204" pitchFamily="34" charset="0"/>
              <a:ea typeface="TT Rounds Condensed Bold"/>
              <a:cs typeface="TT Rounds Condensed Bold"/>
              <a:sym typeface="TT Rounds Condensed Bold"/>
            </a:endParaRPr>
          </a:p>
        </p:txBody>
      </p:sp>
    </p:spTree>
    <p:extLst>
      <p:ext uri="{BB962C8B-B14F-4D97-AF65-F5344CB8AC3E}">
        <p14:creationId xmlns:p14="http://schemas.microsoft.com/office/powerpoint/2010/main" val="31423776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fr-SN" dirty="0"/>
          </a:p>
        </p:txBody>
      </p:sp>
      <p:sp>
        <p:nvSpPr>
          <p:cNvPr id="4" name="TextBox 4"/>
          <p:cNvSpPr txBox="1"/>
          <p:nvPr/>
        </p:nvSpPr>
        <p:spPr>
          <a:xfrm>
            <a:off x="381000" y="483052"/>
            <a:ext cx="14294526" cy="769441"/>
          </a:xfrm>
          <a:prstGeom prst="rect">
            <a:avLst/>
          </a:prstGeom>
        </p:spPr>
        <p:txBody>
          <a:bodyPr wrap="square" lIns="0" tIns="0" rIns="0" bIns="0" rtlCol="0" anchor="t">
            <a:spAutoFit/>
          </a:bodyPr>
          <a:lstStyle/>
          <a:p>
            <a:pPr algn="ctr">
              <a:lnSpc>
                <a:spcPts val="6000"/>
              </a:lnSpc>
            </a:pPr>
            <a:r>
              <a:rPr lang="en-US" sz="5400" dirty="0">
                <a:solidFill>
                  <a:srgbClr val="0070C0"/>
                </a:solidFill>
                <a:latin typeface="Arial Black" panose="020B0A04020102020204" pitchFamily="34" charset="0"/>
                <a:ea typeface="Arimo Bold"/>
                <a:cs typeface="Arimo Bold"/>
                <a:sym typeface="Arimo Bold"/>
              </a:rPr>
              <a:t>ARCHITECTURE DE </a:t>
            </a:r>
            <a:r>
              <a:rPr lang="en-US" sz="5400" dirty="0" err="1">
                <a:solidFill>
                  <a:srgbClr val="0070C0"/>
                </a:solidFill>
                <a:latin typeface="Arial Black" panose="020B0A04020102020204" pitchFamily="34" charset="0"/>
                <a:ea typeface="Arimo Bold"/>
                <a:cs typeface="Arimo Bold"/>
                <a:sym typeface="Arimo Bold"/>
              </a:rPr>
              <a:t>L’IdO</a:t>
            </a:r>
            <a:endParaRPr lang="en-US" sz="5400" dirty="0">
              <a:solidFill>
                <a:srgbClr val="0070C0"/>
              </a:solidFill>
              <a:latin typeface="Arial Black" panose="020B0A04020102020204" pitchFamily="34" charset="0"/>
              <a:ea typeface="Arimo Bold"/>
              <a:cs typeface="Arimo Bold"/>
              <a:sym typeface="Arimo Bold"/>
            </a:endParaRPr>
          </a:p>
        </p:txBody>
      </p:sp>
      <p:sp>
        <p:nvSpPr>
          <p:cNvPr id="6" name="TextBox 6"/>
          <p:cNvSpPr txBox="1"/>
          <p:nvPr/>
        </p:nvSpPr>
        <p:spPr>
          <a:xfrm>
            <a:off x="8415277" y="1943100"/>
            <a:ext cx="9155631" cy="6302495"/>
          </a:xfrm>
          <a:prstGeom prst="rect">
            <a:avLst/>
          </a:prstGeom>
        </p:spPr>
        <p:txBody>
          <a:bodyPr wrap="square" lIns="0" tIns="0" rIns="0" bIns="0" rtlCol="0" anchor="t">
            <a:spAutoFit/>
          </a:bodyPr>
          <a:lstStyle/>
          <a:p>
            <a:pPr algn="just">
              <a:lnSpc>
                <a:spcPts val="2700"/>
              </a:lnSpc>
            </a:pPr>
            <a:r>
              <a:rPr lang="fr-FR" sz="2400" spc="24" dirty="0">
                <a:solidFill>
                  <a:srgbClr val="000000"/>
                </a:solidFill>
                <a:latin typeface="Arial "/>
                <a:ea typeface="TT Rounds Condensed"/>
                <a:cs typeface="TT Rounds Condensed"/>
                <a:sym typeface="TT Rounds Condensed"/>
              </a:rPr>
              <a:t>Une architecture réseau </a:t>
            </a:r>
            <a:r>
              <a:rPr lang="fr-FR" sz="2400" spc="24" dirty="0" err="1">
                <a:solidFill>
                  <a:srgbClr val="000000"/>
                </a:solidFill>
                <a:latin typeface="Arial "/>
                <a:ea typeface="TT Rounds Condensed"/>
                <a:cs typeface="TT Rounds Condensed"/>
                <a:sym typeface="TT Rounds Condensed"/>
              </a:rPr>
              <a:t>IdO</a:t>
            </a:r>
            <a:r>
              <a:rPr lang="fr-FR" sz="2400" spc="24" dirty="0">
                <a:solidFill>
                  <a:srgbClr val="000000"/>
                </a:solidFill>
                <a:latin typeface="Arial "/>
                <a:ea typeface="TT Rounds Condensed"/>
                <a:cs typeface="TT Rounds Condensed"/>
                <a:sym typeface="TT Rounds Condensed"/>
              </a:rPr>
              <a:t> est un ensemble de briques de systèmes </a:t>
            </a:r>
            <a:r>
              <a:rPr lang="fr-FR" sz="2400" spc="24" dirty="0" err="1">
                <a:solidFill>
                  <a:srgbClr val="000000"/>
                </a:solidFill>
                <a:latin typeface="Arial "/>
                <a:ea typeface="TT Rounds Condensed"/>
                <a:cs typeface="TT Rounds Condensed"/>
                <a:sym typeface="TT Rounds Condensed"/>
              </a:rPr>
              <a:t>IdO</a:t>
            </a:r>
            <a:r>
              <a:rPr lang="fr-FR" sz="2400" spc="24" dirty="0">
                <a:solidFill>
                  <a:srgbClr val="000000"/>
                </a:solidFill>
                <a:latin typeface="Arial "/>
                <a:ea typeface="TT Rounds Condensed"/>
                <a:cs typeface="TT Rounds Condensed"/>
                <a:sym typeface="TT Rounds Condensed"/>
              </a:rPr>
              <a:t> qui communiquent entre eux pour relier le monde tangible des objets au monde virtuel des réseaux et du cloud.</a:t>
            </a:r>
          </a:p>
          <a:p>
            <a:pPr algn="just">
              <a:lnSpc>
                <a:spcPts val="2700"/>
              </a:lnSpc>
            </a:pPr>
            <a:endParaRPr lang="fr-FR" sz="2400" spc="24" dirty="0">
              <a:solidFill>
                <a:srgbClr val="000000"/>
              </a:solidFill>
              <a:latin typeface="Arial Black" panose="020B0A04020102020204" pitchFamily="34" charset="0"/>
              <a:ea typeface="TT Rounds Condensed"/>
              <a:cs typeface="TT Rounds Condensed"/>
              <a:sym typeface="TT Rounds Condensed"/>
            </a:endParaRPr>
          </a:p>
          <a:p>
            <a:pPr marL="285750" indent="-285750" algn="just">
              <a:lnSpc>
                <a:spcPct val="150000"/>
              </a:lnSpc>
              <a:buFont typeface="Wingdings" panose="05000000000000000000" pitchFamily="2" charset="2"/>
              <a:buChar char="v"/>
            </a:pPr>
            <a:r>
              <a:rPr lang="fr-SN" sz="2400" b="1" kern="0" dirty="0">
                <a:effectLst/>
                <a:latin typeface="Arial" panose="020B0604020202020204" pitchFamily="34" charset="0"/>
                <a:ea typeface="Times New Roman" panose="02020603050405020304" pitchFamily="18" charset="0"/>
                <a:cs typeface="Arial" panose="020B0604020202020204" pitchFamily="34" charset="0"/>
              </a:rPr>
              <a:t>Couche de Perception (Capteurs/Actuateurs)</a:t>
            </a:r>
            <a:endParaRPr lang="fr-SN" sz="2400" b="1" kern="100" dirty="0">
              <a:effectLst/>
              <a:latin typeface="Arial" panose="020B0604020202020204" pitchFamily="34" charset="0"/>
              <a:ea typeface="Calibri" panose="020F0502020204030204" pitchFamily="34" charset="0"/>
              <a:cs typeface="Arial" panose="020B0604020202020204" pitchFamily="34" charset="0"/>
            </a:endParaRPr>
          </a:p>
          <a:p>
            <a:pPr marL="285750" indent="-285750" algn="just">
              <a:lnSpc>
                <a:spcPct val="150000"/>
              </a:lnSpc>
              <a:buFont typeface="Wingdings" panose="05000000000000000000" pitchFamily="2" charset="2"/>
              <a:buChar char="v"/>
            </a:pPr>
            <a:r>
              <a:rPr lang="fr-SN" sz="2400" b="1" kern="0" dirty="0">
                <a:effectLst/>
                <a:latin typeface="Arial" panose="020B0604020202020204" pitchFamily="34" charset="0"/>
                <a:ea typeface="Times New Roman" panose="02020603050405020304" pitchFamily="18" charset="0"/>
                <a:cs typeface="Arial" panose="020B0604020202020204" pitchFamily="34" charset="0"/>
              </a:rPr>
              <a:t>Couche Réseau (Connectivité)</a:t>
            </a:r>
            <a:endParaRPr lang="fr-FR" sz="2400" b="1" kern="0" spc="24" dirty="0">
              <a:solidFill>
                <a:srgbClr val="000000"/>
              </a:solidFill>
              <a:effectLst/>
              <a:latin typeface="Arial" panose="020B0604020202020204" pitchFamily="34" charset="0"/>
              <a:ea typeface="Times New Roman" panose="02020603050405020304" pitchFamily="18" charset="0"/>
              <a:cs typeface="Arial" panose="020B0604020202020204" pitchFamily="34" charset="0"/>
              <a:sym typeface="TT Rounds Condensed"/>
            </a:endParaRPr>
          </a:p>
          <a:p>
            <a:pPr marL="285750" indent="-285750" algn="just">
              <a:lnSpc>
                <a:spcPct val="150000"/>
              </a:lnSpc>
              <a:buFont typeface="Wingdings" panose="05000000000000000000" pitchFamily="2" charset="2"/>
              <a:buChar char="v"/>
            </a:pPr>
            <a:r>
              <a:rPr lang="fr-SN" sz="2400" b="1" kern="0" dirty="0">
                <a:effectLst/>
                <a:latin typeface="Arial" panose="020B0604020202020204" pitchFamily="34" charset="0"/>
                <a:ea typeface="Times New Roman" panose="02020603050405020304" pitchFamily="18" charset="0"/>
                <a:cs typeface="Arial" panose="020B0604020202020204" pitchFamily="34" charset="0"/>
              </a:rPr>
              <a:t>Couche de Traitement (Edge/Fog </a:t>
            </a:r>
            <a:r>
              <a:rPr lang="fr-SN" sz="2400" b="1" kern="0" dirty="0" err="1">
                <a:effectLst/>
                <a:latin typeface="Arial" panose="020B0604020202020204" pitchFamily="34" charset="0"/>
                <a:ea typeface="Times New Roman" panose="02020603050405020304" pitchFamily="18" charset="0"/>
                <a:cs typeface="Arial" panose="020B0604020202020204" pitchFamily="34" charset="0"/>
              </a:rPr>
              <a:t>Computing</a:t>
            </a:r>
            <a:r>
              <a:rPr lang="fr-SN" sz="2400" b="1" kern="0" dirty="0">
                <a:effectLst/>
                <a:latin typeface="Arial" panose="020B0604020202020204" pitchFamily="34" charset="0"/>
                <a:ea typeface="Times New Roman" panose="02020603050405020304" pitchFamily="18" charset="0"/>
                <a:cs typeface="Arial" panose="020B0604020202020204" pitchFamily="34" charset="0"/>
              </a:rPr>
              <a:t>)</a:t>
            </a:r>
            <a:endParaRPr lang="fr-FR" sz="2400" b="1" kern="0" spc="24" dirty="0">
              <a:solidFill>
                <a:srgbClr val="000000"/>
              </a:solidFill>
              <a:latin typeface="Arial" panose="020B0604020202020204" pitchFamily="34" charset="0"/>
              <a:ea typeface="Times New Roman" panose="02020603050405020304" pitchFamily="18" charset="0"/>
              <a:cs typeface="Arial" panose="020B0604020202020204" pitchFamily="34" charset="0"/>
              <a:sym typeface="TT Rounds Condensed"/>
            </a:endParaRPr>
          </a:p>
          <a:p>
            <a:pPr marL="285750" indent="-285750" algn="just">
              <a:lnSpc>
                <a:spcPct val="150000"/>
              </a:lnSpc>
              <a:buFont typeface="Wingdings" panose="05000000000000000000" pitchFamily="2" charset="2"/>
              <a:buChar char="v"/>
            </a:pPr>
            <a:r>
              <a:rPr lang="fr-SN" sz="2400" b="1" kern="0" dirty="0">
                <a:effectLst/>
                <a:latin typeface="Arial" panose="020B0604020202020204" pitchFamily="34" charset="0"/>
                <a:ea typeface="Times New Roman" panose="02020603050405020304" pitchFamily="18" charset="0"/>
                <a:cs typeface="Arial" panose="020B0604020202020204" pitchFamily="34" charset="0"/>
              </a:rPr>
              <a:t>Couche Application (Cloud/Serveurs)</a:t>
            </a:r>
            <a:endParaRPr lang="fr-FR" sz="2400" b="1" kern="0" spc="24" dirty="0">
              <a:solidFill>
                <a:srgbClr val="000000"/>
              </a:solidFill>
              <a:effectLst/>
              <a:latin typeface="Arial" panose="020B0604020202020204" pitchFamily="34" charset="0"/>
              <a:ea typeface="Times New Roman" panose="02020603050405020304" pitchFamily="18" charset="0"/>
              <a:cs typeface="Arial" panose="020B0604020202020204" pitchFamily="34" charset="0"/>
              <a:sym typeface="TT Rounds Condensed"/>
            </a:endParaRPr>
          </a:p>
          <a:p>
            <a:pPr marL="285750" indent="-285750" algn="just">
              <a:lnSpc>
                <a:spcPct val="150000"/>
              </a:lnSpc>
              <a:buFont typeface="Wingdings" panose="05000000000000000000" pitchFamily="2" charset="2"/>
              <a:buChar char="v"/>
            </a:pPr>
            <a:r>
              <a:rPr lang="fr-SN" sz="2400" b="1" kern="0" dirty="0">
                <a:effectLst/>
                <a:latin typeface="Arial" panose="020B0604020202020204" pitchFamily="34" charset="0"/>
                <a:ea typeface="Times New Roman" panose="02020603050405020304" pitchFamily="18" charset="0"/>
                <a:cs typeface="Arial" panose="020B0604020202020204" pitchFamily="34" charset="0"/>
              </a:rPr>
              <a:t>Couche de Sécurité</a:t>
            </a:r>
            <a:endParaRPr lang="fr-FR" sz="2400" spc="24" dirty="0">
              <a:solidFill>
                <a:srgbClr val="000000"/>
              </a:solidFill>
              <a:latin typeface="Arial" panose="020B0604020202020204" pitchFamily="34" charset="0"/>
              <a:ea typeface="TT Rounds Condensed"/>
              <a:cs typeface="Arial" panose="020B0604020202020204" pitchFamily="34" charset="0"/>
              <a:sym typeface="TT Rounds Condensed"/>
            </a:endParaRPr>
          </a:p>
          <a:p>
            <a:pPr marL="742950" lvl="1" indent="-285750" algn="just">
              <a:lnSpc>
                <a:spcPct val="150000"/>
              </a:lnSpc>
              <a:buFont typeface="Arial" panose="020B0604020202020204" pitchFamily="34" charset="0"/>
              <a:buChar char="•"/>
            </a:pPr>
            <a:r>
              <a:rPr lang="fr-SN" sz="2400" kern="0" dirty="0">
                <a:effectLst/>
                <a:latin typeface="Arial" panose="020B0604020202020204" pitchFamily="34" charset="0"/>
                <a:ea typeface="Times New Roman" panose="02020603050405020304" pitchFamily="18" charset="0"/>
                <a:cs typeface="Arial" panose="020B0604020202020204" pitchFamily="34" charset="0"/>
              </a:rPr>
              <a:t>Sécurisation des Dispositifs (End-</a:t>
            </a:r>
            <a:r>
              <a:rPr lang="fr-SN" sz="2400" kern="0" dirty="0" err="1">
                <a:effectLst/>
                <a:latin typeface="Arial" panose="020B0604020202020204" pitchFamily="34" charset="0"/>
                <a:ea typeface="Times New Roman" panose="02020603050405020304" pitchFamily="18" charset="0"/>
                <a:cs typeface="Arial" panose="020B0604020202020204" pitchFamily="34" charset="0"/>
              </a:rPr>
              <a:t>Device</a:t>
            </a:r>
            <a:r>
              <a:rPr lang="fr-SN" sz="2400" kern="0" dirty="0">
                <a:effectLst/>
                <a:latin typeface="Arial" panose="020B0604020202020204" pitchFamily="34" charset="0"/>
                <a:ea typeface="Times New Roman" panose="02020603050405020304" pitchFamily="18" charset="0"/>
                <a:cs typeface="Arial" panose="020B0604020202020204" pitchFamily="34" charset="0"/>
              </a:rPr>
              <a:t> Security)</a:t>
            </a:r>
            <a:endParaRPr lang="fr-FR" sz="2400" kern="0" spc="24" dirty="0">
              <a:solidFill>
                <a:srgbClr val="000000"/>
              </a:solidFill>
              <a:effectLst/>
              <a:latin typeface="Arial" panose="020B0604020202020204" pitchFamily="34" charset="0"/>
              <a:ea typeface="Times New Roman" panose="02020603050405020304" pitchFamily="18" charset="0"/>
              <a:cs typeface="Arial" panose="020B0604020202020204" pitchFamily="34" charset="0"/>
              <a:sym typeface="TT Rounds Condensed"/>
            </a:endParaRPr>
          </a:p>
          <a:p>
            <a:pPr marL="742950" lvl="1" indent="-285750" algn="just">
              <a:lnSpc>
                <a:spcPct val="150000"/>
              </a:lnSpc>
              <a:buFont typeface="Arial" panose="020B0604020202020204" pitchFamily="34" charset="0"/>
              <a:buChar char="•"/>
            </a:pPr>
            <a:r>
              <a:rPr lang="fr-SN" sz="2400" kern="0" dirty="0">
                <a:effectLst/>
                <a:latin typeface="Arial" panose="020B0604020202020204" pitchFamily="34" charset="0"/>
                <a:ea typeface="Times New Roman" panose="02020603050405020304" pitchFamily="18" charset="0"/>
                <a:cs typeface="Arial" panose="020B0604020202020204" pitchFamily="34" charset="0"/>
              </a:rPr>
              <a:t>Sécurisation des Communications (Network Security)</a:t>
            </a:r>
            <a:endParaRPr lang="fr-SN" sz="2400" kern="100" dirty="0">
              <a:effectLst/>
              <a:latin typeface="Arial" panose="020B0604020202020204" pitchFamily="34" charset="0"/>
              <a:ea typeface="Calibri" panose="020F0502020204030204" pitchFamily="34" charset="0"/>
              <a:cs typeface="Arial" panose="020B0604020202020204" pitchFamily="34" charset="0"/>
            </a:endParaRPr>
          </a:p>
          <a:p>
            <a:pPr marL="742950" lvl="1" indent="-285750" algn="just">
              <a:lnSpc>
                <a:spcPct val="150000"/>
              </a:lnSpc>
              <a:buFont typeface="Arial" panose="020B0604020202020204" pitchFamily="34" charset="0"/>
              <a:buChar char="•"/>
            </a:pPr>
            <a:r>
              <a:rPr lang="fr-SN" sz="2400" kern="0" dirty="0">
                <a:effectLst/>
                <a:latin typeface="Arial" panose="020B0604020202020204" pitchFamily="34" charset="0"/>
                <a:ea typeface="Times New Roman" panose="02020603050405020304" pitchFamily="18" charset="0"/>
                <a:cs typeface="Arial" panose="020B0604020202020204" pitchFamily="34" charset="0"/>
              </a:rPr>
              <a:t>Sécurisation des Passerelles (Gateway Security)</a:t>
            </a:r>
            <a:endParaRPr lang="fr-FR" sz="2400" kern="0" spc="24" dirty="0">
              <a:solidFill>
                <a:srgbClr val="000000"/>
              </a:solidFill>
              <a:latin typeface="Arial" panose="020B0604020202020204" pitchFamily="34" charset="0"/>
              <a:ea typeface="Times New Roman" panose="02020603050405020304" pitchFamily="18" charset="0"/>
              <a:cs typeface="Arial" panose="020B0604020202020204" pitchFamily="34" charset="0"/>
              <a:sym typeface="TT Rounds Condensed"/>
            </a:endParaRPr>
          </a:p>
          <a:p>
            <a:pPr marL="742950" lvl="1" indent="-285750" algn="just">
              <a:lnSpc>
                <a:spcPct val="150000"/>
              </a:lnSpc>
              <a:buFont typeface="Arial" panose="020B0604020202020204" pitchFamily="34" charset="0"/>
              <a:buChar char="•"/>
            </a:pPr>
            <a:r>
              <a:rPr lang="fr-SN" sz="2400" kern="0" dirty="0">
                <a:effectLst/>
                <a:latin typeface="Arial" panose="020B0604020202020204" pitchFamily="34" charset="0"/>
                <a:ea typeface="Times New Roman" panose="02020603050405020304" pitchFamily="18" charset="0"/>
                <a:cs typeface="Arial" panose="020B0604020202020204" pitchFamily="34" charset="0"/>
              </a:rPr>
              <a:t>Sécurisation du Cloud/Serveurs (Cloud/Server Security)</a:t>
            </a:r>
            <a:endParaRPr lang="fr-FR" sz="2400" spc="24" dirty="0">
              <a:solidFill>
                <a:srgbClr val="000000"/>
              </a:solidFill>
              <a:latin typeface="Arial" panose="020B0604020202020204" pitchFamily="34" charset="0"/>
              <a:ea typeface="TT Rounds Condensed"/>
              <a:cs typeface="Arial" panose="020B0604020202020204" pitchFamily="34" charset="0"/>
              <a:sym typeface="TT Rounds Condensed"/>
            </a:endParaRPr>
          </a:p>
        </p:txBody>
      </p:sp>
      <p:grpSp>
        <p:nvGrpSpPr>
          <p:cNvPr id="7" name="Group 3">
            <a:extLst>
              <a:ext uri="{FF2B5EF4-FFF2-40B4-BE49-F238E27FC236}">
                <a16:creationId xmlns:a16="http://schemas.microsoft.com/office/drawing/2014/main" id="{54B607FC-8358-2A1B-0586-E61AEC0F5963}"/>
              </a:ext>
            </a:extLst>
          </p:cNvPr>
          <p:cNvGrpSpPr/>
          <p:nvPr/>
        </p:nvGrpSpPr>
        <p:grpSpPr>
          <a:xfrm>
            <a:off x="533400" y="1728253"/>
            <a:ext cx="6683693" cy="7641812"/>
            <a:chOff x="0" y="0"/>
            <a:chExt cx="8911590" cy="10189083"/>
          </a:xfrm>
        </p:grpSpPr>
        <p:sp>
          <p:nvSpPr>
            <p:cNvPr id="8" name="Freeform 4">
              <a:extLst>
                <a:ext uri="{FF2B5EF4-FFF2-40B4-BE49-F238E27FC236}">
                  <a16:creationId xmlns:a16="http://schemas.microsoft.com/office/drawing/2014/main" id="{CBB19F8C-8CF4-1E12-F055-146C0A38E2FF}"/>
                </a:ext>
              </a:extLst>
            </p:cNvPr>
            <p:cNvSpPr/>
            <p:nvPr/>
          </p:nvSpPr>
          <p:spPr>
            <a:xfrm>
              <a:off x="0" y="0"/>
              <a:ext cx="8911590" cy="10189083"/>
            </a:xfrm>
            <a:custGeom>
              <a:avLst/>
              <a:gdLst/>
              <a:ahLst/>
              <a:cxnLst/>
              <a:rect l="l" t="t" r="r" b="b"/>
              <a:pathLst>
                <a:path w="8911590" h="10189083">
                  <a:moveTo>
                    <a:pt x="0" y="1485265"/>
                  </a:moveTo>
                  <a:cubicBezTo>
                    <a:pt x="0" y="664972"/>
                    <a:pt x="664972" y="0"/>
                    <a:pt x="1485265" y="0"/>
                  </a:cubicBezTo>
                  <a:lnTo>
                    <a:pt x="7426325" y="0"/>
                  </a:lnTo>
                  <a:cubicBezTo>
                    <a:pt x="8246618" y="0"/>
                    <a:pt x="8911590" y="664972"/>
                    <a:pt x="8911590" y="1485265"/>
                  </a:cubicBezTo>
                  <a:lnTo>
                    <a:pt x="8911590" y="8703691"/>
                  </a:lnTo>
                  <a:cubicBezTo>
                    <a:pt x="8911590" y="9523985"/>
                    <a:pt x="8246618" y="10188956"/>
                    <a:pt x="7426325" y="10188956"/>
                  </a:cubicBezTo>
                  <a:lnTo>
                    <a:pt x="1485265" y="10188956"/>
                  </a:lnTo>
                  <a:cubicBezTo>
                    <a:pt x="664972" y="10189083"/>
                    <a:pt x="0" y="9523984"/>
                    <a:pt x="0" y="8703691"/>
                  </a:cubicBezTo>
                  <a:close/>
                </a:path>
              </a:pathLst>
            </a:custGeom>
            <a:gradFill rotWithShape="1">
              <a:gsLst>
                <a:gs pos="0">
                  <a:srgbClr val="00B0F0">
                    <a:alpha val="100000"/>
                  </a:srgbClr>
                </a:gs>
                <a:gs pos="100000">
                  <a:srgbClr val="0070C0">
                    <a:alpha val="100000"/>
                  </a:srgbClr>
                </a:gs>
              </a:gsLst>
              <a:lin ang="10800000"/>
            </a:gradFill>
          </p:spPr>
          <p:txBody>
            <a:bodyPr/>
            <a:lstStyle/>
            <a:p>
              <a:endParaRPr lang="fr-SN" dirty="0"/>
            </a:p>
          </p:txBody>
        </p:sp>
      </p:grpSp>
      <p:sp>
        <p:nvSpPr>
          <p:cNvPr id="9" name="Freeform 5">
            <a:extLst>
              <a:ext uri="{FF2B5EF4-FFF2-40B4-BE49-F238E27FC236}">
                <a16:creationId xmlns:a16="http://schemas.microsoft.com/office/drawing/2014/main" id="{D31AFBDA-6B6B-2C50-D93D-6124A067BB9F}"/>
              </a:ext>
            </a:extLst>
          </p:cNvPr>
          <p:cNvSpPr/>
          <p:nvPr/>
        </p:nvSpPr>
        <p:spPr>
          <a:xfrm>
            <a:off x="912184" y="6265077"/>
            <a:ext cx="1202271" cy="2446824"/>
          </a:xfrm>
          <a:custGeom>
            <a:avLst/>
            <a:gdLst/>
            <a:ahLst/>
            <a:cxnLst/>
            <a:rect l="l" t="t" r="r" b="b"/>
            <a:pathLst>
              <a:path w="1202271" h="2446824">
                <a:moveTo>
                  <a:pt x="0" y="0"/>
                </a:moveTo>
                <a:lnTo>
                  <a:pt x="1202272" y="0"/>
                </a:lnTo>
                <a:lnTo>
                  <a:pt x="1202272" y="2446824"/>
                </a:lnTo>
                <a:lnTo>
                  <a:pt x="0" y="244682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fr-SN" dirty="0"/>
          </a:p>
        </p:txBody>
      </p:sp>
      <p:pic>
        <p:nvPicPr>
          <p:cNvPr id="14" name="Image 13">
            <a:extLst>
              <a:ext uri="{FF2B5EF4-FFF2-40B4-BE49-F238E27FC236}">
                <a16:creationId xmlns:a16="http://schemas.microsoft.com/office/drawing/2014/main" id="{0A9D89F1-51E4-9268-9A12-33AB98639204}"/>
              </a:ext>
            </a:extLst>
          </p:cNvPr>
          <p:cNvPicPr>
            <a:picLocks noChangeAspect="1"/>
          </p:cNvPicPr>
          <p:nvPr/>
        </p:nvPicPr>
        <p:blipFill rotWithShape="1">
          <a:blip r:embed="rId5"/>
          <a:srcRect l="8595" t="4983" r="2172" b="6080"/>
          <a:stretch/>
        </p:blipFill>
        <p:spPr>
          <a:xfrm>
            <a:off x="838200" y="1387888"/>
            <a:ext cx="7378908" cy="7641812"/>
          </a:xfrm>
          <a:prstGeom prst="roundRect">
            <a:avLst/>
          </a:prstGeom>
        </p:spPr>
      </p:pic>
      <p:sp>
        <p:nvSpPr>
          <p:cNvPr id="15" name="TextBox 20">
            <a:extLst>
              <a:ext uri="{FF2B5EF4-FFF2-40B4-BE49-F238E27FC236}">
                <a16:creationId xmlns:a16="http://schemas.microsoft.com/office/drawing/2014/main" id="{7C5DD5CF-AA29-6B9B-D16B-4903A10353E3}"/>
              </a:ext>
            </a:extLst>
          </p:cNvPr>
          <p:cNvSpPr txBox="1"/>
          <p:nvPr/>
        </p:nvSpPr>
        <p:spPr>
          <a:xfrm>
            <a:off x="17127734" y="9791700"/>
            <a:ext cx="855466" cy="245260"/>
          </a:xfrm>
          <a:prstGeom prst="rect">
            <a:avLst/>
          </a:prstGeom>
        </p:spPr>
        <p:txBody>
          <a:bodyPr wrap="square" lIns="0" tIns="0" rIns="0" bIns="0" rtlCol="0" anchor="t">
            <a:spAutoFit/>
          </a:bodyPr>
          <a:lstStyle/>
          <a:p>
            <a:pPr algn="ctr">
              <a:lnSpc>
                <a:spcPts val="1980"/>
              </a:lnSpc>
            </a:pPr>
            <a:r>
              <a:rPr lang="en-US" sz="1650" spc="15" dirty="0">
                <a:solidFill>
                  <a:srgbClr val="0070C0"/>
                </a:solidFill>
                <a:latin typeface="TT Rounds Condensed"/>
                <a:ea typeface="TT Rounds Condensed"/>
                <a:cs typeface="TT Rounds Condensed"/>
                <a:sym typeface="TT Rounds Condensed"/>
              </a:rPr>
              <a:t>12 | </a:t>
            </a:r>
            <a:r>
              <a:rPr lang="en-US" sz="1650" spc="15" dirty="0">
                <a:solidFill>
                  <a:srgbClr val="0070C0"/>
                </a:solidFill>
                <a:latin typeface="Arial Black" panose="020B0A04020102020204" pitchFamily="34" charset="0"/>
                <a:ea typeface="TT Rounds Condensed"/>
                <a:cs typeface="TT Rounds Condensed"/>
                <a:sym typeface="TT Rounds Condensed"/>
              </a:rPr>
              <a:t>33</a:t>
            </a:r>
            <a:endParaRPr lang="en-US" sz="1650" spc="15" dirty="0">
              <a:solidFill>
                <a:srgbClr val="0070C0"/>
              </a:solidFill>
              <a:latin typeface="Arial Black" panose="020B0A04020102020204" pitchFamily="34" charset="0"/>
              <a:ea typeface="TT Rounds Condensed Bold"/>
              <a:cs typeface="TT Rounds Condensed Bold"/>
              <a:sym typeface="TT Rounds Condensed Bold"/>
            </a:endParaRPr>
          </a:p>
        </p:txBody>
      </p:sp>
    </p:spTree>
    <p:extLst>
      <p:ext uri="{BB962C8B-B14F-4D97-AF65-F5344CB8AC3E}">
        <p14:creationId xmlns:p14="http://schemas.microsoft.com/office/powerpoint/2010/main" val="26033253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fr-SN" dirty="0"/>
          </a:p>
        </p:txBody>
      </p:sp>
      <p:sp>
        <p:nvSpPr>
          <p:cNvPr id="4" name="TextBox 4"/>
          <p:cNvSpPr txBox="1"/>
          <p:nvPr/>
        </p:nvSpPr>
        <p:spPr>
          <a:xfrm>
            <a:off x="381000" y="483052"/>
            <a:ext cx="14294526" cy="769441"/>
          </a:xfrm>
          <a:prstGeom prst="rect">
            <a:avLst/>
          </a:prstGeom>
        </p:spPr>
        <p:txBody>
          <a:bodyPr wrap="square" lIns="0" tIns="0" rIns="0" bIns="0" rtlCol="0" anchor="t">
            <a:spAutoFit/>
          </a:bodyPr>
          <a:lstStyle/>
          <a:p>
            <a:pPr algn="ctr">
              <a:lnSpc>
                <a:spcPts val="6000"/>
              </a:lnSpc>
            </a:pPr>
            <a:r>
              <a:rPr lang="en-US" sz="5400" dirty="0">
                <a:solidFill>
                  <a:srgbClr val="0070C0"/>
                </a:solidFill>
                <a:latin typeface="Arial Black" panose="020B0A04020102020204" pitchFamily="34" charset="0"/>
                <a:ea typeface="Arimo Bold"/>
                <a:cs typeface="Arimo Bold"/>
                <a:sym typeface="Arimo Bold"/>
              </a:rPr>
              <a:t>COMMUNICATIONS DE </a:t>
            </a:r>
            <a:r>
              <a:rPr lang="en-US" sz="5400" dirty="0" err="1">
                <a:solidFill>
                  <a:srgbClr val="0070C0"/>
                </a:solidFill>
                <a:latin typeface="Arial Black" panose="020B0A04020102020204" pitchFamily="34" charset="0"/>
                <a:ea typeface="Arimo Bold"/>
                <a:cs typeface="Arimo Bold"/>
                <a:sym typeface="Arimo Bold"/>
              </a:rPr>
              <a:t>L’IdO</a:t>
            </a:r>
            <a:endParaRPr lang="en-US" sz="5400" dirty="0">
              <a:solidFill>
                <a:srgbClr val="0070C0"/>
              </a:solidFill>
              <a:latin typeface="Arial Black" panose="020B0A04020102020204" pitchFamily="34" charset="0"/>
              <a:ea typeface="Arimo Bold"/>
              <a:cs typeface="Arimo Bold"/>
              <a:sym typeface="Arimo Bold"/>
            </a:endParaRPr>
          </a:p>
        </p:txBody>
      </p:sp>
      <p:grpSp>
        <p:nvGrpSpPr>
          <p:cNvPr id="7" name="Group 3">
            <a:extLst>
              <a:ext uri="{FF2B5EF4-FFF2-40B4-BE49-F238E27FC236}">
                <a16:creationId xmlns:a16="http://schemas.microsoft.com/office/drawing/2014/main" id="{54B607FC-8358-2A1B-0586-E61AEC0F5963}"/>
              </a:ext>
            </a:extLst>
          </p:cNvPr>
          <p:cNvGrpSpPr/>
          <p:nvPr/>
        </p:nvGrpSpPr>
        <p:grpSpPr>
          <a:xfrm>
            <a:off x="11223308" y="1728253"/>
            <a:ext cx="6683693" cy="7641812"/>
            <a:chOff x="0" y="0"/>
            <a:chExt cx="8911590" cy="10189083"/>
          </a:xfrm>
        </p:grpSpPr>
        <p:sp>
          <p:nvSpPr>
            <p:cNvPr id="8" name="Freeform 4">
              <a:extLst>
                <a:ext uri="{FF2B5EF4-FFF2-40B4-BE49-F238E27FC236}">
                  <a16:creationId xmlns:a16="http://schemas.microsoft.com/office/drawing/2014/main" id="{CBB19F8C-8CF4-1E12-F055-146C0A38E2FF}"/>
                </a:ext>
              </a:extLst>
            </p:cNvPr>
            <p:cNvSpPr/>
            <p:nvPr/>
          </p:nvSpPr>
          <p:spPr>
            <a:xfrm>
              <a:off x="0" y="0"/>
              <a:ext cx="8911590" cy="10189083"/>
            </a:xfrm>
            <a:custGeom>
              <a:avLst/>
              <a:gdLst/>
              <a:ahLst/>
              <a:cxnLst/>
              <a:rect l="l" t="t" r="r" b="b"/>
              <a:pathLst>
                <a:path w="8911590" h="10189083">
                  <a:moveTo>
                    <a:pt x="0" y="1485265"/>
                  </a:moveTo>
                  <a:cubicBezTo>
                    <a:pt x="0" y="664972"/>
                    <a:pt x="664972" y="0"/>
                    <a:pt x="1485265" y="0"/>
                  </a:cubicBezTo>
                  <a:lnTo>
                    <a:pt x="7426325" y="0"/>
                  </a:lnTo>
                  <a:cubicBezTo>
                    <a:pt x="8246618" y="0"/>
                    <a:pt x="8911590" y="664972"/>
                    <a:pt x="8911590" y="1485265"/>
                  </a:cubicBezTo>
                  <a:lnTo>
                    <a:pt x="8911590" y="8703691"/>
                  </a:lnTo>
                  <a:cubicBezTo>
                    <a:pt x="8911590" y="9523985"/>
                    <a:pt x="8246618" y="10188956"/>
                    <a:pt x="7426325" y="10188956"/>
                  </a:cubicBezTo>
                  <a:lnTo>
                    <a:pt x="1485265" y="10188956"/>
                  </a:lnTo>
                  <a:cubicBezTo>
                    <a:pt x="664972" y="10189083"/>
                    <a:pt x="0" y="9523984"/>
                    <a:pt x="0" y="8703691"/>
                  </a:cubicBezTo>
                  <a:close/>
                </a:path>
              </a:pathLst>
            </a:custGeom>
            <a:gradFill rotWithShape="1">
              <a:gsLst>
                <a:gs pos="0">
                  <a:srgbClr val="00B0F0">
                    <a:alpha val="100000"/>
                  </a:srgbClr>
                </a:gs>
                <a:gs pos="100000">
                  <a:srgbClr val="0070C0">
                    <a:alpha val="100000"/>
                  </a:srgbClr>
                </a:gs>
              </a:gsLst>
              <a:lin ang="10800000"/>
            </a:gradFill>
          </p:spPr>
          <p:txBody>
            <a:bodyPr/>
            <a:lstStyle/>
            <a:p>
              <a:endParaRPr lang="fr-SN" dirty="0"/>
            </a:p>
          </p:txBody>
        </p:sp>
      </p:grpSp>
      <p:sp>
        <p:nvSpPr>
          <p:cNvPr id="9" name="Freeform 5">
            <a:extLst>
              <a:ext uri="{FF2B5EF4-FFF2-40B4-BE49-F238E27FC236}">
                <a16:creationId xmlns:a16="http://schemas.microsoft.com/office/drawing/2014/main" id="{D31AFBDA-6B6B-2C50-D93D-6124A067BB9F}"/>
              </a:ext>
            </a:extLst>
          </p:cNvPr>
          <p:cNvSpPr/>
          <p:nvPr/>
        </p:nvSpPr>
        <p:spPr>
          <a:xfrm>
            <a:off x="11602092" y="6265077"/>
            <a:ext cx="1202271" cy="2446824"/>
          </a:xfrm>
          <a:custGeom>
            <a:avLst/>
            <a:gdLst/>
            <a:ahLst/>
            <a:cxnLst/>
            <a:rect l="l" t="t" r="r" b="b"/>
            <a:pathLst>
              <a:path w="1202271" h="2446824">
                <a:moveTo>
                  <a:pt x="0" y="0"/>
                </a:moveTo>
                <a:lnTo>
                  <a:pt x="1202272" y="0"/>
                </a:lnTo>
                <a:lnTo>
                  <a:pt x="1202272" y="2446824"/>
                </a:lnTo>
                <a:lnTo>
                  <a:pt x="0" y="244682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fr-SN" dirty="0"/>
          </a:p>
        </p:txBody>
      </p:sp>
      <p:pic>
        <p:nvPicPr>
          <p:cNvPr id="5122" name="Picture 2" descr="IoT Communication Protocols—Network Protocols - Technical Articles">
            <a:extLst>
              <a:ext uri="{FF2B5EF4-FFF2-40B4-BE49-F238E27FC236}">
                <a16:creationId xmlns:a16="http://schemas.microsoft.com/office/drawing/2014/main" id="{C850A36B-1554-0C31-4579-8388900B36D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680508" y="1567808"/>
            <a:ext cx="6683692" cy="7309492"/>
          </a:xfrm>
          <a:prstGeom prst="roundRect">
            <a:avLst/>
          </a:prstGeom>
          <a:noFill/>
          <a:extLst>
            <a:ext uri="{909E8E84-426E-40DD-AFC4-6F175D3DCCD1}">
              <a14:hiddenFill xmlns:a14="http://schemas.microsoft.com/office/drawing/2010/main">
                <a:solidFill>
                  <a:srgbClr val="FFFFFF"/>
                </a:solidFill>
              </a14:hiddenFill>
            </a:ext>
          </a:extLst>
        </p:spPr>
      </p:pic>
      <p:sp>
        <p:nvSpPr>
          <p:cNvPr id="11" name="Rectangle 5">
            <a:extLst>
              <a:ext uri="{FF2B5EF4-FFF2-40B4-BE49-F238E27FC236}">
                <a16:creationId xmlns:a16="http://schemas.microsoft.com/office/drawing/2014/main" id="{20A96325-6330-2BD6-DDEF-A7E894273F67}"/>
              </a:ext>
            </a:extLst>
          </p:cNvPr>
          <p:cNvSpPr>
            <a:spLocks noChangeArrowheads="1"/>
          </p:cNvSpPr>
          <p:nvPr/>
        </p:nvSpPr>
        <p:spPr bwMode="auto">
          <a:xfrm>
            <a:off x="838200" y="2756015"/>
            <a:ext cx="10363200" cy="52400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07000"/>
              </a:lnSpc>
              <a:spcAft>
                <a:spcPts val="800"/>
              </a:spcAft>
            </a:pPr>
            <a:r>
              <a:rPr lang="fr-SN" sz="2400" kern="0" dirty="0">
                <a:effectLst/>
                <a:latin typeface="Arial" panose="020B0604020202020204" pitchFamily="34" charset="0"/>
                <a:ea typeface="Times New Roman" panose="02020603050405020304" pitchFamily="18" charset="0"/>
                <a:cs typeface="Arial" panose="020B0604020202020204" pitchFamily="34" charset="0"/>
              </a:rPr>
              <a:t>Les technologies de communication sont cruciales pour le fonctionnement des objets connectés (</a:t>
            </a:r>
            <a:r>
              <a:rPr lang="fr-SN" sz="2400" kern="0" dirty="0" err="1">
                <a:effectLst/>
                <a:latin typeface="Arial" panose="020B0604020202020204" pitchFamily="34" charset="0"/>
                <a:ea typeface="Times New Roman" panose="02020603050405020304" pitchFamily="18" charset="0"/>
                <a:cs typeface="Arial" panose="020B0604020202020204" pitchFamily="34" charset="0"/>
              </a:rPr>
              <a:t>IdO</a:t>
            </a:r>
            <a:r>
              <a:rPr lang="fr-SN" sz="2400" kern="0" dirty="0">
                <a:effectLst/>
                <a:latin typeface="Arial" panose="020B0604020202020204" pitchFamily="34" charset="0"/>
                <a:ea typeface="Times New Roman" panose="02020603050405020304" pitchFamily="18" charset="0"/>
                <a:cs typeface="Arial" panose="020B0604020202020204" pitchFamily="34" charset="0"/>
              </a:rPr>
              <a:t>), permettant une transmission efficace et fiable des données</a:t>
            </a:r>
          </a:p>
          <a:p>
            <a:pPr marL="342900" lvl="0" indent="-342900">
              <a:lnSpc>
                <a:spcPct val="107000"/>
              </a:lnSpc>
              <a:spcAft>
                <a:spcPts val="800"/>
              </a:spcAft>
              <a:buFont typeface="Wingdings" panose="05000000000000000000" pitchFamily="2" charset="2"/>
              <a:buChar char="v"/>
              <a:tabLst>
                <a:tab pos="457200" algn="l"/>
              </a:tabLst>
            </a:pPr>
            <a:r>
              <a:rPr lang="fr-SN" sz="2400" b="1" kern="0" dirty="0">
                <a:effectLst/>
                <a:latin typeface="Arial" panose="020B0604020202020204" pitchFamily="34" charset="0"/>
                <a:ea typeface="Times New Roman" panose="02020603050405020304" pitchFamily="18" charset="0"/>
                <a:cs typeface="Arial" panose="020B0604020202020204" pitchFamily="34" charset="0"/>
              </a:rPr>
              <a:t>Communication à courte portée</a:t>
            </a:r>
            <a:r>
              <a:rPr lang="fr-SN" sz="2400" kern="0" dirty="0">
                <a:effectLst/>
                <a:latin typeface="Arial" panose="020B0604020202020204" pitchFamily="34" charset="0"/>
                <a:ea typeface="Times New Roman" panose="02020603050405020304" pitchFamily="18" charset="0"/>
                <a:cs typeface="Arial" panose="020B0604020202020204" pitchFamily="34" charset="0"/>
              </a:rPr>
              <a:t> :</a:t>
            </a:r>
          </a:p>
          <a:p>
            <a:pPr marL="742950" lvl="1" indent="-285750">
              <a:lnSpc>
                <a:spcPct val="107000"/>
              </a:lnSpc>
              <a:spcAft>
                <a:spcPts val="800"/>
              </a:spcAft>
              <a:buSzPts val="1000"/>
              <a:buFont typeface="Courier New" panose="02070309020205020404" pitchFamily="49" charset="0"/>
              <a:buChar char="o"/>
              <a:tabLst>
                <a:tab pos="914400" algn="l"/>
              </a:tabLst>
            </a:pPr>
            <a:r>
              <a:rPr lang="fr-SN" sz="2400" b="1" kern="0" dirty="0">
                <a:effectLst/>
                <a:latin typeface="Arial" panose="020B0604020202020204" pitchFamily="34" charset="0"/>
                <a:ea typeface="Times New Roman" panose="02020603050405020304" pitchFamily="18" charset="0"/>
                <a:cs typeface="Arial" panose="020B0604020202020204" pitchFamily="34" charset="0"/>
              </a:rPr>
              <a:t>Bluetooth</a:t>
            </a:r>
            <a:r>
              <a:rPr lang="fr-SN" sz="2400" kern="0" dirty="0">
                <a:effectLst/>
                <a:latin typeface="Arial" panose="020B0604020202020204" pitchFamily="34" charset="0"/>
                <a:ea typeface="Times New Roman" panose="02020603050405020304" pitchFamily="18" charset="0"/>
                <a:cs typeface="Arial" panose="020B0604020202020204" pitchFamily="34" charset="0"/>
              </a:rPr>
              <a:t> </a:t>
            </a:r>
          </a:p>
          <a:p>
            <a:pPr marL="742950" lvl="1" indent="-285750">
              <a:lnSpc>
                <a:spcPct val="107000"/>
              </a:lnSpc>
              <a:spcAft>
                <a:spcPts val="800"/>
              </a:spcAft>
              <a:buSzPts val="1000"/>
              <a:buFont typeface="Courier New" panose="02070309020205020404" pitchFamily="49" charset="0"/>
              <a:buChar char="o"/>
              <a:tabLst>
                <a:tab pos="914400" algn="l"/>
              </a:tabLst>
            </a:pPr>
            <a:r>
              <a:rPr lang="fr-SN" sz="2400" b="1" kern="0" dirty="0">
                <a:effectLst/>
                <a:latin typeface="Arial" panose="020B0604020202020204" pitchFamily="34" charset="0"/>
                <a:ea typeface="Times New Roman" panose="02020603050405020304" pitchFamily="18" charset="0"/>
                <a:cs typeface="Arial" panose="020B0604020202020204" pitchFamily="34" charset="0"/>
              </a:rPr>
              <a:t>Wi-Fi</a:t>
            </a:r>
            <a:r>
              <a:rPr lang="fr-SN" sz="2400" kern="0" dirty="0">
                <a:effectLst/>
                <a:latin typeface="Arial" panose="020B0604020202020204" pitchFamily="34" charset="0"/>
                <a:ea typeface="Times New Roman" panose="02020603050405020304" pitchFamily="18" charset="0"/>
                <a:cs typeface="Arial" panose="020B0604020202020204" pitchFamily="34" charset="0"/>
              </a:rPr>
              <a:t> </a:t>
            </a:r>
            <a:endParaRPr lang="fr-SN" sz="2400" kern="100" dirty="0">
              <a:effectLst/>
              <a:latin typeface="Arial" panose="020B0604020202020204" pitchFamily="34" charset="0"/>
              <a:ea typeface="Calibri" panose="020F0502020204030204" pitchFamily="34" charset="0"/>
              <a:cs typeface="Arial" panose="020B0604020202020204" pitchFamily="34"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fr-SN" sz="2400" b="1" kern="0" dirty="0" err="1">
                <a:effectLst/>
                <a:latin typeface="Arial" panose="020B0604020202020204" pitchFamily="34" charset="0"/>
                <a:ea typeface="Times New Roman" panose="02020603050405020304" pitchFamily="18" charset="0"/>
                <a:cs typeface="Arial" panose="020B0604020202020204" pitchFamily="34" charset="0"/>
              </a:rPr>
              <a:t>Zigbee</a:t>
            </a:r>
            <a:r>
              <a:rPr lang="fr-SN" sz="2400" kern="0" dirty="0">
                <a:effectLst/>
                <a:latin typeface="Arial" panose="020B0604020202020204" pitchFamily="34" charset="0"/>
                <a:ea typeface="Times New Roman" panose="02020603050405020304" pitchFamily="18" charset="0"/>
                <a:cs typeface="Arial" panose="020B0604020202020204" pitchFamily="34" charset="0"/>
              </a:rPr>
              <a:t> </a:t>
            </a:r>
            <a:endParaRPr lang="fr-SN" sz="2400" kern="0" dirty="0">
              <a:solidFill>
                <a:srgbClr val="0070C0"/>
              </a:solidFill>
              <a:effectLst/>
              <a:latin typeface="Arial" panose="020B0604020202020204" pitchFamily="34" charset="0"/>
              <a:ea typeface="Times New Roman" panose="02020603050405020304" pitchFamily="18" charset="0"/>
              <a:cs typeface="Arial" panose="020B0604020202020204" pitchFamily="34" charset="0"/>
            </a:endParaRPr>
          </a:p>
          <a:p>
            <a:pPr marL="342900" lvl="0" indent="-342900">
              <a:lnSpc>
                <a:spcPct val="107000"/>
              </a:lnSpc>
              <a:spcAft>
                <a:spcPts val="800"/>
              </a:spcAft>
              <a:buFont typeface="Wingdings" panose="05000000000000000000" pitchFamily="2" charset="2"/>
              <a:buChar char="v"/>
              <a:tabLst>
                <a:tab pos="457200" algn="l"/>
              </a:tabLst>
            </a:pPr>
            <a:r>
              <a:rPr lang="fr-SN" sz="2400" b="1" kern="0" dirty="0">
                <a:latin typeface="Arial" panose="020B0604020202020204" pitchFamily="34" charset="0"/>
                <a:cs typeface="Arial" panose="020B0604020202020204" pitchFamily="34" charset="0"/>
              </a:rPr>
              <a:t>Communication</a:t>
            </a:r>
            <a:r>
              <a:rPr lang="fr-SN" sz="2400" b="1" kern="0" dirty="0">
                <a:effectLst/>
                <a:latin typeface="Arial" panose="020B0604020202020204" pitchFamily="34" charset="0"/>
                <a:ea typeface="Times New Roman" panose="02020603050405020304" pitchFamily="18" charset="0"/>
                <a:cs typeface="Arial" panose="020B0604020202020204" pitchFamily="34" charset="0"/>
              </a:rPr>
              <a:t> à longue portée</a:t>
            </a:r>
            <a:endParaRPr lang="fr-SN" sz="2400" kern="100" dirty="0">
              <a:effectLst/>
              <a:latin typeface="Arial" panose="020B0604020202020204" pitchFamily="34" charset="0"/>
              <a:ea typeface="Calibri" panose="020F0502020204030204" pitchFamily="34" charset="0"/>
              <a:cs typeface="Arial" panose="020B0604020202020204" pitchFamily="34"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fr-SN" sz="2400" b="1" kern="0" dirty="0" err="1">
                <a:effectLst/>
                <a:latin typeface="Arial" panose="020B0604020202020204" pitchFamily="34" charset="0"/>
                <a:ea typeface="Times New Roman" panose="02020603050405020304" pitchFamily="18" charset="0"/>
                <a:cs typeface="Arial" panose="020B0604020202020204" pitchFamily="34" charset="0"/>
              </a:rPr>
              <a:t>LoRaWAN</a:t>
            </a:r>
            <a:r>
              <a:rPr lang="fr-SN" sz="2400" kern="0" dirty="0">
                <a:effectLst/>
                <a:latin typeface="Arial" panose="020B0604020202020204" pitchFamily="34" charset="0"/>
                <a:ea typeface="Times New Roman" panose="02020603050405020304" pitchFamily="18" charset="0"/>
                <a:cs typeface="Arial" panose="020B0604020202020204" pitchFamily="34" charset="0"/>
              </a:rPr>
              <a:t> </a:t>
            </a:r>
          </a:p>
          <a:p>
            <a:pPr marL="742950" lvl="1" indent="-285750">
              <a:lnSpc>
                <a:spcPct val="107000"/>
              </a:lnSpc>
              <a:spcAft>
                <a:spcPts val="800"/>
              </a:spcAft>
              <a:buSzPts val="1000"/>
              <a:buFont typeface="Courier New" panose="02070309020205020404" pitchFamily="49" charset="0"/>
              <a:buChar char="o"/>
              <a:tabLst>
                <a:tab pos="914400" algn="l"/>
              </a:tabLst>
            </a:pPr>
            <a:r>
              <a:rPr lang="fr-SN" sz="2400" b="1" kern="0" dirty="0">
                <a:effectLst/>
                <a:latin typeface="Arial" panose="020B0604020202020204" pitchFamily="34" charset="0"/>
                <a:ea typeface="Times New Roman" panose="02020603050405020304" pitchFamily="18" charset="0"/>
                <a:cs typeface="Arial" panose="020B0604020202020204" pitchFamily="34" charset="0"/>
              </a:rPr>
              <a:t>Sigfox</a:t>
            </a:r>
            <a:r>
              <a:rPr lang="fr-SN" sz="2400" kern="0" dirty="0">
                <a:effectLst/>
                <a:latin typeface="Arial" panose="020B0604020202020204" pitchFamily="34" charset="0"/>
                <a:ea typeface="Times New Roman" panose="02020603050405020304" pitchFamily="18" charset="0"/>
                <a:cs typeface="Arial" panose="020B0604020202020204" pitchFamily="34" charset="0"/>
              </a:rPr>
              <a:t> </a:t>
            </a:r>
          </a:p>
          <a:p>
            <a:pPr marL="742950" lvl="1" indent="-285750">
              <a:lnSpc>
                <a:spcPct val="107000"/>
              </a:lnSpc>
              <a:spcAft>
                <a:spcPts val="800"/>
              </a:spcAft>
              <a:buSzPts val="1000"/>
              <a:buFont typeface="Courier New" panose="02070309020205020404" pitchFamily="49" charset="0"/>
              <a:buChar char="o"/>
              <a:tabLst>
                <a:tab pos="914400" algn="l"/>
              </a:tabLst>
            </a:pPr>
            <a:r>
              <a:rPr lang="fr-SN" sz="2400" b="1" kern="0" dirty="0">
                <a:effectLst/>
                <a:latin typeface="Arial" panose="020B0604020202020204" pitchFamily="34" charset="0"/>
                <a:ea typeface="Times New Roman" panose="02020603050405020304" pitchFamily="18" charset="0"/>
                <a:cs typeface="Arial" panose="020B0604020202020204" pitchFamily="34" charset="0"/>
              </a:rPr>
              <a:t>Réseaux cellulaires (3G, 4G, 5G)</a:t>
            </a:r>
            <a:r>
              <a:rPr lang="fr-SN" sz="2400" kern="0" dirty="0">
                <a:effectLst/>
                <a:latin typeface="Arial" panose="020B0604020202020204" pitchFamily="34" charset="0"/>
                <a:ea typeface="Times New Roman" panose="02020603050405020304" pitchFamily="18" charset="0"/>
                <a:cs typeface="Arial" panose="020B0604020202020204" pitchFamily="34" charset="0"/>
              </a:rPr>
              <a:t> :</a:t>
            </a:r>
            <a:endParaRPr lang="fr-S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2" name="TextBox 20">
            <a:extLst>
              <a:ext uri="{FF2B5EF4-FFF2-40B4-BE49-F238E27FC236}">
                <a16:creationId xmlns:a16="http://schemas.microsoft.com/office/drawing/2014/main" id="{4745626C-C4E7-C664-8FDD-7290ACB32870}"/>
              </a:ext>
            </a:extLst>
          </p:cNvPr>
          <p:cNvSpPr txBox="1"/>
          <p:nvPr/>
        </p:nvSpPr>
        <p:spPr>
          <a:xfrm>
            <a:off x="17127734" y="9791700"/>
            <a:ext cx="855466" cy="245260"/>
          </a:xfrm>
          <a:prstGeom prst="rect">
            <a:avLst/>
          </a:prstGeom>
        </p:spPr>
        <p:txBody>
          <a:bodyPr wrap="square" lIns="0" tIns="0" rIns="0" bIns="0" rtlCol="0" anchor="t">
            <a:spAutoFit/>
          </a:bodyPr>
          <a:lstStyle/>
          <a:p>
            <a:pPr algn="ctr">
              <a:lnSpc>
                <a:spcPts val="1980"/>
              </a:lnSpc>
            </a:pPr>
            <a:r>
              <a:rPr lang="en-US" sz="1650" spc="15" dirty="0">
                <a:solidFill>
                  <a:srgbClr val="0070C0"/>
                </a:solidFill>
                <a:latin typeface="TT Rounds Condensed"/>
                <a:ea typeface="TT Rounds Condensed"/>
                <a:cs typeface="TT Rounds Condensed"/>
                <a:sym typeface="TT Rounds Condensed"/>
              </a:rPr>
              <a:t>13 | </a:t>
            </a:r>
            <a:r>
              <a:rPr lang="en-US" sz="1650" spc="15" dirty="0">
                <a:solidFill>
                  <a:srgbClr val="0070C0"/>
                </a:solidFill>
                <a:latin typeface="Arial Black" panose="020B0A04020102020204" pitchFamily="34" charset="0"/>
                <a:ea typeface="TT Rounds Condensed"/>
                <a:cs typeface="TT Rounds Condensed"/>
                <a:sym typeface="TT Rounds Condensed"/>
              </a:rPr>
              <a:t>33</a:t>
            </a:r>
            <a:endParaRPr lang="en-US" sz="1650" spc="15" dirty="0">
              <a:solidFill>
                <a:srgbClr val="0070C0"/>
              </a:solidFill>
              <a:latin typeface="Arial Black" panose="020B0A04020102020204" pitchFamily="34" charset="0"/>
              <a:ea typeface="TT Rounds Condensed Bold"/>
              <a:cs typeface="TT Rounds Condensed Bold"/>
              <a:sym typeface="TT Rounds Condensed Bold"/>
            </a:endParaRPr>
          </a:p>
        </p:txBody>
      </p:sp>
    </p:spTree>
    <p:extLst>
      <p:ext uri="{BB962C8B-B14F-4D97-AF65-F5344CB8AC3E}">
        <p14:creationId xmlns:p14="http://schemas.microsoft.com/office/powerpoint/2010/main" val="41764069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fr-SN"/>
          </a:p>
        </p:txBody>
      </p:sp>
      <p:sp>
        <p:nvSpPr>
          <p:cNvPr id="4" name="TextBox 4"/>
          <p:cNvSpPr txBox="1"/>
          <p:nvPr/>
        </p:nvSpPr>
        <p:spPr>
          <a:xfrm>
            <a:off x="381000" y="483052"/>
            <a:ext cx="14294526" cy="769441"/>
          </a:xfrm>
          <a:prstGeom prst="rect">
            <a:avLst/>
          </a:prstGeom>
        </p:spPr>
        <p:txBody>
          <a:bodyPr wrap="square" lIns="0" tIns="0" rIns="0" bIns="0" rtlCol="0" anchor="t">
            <a:spAutoFit/>
          </a:bodyPr>
          <a:lstStyle/>
          <a:p>
            <a:pPr algn="ctr">
              <a:lnSpc>
                <a:spcPts val="6000"/>
              </a:lnSpc>
            </a:pPr>
            <a:r>
              <a:rPr lang="en-US" sz="5400" dirty="0">
                <a:solidFill>
                  <a:srgbClr val="0070C0"/>
                </a:solidFill>
                <a:latin typeface="Arial Black" panose="020B0A04020102020204" pitchFamily="34" charset="0"/>
                <a:ea typeface="Arimo Bold"/>
                <a:cs typeface="Arimo Bold"/>
                <a:sym typeface="Arimo Bold"/>
              </a:rPr>
              <a:t>SECTEURS D’APPLICATIONS DE </a:t>
            </a:r>
            <a:r>
              <a:rPr lang="en-US" sz="5400" dirty="0" err="1">
                <a:solidFill>
                  <a:srgbClr val="0070C0"/>
                </a:solidFill>
                <a:latin typeface="Arial Black" panose="020B0A04020102020204" pitchFamily="34" charset="0"/>
                <a:ea typeface="Arimo Bold"/>
                <a:cs typeface="Arimo Bold"/>
                <a:sym typeface="Arimo Bold"/>
              </a:rPr>
              <a:t>L’IdO</a:t>
            </a:r>
            <a:endParaRPr lang="en-US" sz="5400" dirty="0">
              <a:solidFill>
                <a:srgbClr val="0070C0"/>
              </a:solidFill>
              <a:latin typeface="Arial Black" panose="020B0A04020102020204" pitchFamily="34" charset="0"/>
              <a:ea typeface="Arimo Bold"/>
              <a:cs typeface="Arimo Bold"/>
              <a:sym typeface="Arimo Bold"/>
            </a:endParaRPr>
          </a:p>
        </p:txBody>
      </p:sp>
      <p:sp>
        <p:nvSpPr>
          <p:cNvPr id="6" name="TextBox 6"/>
          <p:cNvSpPr txBox="1"/>
          <p:nvPr/>
        </p:nvSpPr>
        <p:spPr>
          <a:xfrm>
            <a:off x="3429000" y="2615505"/>
            <a:ext cx="12132575" cy="1384995"/>
          </a:xfrm>
          <a:prstGeom prst="rect">
            <a:avLst/>
          </a:prstGeom>
        </p:spPr>
        <p:txBody>
          <a:bodyPr wrap="square" lIns="0" tIns="0" rIns="0" bIns="0" rtlCol="0" anchor="t">
            <a:spAutoFit/>
          </a:bodyPr>
          <a:lstStyle/>
          <a:p>
            <a:pPr algn="just">
              <a:lnSpc>
                <a:spcPts val="2700"/>
              </a:lnSpc>
            </a:pPr>
            <a:r>
              <a:rPr lang="fr-FR" sz="2400" spc="24" dirty="0">
                <a:solidFill>
                  <a:srgbClr val="000000"/>
                </a:solidFill>
                <a:latin typeface="Arial" panose="020B0604020202020204" pitchFamily="34" charset="0"/>
                <a:ea typeface="TT Rounds Condensed"/>
                <a:cs typeface="Arial" panose="020B0604020202020204" pitchFamily="34" charset="0"/>
                <a:sym typeface="TT Rounds Condensed"/>
              </a:rPr>
              <a:t>L’IdO est applicable dans plusieurs domaines de la vie et permet ainsi de rendre ces domaines plus intelligents dans leurs interactions.</a:t>
            </a:r>
          </a:p>
          <a:p>
            <a:pPr algn="just">
              <a:lnSpc>
                <a:spcPts val="2700"/>
              </a:lnSpc>
            </a:pPr>
            <a:endParaRPr lang="fr-FR" sz="2400" spc="24" dirty="0">
              <a:solidFill>
                <a:srgbClr val="000000"/>
              </a:solidFill>
              <a:latin typeface="Arial" panose="020B0604020202020204" pitchFamily="34" charset="0"/>
              <a:ea typeface="TT Rounds Condensed"/>
              <a:cs typeface="Arial" panose="020B0604020202020204" pitchFamily="34" charset="0"/>
              <a:sym typeface="TT Rounds Condensed"/>
            </a:endParaRPr>
          </a:p>
          <a:p>
            <a:pPr algn="just">
              <a:lnSpc>
                <a:spcPts val="2700"/>
              </a:lnSpc>
            </a:pPr>
            <a:endParaRPr lang="fr-FR" sz="2400" spc="24" dirty="0">
              <a:solidFill>
                <a:srgbClr val="000000"/>
              </a:solidFill>
              <a:latin typeface="Arial" panose="020B0604020202020204" pitchFamily="34" charset="0"/>
              <a:ea typeface="TT Rounds Condensed"/>
              <a:cs typeface="Arial" panose="020B0604020202020204" pitchFamily="34" charset="0"/>
              <a:sym typeface="TT Rounds Condensed"/>
            </a:endParaRPr>
          </a:p>
        </p:txBody>
      </p:sp>
      <p:sp>
        <p:nvSpPr>
          <p:cNvPr id="9" name="Freeform 5">
            <a:extLst>
              <a:ext uri="{FF2B5EF4-FFF2-40B4-BE49-F238E27FC236}">
                <a16:creationId xmlns:a16="http://schemas.microsoft.com/office/drawing/2014/main" id="{D31AFBDA-6B6B-2C50-D93D-6124A067BB9F}"/>
              </a:ext>
            </a:extLst>
          </p:cNvPr>
          <p:cNvSpPr/>
          <p:nvPr/>
        </p:nvSpPr>
        <p:spPr>
          <a:xfrm>
            <a:off x="1140784" y="6251324"/>
            <a:ext cx="1202271" cy="2446824"/>
          </a:xfrm>
          <a:custGeom>
            <a:avLst/>
            <a:gdLst/>
            <a:ahLst/>
            <a:cxnLst/>
            <a:rect l="l" t="t" r="r" b="b"/>
            <a:pathLst>
              <a:path w="1202271" h="2446824">
                <a:moveTo>
                  <a:pt x="0" y="0"/>
                </a:moveTo>
                <a:lnTo>
                  <a:pt x="1202272" y="0"/>
                </a:lnTo>
                <a:lnTo>
                  <a:pt x="1202272" y="2446824"/>
                </a:lnTo>
                <a:lnTo>
                  <a:pt x="0" y="244682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fr-SN" dirty="0"/>
          </a:p>
        </p:txBody>
      </p:sp>
      <p:pic>
        <p:nvPicPr>
          <p:cNvPr id="7172" name="Picture 4">
            <a:extLst>
              <a:ext uri="{FF2B5EF4-FFF2-40B4-BE49-F238E27FC236}">
                <a16:creationId xmlns:a16="http://schemas.microsoft.com/office/drawing/2014/main" id="{19C166DA-A82F-82BB-4EED-6DECE0E6BCB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4855" y="4000500"/>
            <a:ext cx="13098289" cy="400526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0">
            <a:extLst>
              <a:ext uri="{FF2B5EF4-FFF2-40B4-BE49-F238E27FC236}">
                <a16:creationId xmlns:a16="http://schemas.microsoft.com/office/drawing/2014/main" id="{AE83E509-E799-08B1-A276-B1FC55B830D4}"/>
              </a:ext>
            </a:extLst>
          </p:cNvPr>
          <p:cNvSpPr txBox="1"/>
          <p:nvPr/>
        </p:nvSpPr>
        <p:spPr>
          <a:xfrm>
            <a:off x="17127734" y="9791700"/>
            <a:ext cx="855466" cy="245260"/>
          </a:xfrm>
          <a:prstGeom prst="rect">
            <a:avLst/>
          </a:prstGeom>
        </p:spPr>
        <p:txBody>
          <a:bodyPr wrap="square" lIns="0" tIns="0" rIns="0" bIns="0" rtlCol="0" anchor="t">
            <a:spAutoFit/>
          </a:bodyPr>
          <a:lstStyle/>
          <a:p>
            <a:pPr algn="ctr">
              <a:lnSpc>
                <a:spcPts val="1980"/>
              </a:lnSpc>
            </a:pPr>
            <a:r>
              <a:rPr lang="en-US" sz="1650" spc="15" dirty="0">
                <a:solidFill>
                  <a:srgbClr val="0070C0"/>
                </a:solidFill>
                <a:latin typeface="TT Rounds Condensed"/>
                <a:ea typeface="TT Rounds Condensed"/>
                <a:cs typeface="TT Rounds Condensed"/>
                <a:sym typeface="TT Rounds Condensed"/>
              </a:rPr>
              <a:t>14 | </a:t>
            </a:r>
            <a:r>
              <a:rPr lang="en-US" sz="1650" spc="15" dirty="0">
                <a:solidFill>
                  <a:srgbClr val="0070C0"/>
                </a:solidFill>
                <a:latin typeface="Arial Black" panose="020B0A04020102020204" pitchFamily="34" charset="0"/>
                <a:ea typeface="TT Rounds Condensed"/>
                <a:cs typeface="TT Rounds Condensed"/>
                <a:sym typeface="TT Rounds Condensed"/>
              </a:rPr>
              <a:t>33</a:t>
            </a:r>
            <a:endParaRPr lang="en-US" sz="1650" spc="15" dirty="0">
              <a:solidFill>
                <a:srgbClr val="0070C0"/>
              </a:solidFill>
              <a:latin typeface="Arial Black" panose="020B0A04020102020204" pitchFamily="34" charset="0"/>
              <a:ea typeface="TT Rounds Condensed Bold"/>
              <a:cs typeface="TT Rounds Condensed Bold"/>
              <a:sym typeface="TT Rounds Condensed Bold"/>
            </a:endParaRPr>
          </a:p>
        </p:txBody>
      </p:sp>
    </p:spTree>
    <p:extLst>
      <p:ext uri="{BB962C8B-B14F-4D97-AF65-F5344CB8AC3E}">
        <p14:creationId xmlns:p14="http://schemas.microsoft.com/office/powerpoint/2010/main" val="15508986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fr-SN"/>
          </a:p>
        </p:txBody>
      </p:sp>
      <p:sp>
        <p:nvSpPr>
          <p:cNvPr id="3" name="TextBox 3"/>
          <p:cNvSpPr txBox="1"/>
          <p:nvPr/>
        </p:nvSpPr>
        <p:spPr>
          <a:xfrm>
            <a:off x="3232464" y="4758780"/>
            <a:ext cx="11823072" cy="779765"/>
          </a:xfrm>
          <a:prstGeom prst="rect">
            <a:avLst/>
          </a:prstGeom>
        </p:spPr>
        <p:txBody>
          <a:bodyPr lIns="0" tIns="0" rIns="0" bIns="0" rtlCol="0" anchor="t">
            <a:spAutoFit/>
          </a:bodyPr>
          <a:lstStyle/>
          <a:p>
            <a:pPr algn="ctr">
              <a:lnSpc>
                <a:spcPts val="6000"/>
              </a:lnSpc>
            </a:pPr>
            <a:r>
              <a:rPr lang="en-US" sz="6000" dirty="0">
                <a:solidFill>
                  <a:srgbClr val="FFFFFF"/>
                </a:solidFill>
                <a:latin typeface="Arial Black" panose="020B0A04020102020204" pitchFamily="34" charset="0"/>
                <a:ea typeface="Arimo Bold"/>
                <a:cs typeface="Arimo Bold"/>
                <a:sym typeface="Arimo Bold"/>
              </a:rPr>
              <a:t>SOLUTION</a:t>
            </a:r>
          </a:p>
        </p:txBody>
      </p:sp>
      <p:sp>
        <p:nvSpPr>
          <p:cNvPr id="6" name="TextBox 20">
            <a:extLst>
              <a:ext uri="{FF2B5EF4-FFF2-40B4-BE49-F238E27FC236}">
                <a16:creationId xmlns:a16="http://schemas.microsoft.com/office/drawing/2014/main" id="{9CC74D66-1113-9952-F35F-3D269599432C}"/>
              </a:ext>
            </a:extLst>
          </p:cNvPr>
          <p:cNvSpPr txBox="1"/>
          <p:nvPr/>
        </p:nvSpPr>
        <p:spPr>
          <a:xfrm>
            <a:off x="17127734" y="9791700"/>
            <a:ext cx="855466" cy="245260"/>
          </a:xfrm>
          <a:prstGeom prst="rect">
            <a:avLst/>
          </a:prstGeom>
        </p:spPr>
        <p:txBody>
          <a:bodyPr wrap="square" lIns="0" tIns="0" rIns="0" bIns="0" rtlCol="0" anchor="t">
            <a:spAutoFit/>
          </a:bodyPr>
          <a:lstStyle/>
          <a:p>
            <a:pPr algn="ctr">
              <a:lnSpc>
                <a:spcPts val="1980"/>
              </a:lnSpc>
            </a:pPr>
            <a:r>
              <a:rPr lang="en-US" sz="1650" spc="15" dirty="0">
                <a:solidFill>
                  <a:srgbClr val="0070C0"/>
                </a:solidFill>
                <a:latin typeface="TT Rounds Condensed"/>
                <a:ea typeface="TT Rounds Condensed"/>
                <a:cs typeface="TT Rounds Condensed"/>
                <a:sym typeface="TT Rounds Condensed"/>
              </a:rPr>
              <a:t>06 | </a:t>
            </a:r>
            <a:r>
              <a:rPr lang="en-US" sz="1650" spc="15" dirty="0">
                <a:solidFill>
                  <a:srgbClr val="0070C0"/>
                </a:solidFill>
                <a:latin typeface="Arial Black" panose="020B0A04020102020204" pitchFamily="34" charset="0"/>
                <a:ea typeface="TT Rounds Condensed"/>
                <a:cs typeface="TT Rounds Condensed"/>
                <a:sym typeface="TT Rounds Condensed"/>
              </a:rPr>
              <a:t>33</a:t>
            </a:r>
            <a:endParaRPr lang="en-US" sz="1650" spc="15" dirty="0">
              <a:solidFill>
                <a:srgbClr val="0070C0"/>
              </a:solidFill>
              <a:latin typeface="Arial Black" panose="020B0A04020102020204" pitchFamily="34" charset="0"/>
              <a:ea typeface="TT Rounds Condensed Bold"/>
              <a:cs typeface="TT Rounds Condensed Bold"/>
              <a:sym typeface="TT Rounds Condensed Bo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810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fr-SN"/>
          </a:p>
        </p:txBody>
      </p:sp>
      <p:sp>
        <p:nvSpPr>
          <p:cNvPr id="4" name="TextBox 4"/>
          <p:cNvSpPr txBox="1"/>
          <p:nvPr/>
        </p:nvSpPr>
        <p:spPr>
          <a:xfrm>
            <a:off x="2852454" y="483052"/>
            <a:ext cx="11823072" cy="769441"/>
          </a:xfrm>
          <a:prstGeom prst="rect">
            <a:avLst/>
          </a:prstGeom>
        </p:spPr>
        <p:txBody>
          <a:bodyPr lIns="0" tIns="0" rIns="0" bIns="0" rtlCol="0" anchor="t">
            <a:spAutoFit/>
          </a:bodyPr>
          <a:lstStyle/>
          <a:p>
            <a:pPr algn="ctr">
              <a:lnSpc>
                <a:spcPts val="6000"/>
              </a:lnSpc>
            </a:pPr>
            <a:r>
              <a:rPr lang="en-US" sz="5400" dirty="0">
                <a:solidFill>
                  <a:srgbClr val="0070C0"/>
                </a:solidFill>
                <a:latin typeface="Arial Black" panose="020B0A04020102020204" pitchFamily="34" charset="0"/>
                <a:ea typeface="Arimo Bold"/>
                <a:cs typeface="Arimo Bold"/>
                <a:sym typeface="Arimo Bold"/>
              </a:rPr>
              <a:t>ETUDE DE L’EXISTANT</a:t>
            </a:r>
          </a:p>
        </p:txBody>
      </p:sp>
      <p:sp>
        <p:nvSpPr>
          <p:cNvPr id="5" name="TextBox 5"/>
          <p:cNvSpPr txBox="1"/>
          <p:nvPr/>
        </p:nvSpPr>
        <p:spPr>
          <a:xfrm>
            <a:off x="17051534" y="9591045"/>
            <a:ext cx="519374" cy="253915"/>
          </a:xfrm>
          <a:prstGeom prst="rect">
            <a:avLst/>
          </a:prstGeom>
        </p:spPr>
        <p:txBody>
          <a:bodyPr lIns="0" tIns="0" rIns="0" bIns="0" rtlCol="0" anchor="t">
            <a:spAutoFit/>
          </a:bodyPr>
          <a:lstStyle/>
          <a:p>
            <a:pPr algn="ctr">
              <a:lnSpc>
                <a:spcPts val="1980"/>
              </a:lnSpc>
            </a:pPr>
            <a:r>
              <a:rPr lang="en-US" sz="1650" spc="15">
                <a:solidFill>
                  <a:srgbClr val="0070C0"/>
                </a:solidFill>
                <a:latin typeface="TT Rounds Condensed"/>
                <a:ea typeface="TT Rounds Condensed"/>
                <a:cs typeface="TT Rounds Condensed"/>
                <a:sym typeface="TT Rounds Condensed"/>
              </a:rPr>
              <a:t>06 | </a:t>
            </a:r>
            <a:r>
              <a:rPr lang="en-US" sz="1650" spc="15">
                <a:solidFill>
                  <a:srgbClr val="0070C0"/>
                </a:solidFill>
                <a:latin typeface="TT Rounds Condensed Bold"/>
                <a:ea typeface="TT Rounds Condensed Bold"/>
                <a:cs typeface="TT Rounds Condensed Bold"/>
                <a:sym typeface="TT Rounds Condensed Bold"/>
              </a:rPr>
              <a:t>6</a:t>
            </a:r>
          </a:p>
        </p:txBody>
      </p:sp>
      <p:pic>
        <p:nvPicPr>
          <p:cNvPr id="2050" name="Picture 2" descr="BESUB SETAL (@BesubSetal) / X">
            <a:extLst>
              <a:ext uri="{FF2B5EF4-FFF2-40B4-BE49-F238E27FC236}">
                <a16:creationId xmlns:a16="http://schemas.microsoft.com/office/drawing/2014/main" id="{699E0699-4733-33BC-E86F-D5DF45040D70}"/>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3400" y="2019300"/>
            <a:ext cx="5040000" cy="3240000"/>
          </a:xfrm>
          <a:prstGeom prst="roundRect">
            <a:avLst/>
          </a:prstGeom>
          <a:noFill/>
          <a:extLst>
            <a:ext uri="{909E8E84-426E-40DD-AFC4-6F175D3DCCD1}">
              <a14:hiddenFill xmlns:a14="http://schemas.microsoft.com/office/drawing/2010/main">
                <a:solidFill>
                  <a:srgbClr val="FFFFFF"/>
                </a:solidFill>
              </a14:hiddenFill>
            </a:ext>
          </a:extLst>
        </p:spPr>
      </p:pic>
      <p:pic>
        <p:nvPicPr>
          <p:cNvPr id="2052" name="Picture 4" descr="Ucg - Senenews - Actualité au Sénégal, Politique, Économie, Sport">
            <a:extLst>
              <a:ext uri="{FF2B5EF4-FFF2-40B4-BE49-F238E27FC236}">
                <a16:creationId xmlns:a16="http://schemas.microsoft.com/office/drawing/2014/main" id="{E7E72FA1-6CAA-20A7-E12A-9670F5809139}"/>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33400" y="2042602"/>
            <a:ext cx="5040000" cy="3240000"/>
          </a:xfrm>
          <a:prstGeom prst="roundRect">
            <a:avLst/>
          </a:prstGeom>
          <a:noFill/>
          <a:extLst>
            <a:ext uri="{909E8E84-426E-40DD-AFC4-6F175D3DCCD1}">
              <a14:hiddenFill xmlns:a14="http://schemas.microsoft.com/office/drawing/2010/main">
                <a:solidFill>
                  <a:srgbClr val="FFFFFF"/>
                </a:solidFill>
              </a14:hiddenFill>
            </a:ext>
          </a:extLst>
        </p:spPr>
      </p:pic>
      <p:sp>
        <p:nvSpPr>
          <p:cNvPr id="7" name="Freeform 4">
            <a:extLst>
              <a:ext uri="{FF2B5EF4-FFF2-40B4-BE49-F238E27FC236}">
                <a16:creationId xmlns:a16="http://schemas.microsoft.com/office/drawing/2014/main" id="{E715D3AD-F661-B6B9-1FE6-89C5393DD432}"/>
              </a:ext>
            </a:extLst>
          </p:cNvPr>
          <p:cNvSpPr/>
          <p:nvPr/>
        </p:nvSpPr>
        <p:spPr>
          <a:xfrm>
            <a:off x="1905000" y="5850503"/>
            <a:ext cx="5040000" cy="3240000"/>
          </a:xfrm>
          <a:prstGeom prst="roundRect">
            <a:avLst/>
          </a:prstGeom>
          <a:blipFill>
            <a:blip r:embed="rId5"/>
            <a:stretch>
              <a:fillRect t="-7507" b="-7507"/>
            </a:stretch>
          </a:blipFill>
          <a:ln cap="rnd">
            <a:noFill/>
            <a:prstDash val="solid"/>
            <a:round/>
          </a:ln>
        </p:spPr>
        <p:txBody>
          <a:bodyPr/>
          <a:lstStyle/>
          <a:p>
            <a:endParaRPr lang="fr-SN"/>
          </a:p>
        </p:txBody>
      </p:sp>
      <p:pic>
        <p:nvPicPr>
          <p:cNvPr id="2054" name="Picture 6" descr="Boanergés Camara sur LinkedIn : Allo Déchets nouveau service de réclamation  des déchets mis en place par…">
            <a:extLst>
              <a:ext uri="{FF2B5EF4-FFF2-40B4-BE49-F238E27FC236}">
                <a16:creationId xmlns:a16="http://schemas.microsoft.com/office/drawing/2014/main" id="{1AAF847A-74C1-B4F4-D73A-B0BDAD4A6A0D}"/>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05800" y="5905500"/>
            <a:ext cx="5040000" cy="3240000"/>
          </a:xfrm>
          <a:prstGeom prst="round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fr-SN"/>
          </a:p>
        </p:txBody>
      </p:sp>
      <p:sp>
        <p:nvSpPr>
          <p:cNvPr id="5" name="TextBox 5"/>
          <p:cNvSpPr txBox="1"/>
          <p:nvPr/>
        </p:nvSpPr>
        <p:spPr>
          <a:xfrm>
            <a:off x="2852454" y="483052"/>
            <a:ext cx="11823072" cy="769441"/>
          </a:xfrm>
          <a:prstGeom prst="rect">
            <a:avLst/>
          </a:prstGeom>
        </p:spPr>
        <p:txBody>
          <a:bodyPr lIns="0" tIns="0" rIns="0" bIns="0" rtlCol="0" anchor="t">
            <a:spAutoFit/>
          </a:bodyPr>
          <a:lstStyle/>
          <a:p>
            <a:pPr algn="ctr">
              <a:lnSpc>
                <a:spcPts val="6000"/>
              </a:lnSpc>
            </a:pPr>
            <a:r>
              <a:rPr lang="en-US" sz="5400" dirty="0">
                <a:solidFill>
                  <a:srgbClr val="0070C0"/>
                </a:solidFill>
                <a:latin typeface="Arial Black" panose="020B0A04020102020204" pitchFamily="34" charset="0"/>
                <a:ea typeface="Arimo Bold"/>
                <a:cs typeface="Arimo Bold"/>
                <a:sym typeface="Arimo Bold"/>
              </a:rPr>
              <a:t>ARCHITECTURE DU SYSTÉME</a:t>
            </a:r>
          </a:p>
        </p:txBody>
      </p:sp>
      <p:pic>
        <p:nvPicPr>
          <p:cNvPr id="8" name="Image 7" descr="Une image contenant texte, capture d’écran, diagramme, Police&#10;&#10;Description générée automatiquement">
            <a:extLst>
              <a:ext uri="{FF2B5EF4-FFF2-40B4-BE49-F238E27FC236}">
                <a16:creationId xmlns:a16="http://schemas.microsoft.com/office/drawing/2014/main" id="{4E51F116-5A8C-EB6E-79F1-FB167BEC739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5400000">
            <a:off x="6255431" y="44494"/>
            <a:ext cx="7500938" cy="10867801"/>
          </a:xfrm>
          <a:prstGeom prst="rect">
            <a:avLst/>
          </a:prstGeom>
        </p:spPr>
      </p:pic>
      <p:sp>
        <p:nvSpPr>
          <p:cNvPr id="9" name="TextBox 20">
            <a:extLst>
              <a:ext uri="{FF2B5EF4-FFF2-40B4-BE49-F238E27FC236}">
                <a16:creationId xmlns:a16="http://schemas.microsoft.com/office/drawing/2014/main" id="{FE4603ED-CFCA-8DB8-4B7C-66C1179AD162}"/>
              </a:ext>
            </a:extLst>
          </p:cNvPr>
          <p:cNvSpPr txBox="1"/>
          <p:nvPr/>
        </p:nvSpPr>
        <p:spPr>
          <a:xfrm>
            <a:off x="17127734" y="9791700"/>
            <a:ext cx="855466" cy="245260"/>
          </a:xfrm>
          <a:prstGeom prst="rect">
            <a:avLst/>
          </a:prstGeom>
        </p:spPr>
        <p:txBody>
          <a:bodyPr wrap="square" lIns="0" tIns="0" rIns="0" bIns="0" rtlCol="0" anchor="t">
            <a:spAutoFit/>
          </a:bodyPr>
          <a:lstStyle/>
          <a:p>
            <a:pPr algn="ctr">
              <a:lnSpc>
                <a:spcPts val="1980"/>
              </a:lnSpc>
            </a:pPr>
            <a:r>
              <a:rPr lang="en-US" sz="1650" spc="15" dirty="0">
                <a:solidFill>
                  <a:srgbClr val="0070C0"/>
                </a:solidFill>
                <a:latin typeface="TT Rounds Condensed"/>
                <a:ea typeface="TT Rounds Condensed"/>
                <a:cs typeface="TT Rounds Condensed"/>
                <a:sym typeface="TT Rounds Condensed"/>
              </a:rPr>
              <a:t>17 | </a:t>
            </a:r>
            <a:r>
              <a:rPr lang="en-US" sz="1650" spc="15" dirty="0">
                <a:solidFill>
                  <a:srgbClr val="0070C0"/>
                </a:solidFill>
                <a:latin typeface="Arial Black" panose="020B0A04020102020204" pitchFamily="34" charset="0"/>
                <a:ea typeface="TT Rounds Condensed"/>
                <a:cs typeface="TT Rounds Condensed"/>
                <a:sym typeface="TT Rounds Condensed"/>
              </a:rPr>
              <a:t>33</a:t>
            </a:r>
            <a:endParaRPr lang="en-US" sz="1650" spc="15" dirty="0">
              <a:solidFill>
                <a:srgbClr val="0070C0"/>
              </a:solidFill>
              <a:latin typeface="Arial Black" panose="020B0A04020102020204" pitchFamily="34" charset="0"/>
              <a:ea typeface="TT Rounds Condensed Bold"/>
              <a:cs typeface="TT Rounds Condensed Bold"/>
              <a:sym typeface="TT Rounds Condensed Bo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fr-SN"/>
          </a:p>
        </p:txBody>
      </p:sp>
      <p:sp>
        <p:nvSpPr>
          <p:cNvPr id="5" name="TextBox 5"/>
          <p:cNvSpPr txBox="1"/>
          <p:nvPr/>
        </p:nvSpPr>
        <p:spPr>
          <a:xfrm>
            <a:off x="2852454" y="483052"/>
            <a:ext cx="11823072" cy="769441"/>
          </a:xfrm>
          <a:prstGeom prst="rect">
            <a:avLst/>
          </a:prstGeom>
        </p:spPr>
        <p:txBody>
          <a:bodyPr lIns="0" tIns="0" rIns="0" bIns="0" rtlCol="0" anchor="t">
            <a:spAutoFit/>
          </a:bodyPr>
          <a:lstStyle/>
          <a:p>
            <a:pPr algn="ctr">
              <a:lnSpc>
                <a:spcPts val="6000"/>
              </a:lnSpc>
            </a:pPr>
            <a:r>
              <a:rPr lang="en-US" sz="5400" dirty="0">
                <a:solidFill>
                  <a:srgbClr val="0070C0"/>
                </a:solidFill>
                <a:latin typeface="Arial Black" panose="020B0A04020102020204" pitchFamily="34" charset="0"/>
                <a:ea typeface="Arimo Bold"/>
                <a:cs typeface="Arimo Bold"/>
                <a:sym typeface="Arimo Bold"/>
              </a:rPr>
              <a:t>ARCHITECTURE DU SYSTÉME</a:t>
            </a:r>
          </a:p>
        </p:txBody>
      </p:sp>
      <p:pic>
        <p:nvPicPr>
          <p:cNvPr id="14" name="Image 13" descr="Une image contenant diagramme, texte, capture d’écran, ligne&#10;&#10;Description générée automatiquement">
            <a:extLst>
              <a:ext uri="{FF2B5EF4-FFF2-40B4-BE49-F238E27FC236}">
                <a16:creationId xmlns:a16="http://schemas.microsoft.com/office/drawing/2014/main" id="{491FD6D9-CEC8-6946-090B-C5702E6FC7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19600" y="1758405"/>
            <a:ext cx="10706100" cy="7266945"/>
          </a:xfrm>
          <a:prstGeom prst="rect">
            <a:avLst/>
          </a:prstGeom>
        </p:spPr>
      </p:pic>
      <p:sp>
        <p:nvSpPr>
          <p:cNvPr id="15" name="TextBox 20">
            <a:extLst>
              <a:ext uri="{FF2B5EF4-FFF2-40B4-BE49-F238E27FC236}">
                <a16:creationId xmlns:a16="http://schemas.microsoft.com/office/drawing/2014/main" id="{18082791-AC3B-2624-15F7-33D9018341FB}"/>
              </a:ext>
            </a:extLst>
          </p:cNvPr>
          <p:cNvSpPr txBox="1"/>
          <p:nvPr/>
        </p:nvSpPr>
        <p:spPr>
          <a:xfrm>
            <a:off x="17127734" y="9791700"/>
            <a:ext cx="855466" cy="245260"/>
          </a:xfrm>
          <a:prstGeom prst="rect">
            <a:avLst/>
          </a:prstGeom>
        </p:spPr>
        <p:txBody>
          <a:bodyPr wrap="square" lIns="0" tIns="0" rIns="0" bIns="0" rtlCol="0" anchor="t">
            <a:spAutoFit/>
          </a:bodyPr>
          <a:lstStyle/>
          <a:p>
            <a:pPr algn="ctr">
              <a:lnSpc>
                <a:spcPts val="1980"/>
              </a:lnSpc>
            </a:pPr>
            <a:r>
              <a:rPr lang="en-US" sz="1650" spc="15" dirty="0">
                <a:solidFill>
                  <a:srgbClr val="0070C0"/>
                </a:solidFill>
                <a:latin typeface="TT Rounds Condensed"/>
                <a:ea typeface="TT Rounds Condensed"/>
                <a:cs typeface="TT Rounds Condensed"/>
                <a:sym typeface="TT Rounds Condensed"/>
              </a:rPr>
              <a:t>18 | </a:t>
            </a:r>
            <a:r>
              <a:rPr lang="en-US" sz="1650" spc="15" dirty="0">
                <a:solidFill>
                  <a:srgbClr val="0070C0"/>
                </a:solidFill>
                <a:latin typeface="Arial Black" panose="020B0A04020102020204" pitchFamily="34" charset="0"/>
                <a:ea typeface="TT Rounds Condensed"/>
                <a:cs typeface="TT Rounds Condensed"/>
                <a:sym typeface="TT Rounds Condensed"/>
              </a:rPr>
              <a:t>33</a:t>
            </a:r>
            <a:endParaRPr lang="en-US" sz="1650" spc="15" dirty="0">
              <a:solidFill>
                <a:srgbClr val="0070C0"/>
              </a:solidFill>
              <a:latin typeface="Arial Black" panose="020B0A04020102020204" pitchFamily="34" charset="0"/>
              <a:ea typeface="TT Rounds Condensed Bold"/>
              <a:cs typeface="TT Rounds Condensed Bold"/>
              <a:sym typeface="TT Rounds Condensed Bold"/>
            </a:endParaRPr>
          </a:p>
        </p:txBody>
      </p:sp>
    </p:spTree>
    <p:extLst>
      <p:ext uri="{BB962C8B-B14F-4D97-AF65-F5344CB8AC3E}">
        <p14:creationId xmlns:p14="http://schemas.microsoft.com/office/powerpoint/2010/main" val="21714806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fr-SN"/>
          </a:p>
        </p:txBody>
      </p:sp>
      <p:sp>
        <p:nvSpPr>
          <p:cNvPr id="5" name="TextBox 5"/>
          <p:cNvSpPr txBox="1"/>
          <p:nvPr/>
        </p:nvSpPr>
        <p:spPr>
          <a:xfrm>
            <a:off x="2852454" y="483052"/>
            <a:ext cx="11823072" cy="769441"/>
          </a:xfrm>
          <a:prstGeom prst="rect">
            <a:avLst/>
          </a:prstGeom>
        </p:spPr>
        <p:txBody>
          <a:bodyPr lIns="0" tIns="0" rIns="0" bIns="0" rtlCol="0" anchor="t">
            <a:spAutoFit/>
          </a:bodyPr>
          <a:lstStyle/>
          <a:p>
            <a:pPr algn="ctr">
              <a:lnSpc>
                <a:spcPts val="6000"/>
              </a:lnSpc>
            </a:pPr>
            <a:r>
              <a:rPr lang="en-US" sz="5400" dirty="0">
                <a:solidFill>
                  <a:srgbClr val="0070C0"/>
                </a:solidFill>
                <a:latin typeface="Arial Black" panose="020B0A04020102020204" pitchFamily="34" charset="0"/>
                <a:ea typeface="Arimo Bold"/>
                <a:cs typeface="Arimo Bold"/>
                <a:sym typeface="Arimo Bold"/>
              </a:rPr>
              <a:t>MODÉLISATION</a:t>
            </a:r>
          </a:p>
        </p:txBody>
      </p:sp>
      <p:sp>
        <p:nvSpPr>
          <p:cNvPr id="6" name="TextBox 6"/>
          <p:cNvSpPr txBox="1"/>
          <p:nvPr/>
        </p:nvSpPr>
        <p:spPr>
          <a:xfrm>
            <a:off x="1780570" y="1963599"/>
            <a:ext cx="4754067" cy="717184"/>
          </a:xfrm>
          <a:prstGeom prst="rect">
            <a:avLst/>
          </a:prstGeom>
        </p:spPr>
        <p:txBody>
          <a:bodyPr lIns="0" tIns="0" rIns="0" bIns="0" rtlCol="0" anchor="t">
            <a:spAutoFit/>
          </a:bodyPr>
          <a:lstStyle/>
          <a:p>
            <a:pPr algn="l">
              <a:lnSpc>
                <a:spcPts val="6000"/>
              </a:lnSpc>
            </a:pPr>
            <a:r>
              <a:rPr lang="en-US" sz="4800" dirty="0">
                <a:solidFill>
                  <a:srgbClr val="000000"/>
                </a:solidFill>
                <a:latin typeface="Arial" panose="020B0604020202020204" pitchFamily="34" charset="0"/>
                <a:ea typeface="Arimo Bold"/>
                <a:cs typeface="Arial" panose="020B0604020202020204" pitchFamily="34" charset="0"/>
                <a:sym typeface="Arimo Bold"/>
              </a:rPr>
              <a:t>Use Case </a:t>
            </a:r>
          </a:p>
        </p:txBody>
      </p:sp>
      <p:pic>
        <p:nvPicPr>
          <p:cNvPr id="9" name="Image 8" descr="Une image contenant texte, diagramme, ligne, Tracé&#10;&#10;Description générée automatiquement">
            <a:extLst>
              <a:ext uri="{FF2B5EF4-FFF2-40B4-BE49-F238E27FC236}">
                <a16:creationId xmlns:a16="http://schemas.microsoft.com/office/drawing/2014/main" id="{086114CA-3731-1558-0DED-BD8DA18CBA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34200" y="2150132"/>
            <a:ext cx="10636708" cy="6884400"/>
          </a:xfrm>
          <a:prstGeom prst="rect">
            <a:avLst/>
          </a:prstGeom>
        </p:spPr>
      </p:pic>
      <p:sp>
        <p:nvSpPr>
          <p:cNvPr id="10" name="TextBox 20">
            <a:extLst>
              <a:ext uri="{FF2B5EF4-FFF2-40B4-BE49-F238E27FC236}">
                <a16:creationId xmlns:a16="http://schemas.microsoft.com/office/drawing/2014/main" id="{069B13C9-CD57-D8D3-B730-76E22969DDB8}"/>
              </a:ext>
            </a:extLst>
          </p:cNvPr>
          <p:cNvSpPr txBox="1"/>
          <p:nvPr/>
        </p:nvSpPr>
        <p:spPr>
          <a:xfrm>
            <a:off x="17127734" y="9791700"/>
            <a:ext cx="855466" cy="245260"/>
          </a:xfrm>
          <a:prstGeom prst="rect">
            <a:avLst/>
          </a:prstGeom>
        </p:spPr>
        <p:txBody>
          <a:bodyPr wrap="square" lIns="0" tIns="0" rIns="0" bIns="0" rtlCol="0" anchor="t">
            <a:spAutoFit/>
          </a:bodyPr>
          <a:lstStyle/>
          <a:p>
            <a:pPr algn="ctr">
              <a:lnSpc>
                <a:spcPts val="1980"/>
              </a:lnSpc>
            </a:pPr>
            <a:r>
              <a:rPr lang="en-US" sz="1650" spc="15" dirty="0">
                <a:solidFill>
                  <a:srgbClr val="0070C0"/>
                </a:solidFill>
                <a:latin typeface="TT Rounds Condensed"/>
                <a:ea typeface="TT Rounds Condensed"/>
                <a:cs typeface="TT Rounds Condensed"/>
                <a:sym typeface="TT Rounds Condensed"/>
              </a:rPr>
              <a:t>19 | </a:t>
            </a:r>
            <a:r>
              <a:rPr lang="en-US" sz="1650" spc="15" dirty="0">
                <a:solidFill>
                  <a:srgbClr val="0070C0"/>
                </a:solidFill>
                <a:latin typeface="Arial Black" panose="020B0A04020102020204" pitchFamily="34" charset="0"/>
                <a:ea typeface="TT Rounds Condensed"/>
                <a:cs typeface="TT Rounds Condensed"/>
                <a:sym typeface="TT Rounds Condensed"/>
              </a:rPr>
              <a:t>33</a:t>
            </a:r>
            <a:endParaRPr lang="en-US" sz="1650" spc="15" dirty="0">
              <a:solidFill>
                <a:srgbClr val="0070C0"/>
              </a:solidFill>
              <a:latin typeface="Arial Black" panose="020B0A04020102020204" pitchFamily="34" charset="0"/>
              <a:ea typeface="TT Rounds Condensed Bold"/>
              <a:cs typeface="TT Rounds Condensed Bold"/>
              <a:sym typeface="TT Rounds Condensed Bo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fr-SN"/>
          </a:p>
        </p:txBody>
      </p:sp>
      <p:sp>
        <p:nvSpPr>
          <p:cNvPr id="5" name="TextBox 5"/>
          <p:cNvSpPr txBox="1"/>
          <p:nvPr/>
        </p:nvSpPr>
        <p:spPr>
          <a:xfrm>
            <a:off x="2852454" y="483052"/>
            <a:ext cx="11823072" cy="769441"/>
          </a:xfrm>
          <a:prstGeom prst="rect">
            <a:avLst/>
          </a:prstGeom>
        </p:spPr>
        <p:txBody>
          <a:bodyPr lIns="0" tIns="0" rIns="0" bIns="0" rtlCol="0" anchor="t">
            <a:spAutoFit/>
          </a:bodyPr>
          <a:lstStyle/>
          <a:p>
            <a:pPr algn="ctr">
              <a:lnSpc>
                <a:spcPts val="6000"/>
              </a:lnSpc>
            </a:pPr>
            <a:r>
              <a:rPr lang="en-US" sz="5400" dirty="0">
                <a:solidFill>
                  <a:srgbClr val="0070C0"/>
                </a:solidFill>
                <a:latin typeface="Arial Black" panose="020B0A04020102020204" pitchFamily="34" charset="0"/>
                <a:ea typeface="Arimo Bold"/>
                <a:cs typeface="Arimo Bold"/>
                <a:sym typeface="Arimo Bold"/>
              </a:rPr>
              <a:t>MODÉLISATION</a:t>
            </a:r>
          </a:p>
        </p:txBody>
      </p:sp>
      <p:sp>
        <p:nvSpPr>
          <p:cNvPr id="6" name="TextBox 6"/>
          <p:cNvSpPr txBox="1"/>
          <p:nvPr/>
        </p:nvSpPr>
        <p:spPr>
          <a:xfrm>
            <a:off x="1780570" y="1963599"/>
            <a:ext cx="4754067" cy="717184"/>
          </a:xfrm>
          <a:prstGeom prst="rect">
            <a:avLst/>
          </a:prstGeom>
        </p:spPr>
        <p:txBody>
          <a:bodyPr lIns="0" tIns="0" rIns="0" bIns="0" rtlCol="0" anchor="t">
            <a:spAutoFit/>
          </a:bodyPr>
          <a:lstStyle/>
          <a:p>
            <a:pPr algn="l">
              <a:lnSpc>
                <a:spcPts val="6000"/>
              </a:lnSpc>
            </a:pPr>
            <a:r>
              <a:rPr lang="en-US" sz="4800" dirty="0">
                <a:solidFill>
                  <a:srgbClr val="000000"/>
                </a:solidFill>
                <a:latin typeface="Arial" panose="020B0604020202020204" pitchFamily="34" charset="0"/>
                <a:ea typeface="Arimo Bold"/>
                <a:cs typeface="Arial" panose="020B0604020202020204" pitchFamily="34" charset="0"/>
                <a:sym typeface="Arimo Bold"/>
              </a:rPr>
              <a:t>Use Case </a:t>
            </a:r>
          </a:p>
        </p:txBody>
      </p:sp>
      <p:pic>
        <p:nvPicPr>
          <p:cNvPr id="7" name="Image 6" descr="Une image contenant texte, diagramme, ligne, Tracé&#10;&#10;Description générée automatiquement">
            <a:extLst>
              <a:ext uri="{FF2B5EF4-FFF2-40B4-BE49-F238E27FC236}">
                <a16:creationId xmlns:a16="http://schemas.microsoft.com/office/drawing/2014/main" id="{793AEC3B-9A18-CFDD-562F-2FC0A0CA95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48793" y="1697445"/>
            <a:ext cx="9925050" cy="8026634"/>
          </a:xfrm>
          <a:prstGeom prst="rect">
            <a:avLst/>
          </a:prstGeom>
        </p:spPr>
      </p:pic>
      <p:sp>
        <p:nvSpPr>
          <p:cNvPr id="8" name="TextBox 20">
            <a:extLst>
              <a:ext uri="{FF2B5EF4-FFF2-40B4-BE49-F238E27FC236}">
                <a16:creationId xmlns:a16="http://schemas.microsoft.com/office/drawing/2014/main" id="{9BB829DD-216A-B6FE-9763-EB6800616AF1}"/>
              </a:ext>
            </a:extLst>
          </p:cNvPr>
          <p:cNvSpPr txBox="1"/>
          <p:nvPr/>
        </p:nvSpPr>
        <p:spPr>
          <a:xfrm>
            <a:off x="17127734" y="9791700"/>
            <a:ext cx="855466" cy="245260"/>
          </a:xfrm>
          <a:prstGeom prst="rect">
            <a:avLst/>
          </a:prstGeom>
        </p:spPr>
        <p:txBody>
          <a:bodyPr wrap="square" lIns="0" tIns="0" rIns="0" bIns="0" rtlCol="0" anchor="t">
            <a:spAutoFit/>
          </a:bodyPr>
          <a:lstStyle/>
          <a:p>
            <a:pPr algn="ctr">
              <a:lnSpc>
                <a:spcPts val="1980"/>
              </a:lnSpc>
            </a:pPr>
            <a:r>
              <a:rPr lang="en-US" sz="1650" spc="15" dirty="0">
                <a:solidFill>
                  <a:srgbClr val="0070C0"/>
                </a:solidFill>
                <a:latin typeface="TT Rounds Condensed"/>
                <a:ea typeface="TT Rounds Condensed"/>
                <a:cs typeface="TT Rounds Condensed"/>
                <a:sym typeface="TT Rounds Condensed"/>
              </a:rPr>
              <a:t>20 | </a:t>
            </a:r>
            <a:r>
              <a:rPr lang="en-US" sz="1650" spc="15" dirty="0">
                <a:solidFill>
                  <a:srgbClr val="0070C0"/>
                </a:solidFill>
                <a:latin typeface="Arial Black" panose="020B0A04020102020204" pitchFamily="34" charset="0"/>
                <a:ea typeface="TT Rounds Condensed"/>
                <a:cs typeface="TT Rounds Condensed"/>
                <a:sym typeface="TT Rounds Condensed"/>
              </a:rPr>
              <a:t>33</a:t>
            </a:r>
            <a:endParaRPr lang="en-US" sz="1650" spc="15" dirty="0">
              <a:solidFill>
                <a:srgbClr val="0070C0"/>
              </a:solidFill>
              <a:latin typeface="Arial Black" panose="020B0A04020102020204" pitchFamily="34" charset="0"/>
              <a:ea typeface="TT Rounds Condensed Bold"/>
              <a:cs typeface="TT Rounds Condensed Bold"/>
              <a:sym typeface="TT Rounds Condensed Bold"/>
            </a:endParaRPr>
          </a:p>
        </p:txBody>
      </p:sp>
    </p:spTree>
    <p:extLst>
      <p:ext uri="{BB962C8B-B14F-4D97-AF65-F5344CB8AC3E}">
        <p14:creationId xmlns:p14="http://schemas.microsoft.com/office/powerpoint/2010/main" val="24411973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fr-SN"/>
          </a:p>
        </p:txBody>
      </p:sp>
      <p:sp>
        <p:nvSpPr>
          <p:cNvPr id="4" name="TextBox 4"/>
          <p:cNvSpPr txBox="1"/>
          <p:nvPr/>
        </p:nvSpPr>
        <p:spPr>
          <a:xfrm>
            <a:off x="17051534" y="9591045"/>
            <a:ext cx="519374" cy="253915"/>
          </a:xfrm>
          <a:prstGeom prst="rect">
            <a:avLst/>
          </a:prstGeom>
        </p:spPr>
        <p:txBody>
          <a:bodyPr lIns="0" tIns="0" rIns="0" bIns="0" rtlCol="0" anchor="t">
            <a:spAutoFit/>
          </a:bodyPr>
          <a:lstStyle/>
          <a:p>
            <a:pPr algn="ctr">
              <a:lnSpc>
                <a:spcPts val="1980"/>
              </a:lnSpc>
            </a:pPr>
            <a:r>
              <a:rPr lang="en-US" sz="1650" spc="15">
                <a:solidFill>
                  <a:srgbClr val="0070C0"/>
                </a:solidFill>
                <a:latin typeface="TT Rounds Condensed"/>
                <a:ea typeface="TT Rounds Condensed"/>
                <a:cs typeface="TT Rounds Condensed"/>
                <a:sym typeface="TT Rounds Condensed"/>
              </a:rPr>
              <a:t>08 | </a:t>
            </a:r>
            <a:r>
              <a:rPr lang="en-US" sz="1650" spc="15">
                <a:solidFill>
                  <a:srgbClr val="0070C0"/>
                </a:solidFill>
                <a:latin typeface="TT Rounds Condensed Bold"/>
                <a:ea typeface="TT Rounds Condensed Bold"/>
                <a:cs typeface="TT Rounds Condensed Bold"/>
                <a:sym typeface="TT Rounds Condensed Bold"/>
              </a:rPr>
              <a:t>6</a:t>
            </a:r>
          </a:p>
        </p:txBody>
      </p:sp>
      <p:sp>
        <p:nvSpPr>
          <p:cNvPr id="5" name="TextBox 5"/>
          <p:cNvSpPr txBox="1"/>
          <p:nvPr/>
        </p:nvSpPr>
        <p:spPr>
          <a:xfrm>
            <a:off x="2852454" y="483052"/>
            <a:ext cx="11823072" cy="769441"/>
          </a:xfrm>
          <a:prstGeom prst="rect">
            <a:avLst/>
          </a:prstGeom>
        </p:spPr>
        <p:txBody>
          <a:bodyPr lIns="0" tIns="0" rIns="0" bIns="0" rtlCol="0" anchor="t">
            <a:spAutoFit/>
          </a:bodyPr>
          <a:lstStyle/>
          <a:p>
            <a:pPr algn="ctr">
              <a:lnSpc>
                <a:spcPts val="6000"/>
              </a:lnSpc>
            </a:pPr>
            <a:r>
              <a:rPr lang="en-US" sz="5400" dirty="0">
                <a:solidFill>
                  <a:srgbClr val="0070C0"/>
                </a:solidFill>
                <a:latin typeface="Arial Black" panose="020B0A04020102020204" pitchFamily="34" charset="0"/>
                <a:ea typeface="Arimo Bold"/>
                <a:cs typeface="Arimo Bold"/>
                <a:sym typeface="Arimo Bold"/>
              </a:rPr>
              <a:t>MODÉLISATION</a:t>
            </a:r>
            <a:endParaRPr lang="en-US" sz="5400" dirty="0">
              <a:solidFill>
                <a:srgbClr val="0070C0"/>
              </a:solidFill>
              <a:latin typeface="Arimo Bold"/>
              <a:ea typeface="Arimo Bold"/>
              <a:cs typeface="Arimo Bold"/>
              <a:sym typeface="Arimo Bold"/>
            </a:endParaRPr>
          </a:p>
        </p:txBody>
      </p:sp>
      <p:sp>
        <p:nvSpPr>
          <p:cNvPr id="6" name="TextBox 6"/>
          <p:cNvSpPr txBox="1"/>
          <p:nvPr/>
        </p:nvSpPr>
        <p:spPr>
          <a:xfrm>
            <a:off x="1780570" y="1963599"/>
            <a:ext cx="5603671" cy="2256067"/>
          </a:xfrm>
          <a:prstGeom prst="rect">
            <a:avLst/>
          </a:prstGeom>
        </p:spPr>
        <p:txBody>
          <a:bodyPr lIns="0" tIns="0" rIns="0" bIns="0" rtlCol="0" anchor="t">
            <a:spAutoFit/>
          </a:bodyPr>
          <a:lstStyle/>
          <a:p>
            <a:pPr algn="l">
              <a:lnSpc>
                <a:spcPts val="6000"/>
              </a:lnSpc>
            </a:pPr>
            <a:r>
              <a:rPr lang="en-US" sz="4800" dirty="0" err="1">
                <a:solidFill>
                  <a:srgbClr val="000000"/>
                </a:solidFill>
                <a:latin typeface="Arimo Bold"/>
                <a:ea typeface="Arimo Bold"/>
                <a:cs typeface="Arimo Bold"/>
                <a:sym typeface="Arimo Bold"/>
              </a:rPr>
              <a:t>Diagramme</a:t>
            </a:r>
            <a:r>
              <a:rPr lang="en-US" sz="4800" dirty="0">
                <a:solidFill>
                  <a:srgbClr val="000000"/>
                </a:solidFill>
                <a:latin typeface="Arimo Bold"/>
                <a:ea typeface="Arimo Bold"/>
                <a:cs typeface="Arimo Bold"/>
                <a:sym typeface="Arimo Bold"/>
              </a:rPr>
              <a:t> des </a:t>
            </a:r>
            <a:r>
              <a:rPr lang="en-US" sz="4800" dirty="0" err="1">
                <a:solidFill>
                  <a:srgbClr val="000000"/>
                </a:solidFill>
                <a:latin typeface="Arimo Bold"/>
                <a:ea typeface="Arimo Bold"/>
                <a:cs typeface="Arimo Bold"/>
                <a:sym typeface="Arimo Bold"/>
              </a:rPr>
              <a:t>séquences</a:t>
            </a:r>
            <a:r>
              <a:rPr lang="en-US" sz="4800" dirty="0">
                <a:solidFill>
                  <a:srgbClr val="000000"/>
                </a:solidFill>
                <a:latin typeface="Arimo Bold"/>
                <a:ea typeface="Arimo Bold"/>
                <a:cs typeface="Arimo Bold"/>
                <a:sym typeface="Arimo Bold"/>
              </a:rPr>
              <a:t> </a:t>
            </a:r>
            <a:r>
              <a:rPr lang="en-US" sz="4800" dirty="0" err="1">
                <a:solidFill>
                  <a:srgbClr val="000000"/>
                </a:solidFill>
                <a:latin typeface="Arimo Bold"/>
                <a:ea typeface="Arimo Bold"/>
                <a:cs typeface="Arimo Bold"/>
                <a:sym typeface="Arimo Bold"/>
              </a:rPr>
              <a:t>d’ajout</a:t>
            </a:r>
            <a:r>
              <a:rPr lang="en-US" sz="4800" dirty="0">
                <a:solidFill>
                  <a:srgbClr val="000000"/>
                </a:solidFill>
                <a:latin typeface="Arimo Bold"/>
                <a:ea typeface="Arimo Bold"/>
                <a:cs typeface="Arimo Bold"/>
                <a:sym typeface="Arimo Bold"/>
              </a:rPr>
              <a:t> </a:t>
            </a:r>
            <a:r>
              <a:rPr lang="en-US" sz="4800" dirty="0" err="1">
                <a:solidFill>
                  <a:srgbClr val="000000"/>
                </a:solidFill>
                <a:latin typeface="Arimo Bold"/>
                <a:ea typeface="Arimo Bold"/>
                <a:cs typeface="Arimo Bold"/>
                <a:sym typeface="Arimo Bold"/>
              </a:rPr>
              <a:t>d’alert</a:t>
            </a:r>
            <a:endParaRPr lang="en-US" sz="4800" dirty="0">
              <a:solidFill>
                <a:srgbClr val="000000"/>
              </a:solidFill>
              <a:latin typeface="Arimo Bold"/>
              <a:ea typeface="Arimo Bold"/>
              <a:cs typeface="Arimo Bold"/>
              <a:sym typeface="Arimo Bold"/>
            </a:endParaRPr>
          </a:p>
        </p:txBody>
      </p:sp>
      <p:pic>
        <p:nvPicPr>
          <p:cNvPr id="8" name="Image 7" descr="Une image contenant texte, nombre, Parallèle, ligne&#10;&#10;Description générée automatiquement">
            <a:extLst>
              <a:ext uri="{FF2B5EF4-FFF2-40B4-BE49-F238E27FC236}">
                <a16:creationId xmlns:a16="http://schemas.microsoft.com/office/drawing/2014/main" id="{5D4A03C0-BB40-72B5-A8C4-C503914649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12475" y="1485900"/>
            <a:ext cx="9227359" cy="801432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fr-SN"/>
          </a:p>
        </p:txBody>
      </p:sp>
      <p:sp>
        <p:nvSpPr>
          <p:cNvPr id="5" name="TextBox 5"/>
          <p:cNvSpPr txBox="1"/>
          <p:nvPr/>
        </p:nvSpPr>
        <p:spPr>
          <a:xfrm>
            <a:off x="2852454" y="483052"/>
            <a:ext cx="11823072" cy="769441"/>
          </a:xfrm>
          <a:prstGeom prst="rect">
            <a:avLst/>
          </a:prstGeom>
        </p:spPr>
        <p:txBody>
          <a:bodyPr lIns="0" tIns="0" rIns="0" bIns="0" rtlCol="0" anchor="t">
            <a:spAutoFit/>
          </a:bodyPr>
          <a:lstStyle/>
          <a:p>
            <a:pPr algn="ctr">
              <a:lnSpc>
                <a:spcPts val="6000"/>
              </a:lnSpc>
            </a:pPr>
            <a:r>
              <a:rPr lang="en-US" sz="5400" dirty="0">
                <a:solidFill>
                  <a:srgbClr val="0070C0"/>
                </a:solidFill>
                <a:latin typeface="Arial Black" panose="020B0A04020102020204" pitchFamily="34" charset="0"/>
                <a:ea typeface="Arimo Bold"/>
                <a:cs typeface="Arimo Bold"/>
                <a:sym typeface="Arimo Bold"/>
              </a:rPr>
              <a:t>MODÉLISATION</a:t>
            </a:r>
          </a:p>
        </p:txBody>
      </p:sp>
      <p:sp>
        <p:nvSpPr>
          <p:cNvPr id="6" name="TextBox 6"/>
          <p:cNvSpPr txBox="1"/>
          <p:nvPr/>
        </p:nvSpPr>
        <p:spPr>
          <a:xfrm>
            <a:off x="1780570" y="1963599"/>
            <a:ext cx="6449030" cy="2256067"/>
          </a:xfrm>
          <a:prstGeom prst="rect">
            <a:avLst/>
          </a:prstGeom>
        </p:spPr>
        <p:txBody>
          <a:bodyPr wrap="square" lIns="0" tIns="0" rIns="0" bIns="0" rtlCol="0" anchor="t">
            <a:spAutoFit/>
          </a:bodyPr>
          <a:lstStyle/>
          <a:p>
            <a:pPr algn="l">
              <a:lnSpc>
                <a:spcPts val="6000"/>
              </a:lnSpc>
            </a:pPr>
            <a:r>
              <a:rPr lang="en-US" sz="4800" dirty="0" err="1">
                <a:solidFill>
                  <a:srgbClr val="000000"/>
                </a:solidFill>
                <a:latin typeface="Arial" panose="020B0604020202020204" pitchFamily="34" charset="0"/>
                <a:ea typeface="Arimo Bold"/>
                <a:cs typeface="Arial" panose="020B0604020202020204" pitchFamily="34" charset="0"/>
                <a:sym typeface="Arimo Bold"/>
              </a:rPr>
              <a:t>Diagramme</a:t>
            </a:r>
            <a:r>
              <a:rPr lang="en-US" sz="4800" dirty="0">
                <a:solidFill>
                  <a:srgbClr val="000000"/>
                </a:solidFill>
                <a:latin typeface="Arial" panose="020B0604020202020204" pitchFamily="34" charset="0"/>
                <a:ea typeface="Arimo Bold"/>
                <a:cs typeface="Arial" panose="020B0604020202020204" pitchFamily="34" charset="0"/>
                <a:sym typeface="Arimo Bold"/>
              </a:rPr>
              <a:t> des </a:t>
            </a:r>
            <a:r>
              <a:rPr lang="en-US" sz="4800" dirty="0" err="1">
                <a:solidFill>
                  <a:srgbClr val="000000"/>
                </a:solidFill>
                <a:latin typeface="Arial" panose="020B0604020202020204" pitchFamily="34" charset="0"/>
                <a:ea typeface="Arimo Bold"/>
                <a:cs typeface="Arial" panose="020B0604020202020204" pitchFamily="34" charset="0"/>
                <a:sym typeface="Arimo Bold"/>
              </a:rPr>
              <a:t>séquences</a:t>
            </a:r>
            <a:r>
              <a:rPr lang="en-US" sz="4800" dirty="0">
                <a:solidFill>
                  <a:srgbClr val="000000"/>
                </a:solidFill>
                <a:latin typeface="Arial" panose="020B0604020202020204" pitchFamily="34" charset="0"/>
                <a:ea typeface="Arimo Bold"/>
                <a:cs typeface="Arial" panose="020B0604020202020204" pitchFamily="34" charset="0"/>
                <a:sym typeface="Arimo Bold"/>
              </a:rPr>
              <a:t> </a:t>
            </a:r>
            <a:r>
              <a:rPr lang="en-US" sz="4800" dirty="0" err="1">
                <a:solidFill>
                  <a:srgbClr val="000000"/>
                </a:solidFill>
                <a:latin typeface="Arial" panose="020B0604020202020204" pitchFamily="34" charset="0"/>
                <a:ea typeface="Arimo Bold"/>
                <a:cs typeface="Arial" panose="020B0604020202020204" pitchFamily="34" charset="0"/>
                <a:sym typeface="Arimo Bold"/>
              </a:rPr>
              <a:t>d’authentification</a:t>
            </a:r>
            <a:endParaRPr lang="en-US" sz="4800" dirty="0">
              <a:solidFill>
                <a:srgbClr val="000000"/>
              </a:solidFill>
              <a:latin typeface="Arial" panose="020B0604020202020204" pitchFamily="34" charset="0"/>
              <a:ea typeface="Arimo Bold"/>
              <a:cs typeface="Arial" panose="020B0604020202020204" pitchFamily="34" charset="0"/>
              <a:sym typeface="Arimo Bold"/>
            </a:endParaRPr>
          </a:p>
        </p:txBody>
      </p:sp>
      <p:pic>
        <p:nvPicPr>
          <p:cNvPr id="8" name="Image 7">
            <a:extLst>
              <a:ext uri="{FF2B5EF4-FFF2-40B4-BE49-F238E27FC236}">
                <a16:creationId xmlns:a16="http://schemas.microsoft.com/office/drawing/2014/main" id="{9B7B3CB8-C4B9-BF7F-7AFB-0DE28725A2D7}"/>
              </a:ext>
            </a:extLst>
          </p:cNvPr>
          <p:cNvPicPr>
            <a:picLocks noChangeAspect="1"/>
          </p:cNvPicPr>
          <p:nvPr/>
        </p:nvPicPr>
        <p:blipFill>
          <a:blip r:embed="rId3"/>
          <a:stretch>
            <a:fillRect/>
          </a:stretch>
        </p:blipFill>
        <p:spPr>
          <a:xfrm>
            <a:off x="8679676" y="1409700"/>
            <a:ext cx="9158248" cy="7942353"/>
          </a:xfrm>
          <a:prstGeom prst="rect">
            <a:avLst/>
          </a:prstGeom>
        </p:spPr>
      </p:pic>
      <p:sp>
        <p:nvSpPr>
          <p:cNvPr id="9" name="TextBox 20">
            <a:extLst>
              <a:ext uri="{FF2B5EF4-FFF2-40B4-BE49-F238E27FC236}">
                <a16:creationId xmlns:a16="http://schemas.microsoft.com/office/drawing/2014/main" id="{DE91D6A6-5E11-C1CC-9D71-B49AEA7903A2}"/>
              </a:ext>
            </a:extLst>
          </p:cNvPr>
          <p:cNvSpPr txBox="1"/>
          <p:nvPr/>
        </p:nvSpPr>
        <p:spPr>
          <a:xfrm>
            <a:off x="17127734" y="9791700"/>
            <a:ext cx="855466" cy="245260"/>
          </a:xfrm>
          <a:prstGeom prst="rect">
            <a:avLst/>
          </a:prstGeom>
        </p:spPr>
        <p:txBody>
          <a:bodyPr wrap="square" lIns="0" tIns="0" rIns="0" bIns="0" rtlCol="0" anchor="t">
            <a:spAutoFit/>
          </a:bodyPr>
          <a:lstStyle/>
          <a:p>
            <a:pPr algn="ctr">
              <a:lnSpc>
                <a:spcPts val="1980"/>
              </a:lnSpc>
            </a:pPr>
            <a:r>
              <a:rPr lang="en-US" sz="1650" spc="15" dirty="0">
                <a:solidFill>
                  <a:srgbClr val="0070C0"/>
                </a:solidFill>
                <a:latin typeface="TT Rounds Condensed"/>
                <a:ea typeface="TT Rounds Condensed"/>
                <a:cs typeface="TT Rounds Condensed"/>
                <a:sym typeface="TT Rounds Condensed"/>
              </a:rPr>
              <a:t>21 | </a:t>
            </a:r>
            <a:r>
              <a:rPr lang="en-US" sz="1650" spc="15" dirty="0">
                <a:solidFill>
                  <a:srgbClr val="0070C0"/>
                </a:solidFill>
                <a:latin typeface="Arial Black" panose="020B0A04020102020204" pitchFamily="34" charset="0"/>
                <a:ea typeface="TT Rounds Condensed"/>
                <a:cs typeface="TT Rounds Condensed"/>
                <a:sym typeface="TT Rounds Condensed"/>
              </a:rPr>
              <a:t>33</a:t>
            </a:r>
            <a:endParaRPr lang="en-US" sz="1650" spc="15" dirty="0">
              <a:solidFill>
                <a:srgbClr val="0070C0"/>
              </a:solidFill>
              <a:latin typeface="Arial Black" panose="020B0A04020102020204" pitchFamily="34" charset="0"/>
              <a:ea typeface="TT Rounds Condensed Bold"/>
              <a:cs typeface="TT Rounds Condensed Bold"/>
              <a:sym typeface="TT Rounds Condensed Bold"/>
            </a:endParaRPr>
          </a:p>
        </p:txBody>
      </p:sp>
    </p:spTree>
    <p:extLst>
      <p:ext uri="{BB962C8B-B14F-4D97-AF65-F5344CB8AC3E}">
        <p14:creationId xmlns:p14="http://schemas.microsoft.com/office/powerpoint/2010/main" val="31806954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fr-SN"/>
          </a:p>
        </p:txBody>
      </p:sp>
      <p:sp>
        <p:nvSpPr>
          <p:cNvPr id="5" name="TextBox 5"/>
          <p:cNvSpPr txBox="1"/>
          <p:nvPr/>
        </p:nvSpPr>
        <p:spPr>
          <a:xfrm>
            <a:off x="2852454" y="483052"/>
            <a:ext cx="11823072" cy="769441"/>
          </a:xfrm>
          <a:prstGeom prst="rect">
            <a:avLst/>
          </a:prstGeom>
        </p:spPr>
        <p:txBody>
          <a:bodyPr lIns="0" tIns="0" rIns="0" bIns="0" rtlCol="0" anchor="t">
            <a:spAutoFit/>
          </a:bodyPr>
          <a:lstStyle/>
          <a:p>
            <a:pPr algn="ctr">
              <a:lnSpc>
                <a:spcPts val="6000"/>
              </a:lnSpc>
            </a:pPr>
            <a:r>
              <a:rPr lang="en-US" sz="5400" dirty="0">
                <a:solidFill>
                  <a:srgbClr val="0070C0"/>
                </a:solidFill>
                <a:latin typeface="Arial Black" panose="020B0A04020102020204" pitchFamily="34" charset="0"/>
                <a:ea typeface="Arimo Bold"/>
                <a:cs typeface="Arimo Bold"/>
                <a:sym typeface="Arimo Bold"/>
              </a:rPr>
              <a:t>MODÉLISATION</a:t>
            </a:r>
          </a:p>
        </p:txBody>
      </p:sp>
      <p:sp>
        <p:nvSpPr>
          <p:cNvPr id="6" name="TextBox 6"/>
          <p:cNvSpPr txBox="1"/>
          <p:nvPr/>
        </p:nvSpPr>
        <p:spPr>
          <a:xfrm>
            <a:off x="1780570" y="1963599"/>
            <a:ext cx="6449030" cy="3025508"/>
          </a:xfrm>
          <a:prstGeom prst="rect">
            <a:avLst/>
          </a:prstGeom>
        </p:spPr>
        <p:txBody>
          <a:bodyPr wrap="square" lIns="0" tIns="0" rIns="0" bIns="0" rtlCol="0" anchor="t">
            <a:spAutoFit/>
          </a:bodyPr>
          <a:lstStyle/>
          <a:p>
            <a:pPr algn="l">
              <a:lnSpc>
                <a:spcPts val="6000"/>
              </a:lnSpc>
            </a:pPr>
            <a:r>
              <a:rPr lang="en-US" sz="4800" dirty="0" err="1">
                <a:solidFill>
                  <a:srgbClr val="000000"/>
                </a:solidFill>
                <a:latin typeface="Arial" panose="020B0604020202020204" pitchFamily="34" charset="0"/>
                <a:ea typeface="Arimo Bold"/>
                <a:cs typeface="Arial" panose="020B0604020202020204" pitchFamily="34" charset="0"/>
                <a:sym typeface="Arimo Bold"/>
              </a:rPr>
              <a:t>Diagramme</a:t>
            </a:r>
            <a:r>
              <a:rPr lang="en-US" sz="4800" dirty="0">
                <a:solidFill>
                  <a:srgbClr val="000000"/>
                </a:solidFill>
                <a:latin typeface="Arial" panose="020B0604020202020204" pitchFamily="34" charset="0"/>
                <a:ea typeface="Arimo Bold"/>
                <a:cs typeface="Arial" panose="020B0604020202020204" pitchFamily="34" charset="0"/>
                <a:sym typeface="Arimo Bold"/>
              </a:rPr>
              <a:t> des </a:t>
            </a:r>
            <a:r>
              <a:rPr lang="en-US" sz="4800" dirty="0" err="1">
                <a:solidFill>
                  <a:srgbClr val="000000"/>
                </a:solidFill>
                <a:latin typeface="Arial" panose="020B0604020202020204" pitchFamily="34" charset="0"/>
                <a:ea typeface="Arimo Bold"/>
                <a:cs typeface="Arial" panose="020B0604020202020204" pitchFamily="34" charset="0"/>
                <a:sym typeface="Arimo Bold"/>
              </a:rPr>
              <a:t>séquences</a:t>
            </a:r>
            <a:r>
              <a:rPr lang="en-US" sz="4800" dirty="0">
                <a:solidFill>
                  <a:srgbClr val="000000"/>
                </a:solidFill>
                <a:latin typeface="Arial" panose="020B0604020202020204" pitchFamily="34" charset="0"/>
                <a:ea typeface="Arimo Bold"/>
                <a:cs typeface="Arial" panose="020B0604020202020204" pitchFamily="34" charset="0"/>
                <a:sym typeface="Arimo Bold"/>
              </a:rPr>
              <a:t> de </a:t>
            </a:r>
            <a:r>
              <a:rPr lang="en-US" sz="4800" dirty="0" err="1">
                <a:solidFill>
                  <a:srgbClr val="000000"/>
                </a:solidFill>
                <a:latin typeface="Arial" panose="020B0604020202020204" pitchFamily="34" charset="0"/>
                <a:ea typeface="Arimo Bold"/>
                <a:cs typeface="Arial" panose="020B0604020202020204" pitchFamily="34" charset="0"/>
                <a:sym typeface="Arimo Bold"/>
              </a:rPr>
              <a:t>localisation</a:t>
            </a:r>
            <a:r>
              <a:rPr lang="en-US" sz="4800" dirty="0">
                <a:solidFill>
                  <a:srgbClr val="000000"/>
                </a:solidFill>
                <a:latin typeface="Arial" panose="020B0604020202020204" pitchFamily="34" charset="0"/>
                <a:ea typeface="Arimo Bold"/>
                <a:cs typeface="Arial" panose="020B0604020202020204" pitchFamily="34" charset="0"/>
                <a:sym typeface="Arimo Bold"/>
              </a:rPr>
              <a:t> </a:t>
            </a:r>
            <a:r>
              <a:rPr lang="en-US" sz="4800" dirty="0" err="1">
                <a:solidFill>
                  <a:srgbClr val="000000"/>
                </a:solidFill>
                <a:latin typeface="Arial" panose="020B0604020202020204" pitchFamily="34" charset="0"/>
                <a:ea typeface="Arimo Bold"/>
                <a:cs typeface="Arial" panose="020B0604020202020204" pitchFamily="34" charset="0"/>
                <a:sym typeface="Arimo Bold"/>
              </a:rPr>
              <a:t>d’une</a:t>
            </a:r>
            <a:r>
              <a:rPr lang="en-US" sz="4800" dirty="0">
                <a:solidFill>
                  <a:srgbClr val="000000"/>
                </a:solidFill>
                <a:latin typeface="Arial" panose="020B0604020202020204" pitchFamily="34" charset="0"/>
                <a:ea typeface="Arimo Bold"/>
                <a:cs typeface="Arial" panose="020B0604020202020204" pitchFamily="34" charset="0"/>
                <a:sym typeface="Arimo Bold"/>
              </a:rPr>
              <a:t> </a:t>
            </a:r>
            <a:r>
              <a:rPr lang="en-US" sz="4800" dirty="0" err="1">
                <a:solidFill>
                  <a:srgbClr val="000000"/>
                </a:solidFill>
                <a:latin typeface="Arial" panose="020B0604020202020204" pitchFamily="34" charset="0"/>
                <a:ea typeface="Arimo Bold"/>
                <a:cs typeface="Arial" panose="020B0604020202020204" pitchFamily="34" charset="0"/>
                <a:sym typeface="Arimo Bold"/>
              </a:rPr>
              <a:t>poubelle</a:t>
            </a:r>
            <a:endParaRPr lang="en-US" sz="4800" dirty="0">
              <a:solidFill>
                <a:srgbClr val="000000"/>
              </a:solidFill>
              <a:latin typeface="Arial" panose="020B0604020202020204" pitchFamily="34" charset="0"/>
              <a:ea typeface="Arimo Bold"/>
              <a:cs typeface="Arial" panose="020B0604020202020204" pitchFamily="34" charset="0"/>
              <a:sym typeface="Arimo Bold"/>
            </a:endParaRPr>
          </a:p>
        </p:txBody>
      </p:sp>
      <p:pic>
        <p:nvPicPr>
          <p:cNvPr id="10" name="Image 9">
            <a:extLst>
              <a:ext uri="{FF2B5EF4-FFF2-40B4-BE49-F238E27FC236}">
                <a16:creationId xmlns:a16="http://schemas.microsoft.com/office/drawing/2014/main" id="{1FC93F71-0EFC-7A60-9382-254D502BAE89}"/>
              </a:ext>
            </a:extLst>
          </p:cNvPr>
          <p:cNvPicPr>
            <a:picLocks noChangeAspect="1"/>
          </p:cNvPicPr>
          <p:nvPr/>
        </p:nvPicPr>
        <p:blipFill>
          <a:blip r:embed="rId3"/>
          <a:stretch>
            <a:fillRect/>
          </a:stretch>
        </p:blipFill>
        <p:spPr>
          <a:xfrm>
            <a:off x="8610600" y="1562100"/>
            <a:ext cx="8811230" cy="7880260"/>
          </a:xfrm>
          <a:prstGeom prst="rect">
            <a:avLst/>
          </a:prstGeom>
        </p:spPr>
      </p:pic>
      <p:sp>
        <p:nvSpPr>
          <p:cNvPr id="11" name="TextBox 20">
            <a:extLst>
              <a:ext uri="{FF2B5EF4-FFF2-40B4-BE49-F238E27FC236}">
                <a16:creationId xmlns:a16="http://schemas.microsoft.com/office/drawing/2014/main" id="{B2EC8DA1-46CF-1A86-EE5F-79F6AB21CDCB}"/>
              </a:ext>
            </a:extLst>
          </p:cNvPr>
          <p:cNvSpPr txBox="1"/>
          <p:nvPr/>
        </p:nvSpPr>
        <p:spPr>
          <a:xfrm>
            <a:off x="17127734" y="9791700"/>
            <a:ext cx="855466" cy="245260"/>
          </a:xfrm>
          <a:prstGeom prst="rect">
            <a:avLst/>
          </a:prstGeom>
        </p:spPr>
        <p:txBody>
          <a:bodyPr wrap="square" lIns="0" tIns="0" rIns="0" bIns="0" rtlCol="0" anchor="t">
            <a:spAutoFit/>
          </a:bodyPr>
          <a:lstStyle/>
          <a:p>
            <a:pPr algn="ctr">
              <a:lnSpc>
                <a:spcPts val="1980"/>
              </a:lnSpc>
            </a:pPr>
            <a:r>
              <a:rPr lang="en-US" sz="1650" spc="15" dirty="0">
                <a:solidFill>
                  <a:srgbClr val="0070C0"/>
                </a:solidFill>
                <a:latin typeface="TT Rounds Condensed"/>
                <a:ea typeface="TT Rounds Condensed"/>
                <a:cs typeface="TT Rounds Condensed"/>
                <a:sym typeface="TT Rounds Condensed"/>
              </a:rPr>
              <a:t>22 | </a:t>
            </a:r>
            <a:r>
              <a:rPr lang="en-US" sz="1650" spc="15" dirty="0">
                <a:solidFill>
                  <a:srgbClr val="0070C0"/>
                </a:solidFill>
                <a:latin typeface="Arial Black" panose="020B0A04020102020204" pitchFamily="34" charset="0"/>
                <a:ea typeface="TT Rounds Condensed"/>
                <a:cs typeface="TT Rounds Condensed"/>
                <a:sym typeface="TT Rounds Condensed"/>
              </a:rPr>
              <a:t>33</a:t>
            </a:r>
            <a:endParaRPr lang="en-US" sz="1650" spc="15" dirty="0">
              <a:solidFill>
                <a:srgbClr val="0070C0"/>
              </a:solidFill>
              <a:latin typeface="Arial Black" panose="020B0A04020102020204" pitchFamily="34" charset="0"/>
              <a:ea typeface="TT Rounds Condensed Bold"/>
              <a:cs typeface="TT Rounds Condensed Bold"/>
              <a:sym typeface="TT Rounds Condensed Bold"/>
            </a:endParaRPr>
          </a:p>
        </p:txBody>
      </p:sp>
    </p:spTree>
    <p:extLst>
      <p:ext uri="{BB962C8B-B14F-4D97-AF65-F5344CB8AC3E}">
        <p14:creationId xmlns:p14="http://schemas.microsoft.com/office/powerpoint/2010/main" val="36319236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fr-SN"/>
          </a:p>
        </p:txBody>
      </p:sp>
      <p:sp>
        <p:nvSpPr>
          <p:cNvPr id="3" name="Freeform 3"/>
          <p:cNvSpPr/>
          <p:nvPr/>
        </p:nvSpPr>
        <p:spPr>
          <a:xfrm>
            <a:off x="6096000" y="1391910"/>
            <a:ext cx="12192000" cy="9378142"/>
          </a:xfrm>
          <a:custGeom>
            <a:avLst/>
            <a:gdLst/>
            <a:ahLst/>
            <a:cxnLst/>
            <a:rect l="l" t="t" r="r" b="b"/>
            <a:pathLst>
              <a:path w="10614457" h="8895090">
                <a:moveTo>
                  <a:pt x="0" y="0"/>
                </a:moveTo>
                <a:lnTo>
                  <a:pt x="10614456" y="0"/>
                </a:lnTo>
                <a:lnTo>
                  <a:pt x="10614456" y="8895090"/>
                </a:lnTo>
                <a:lnTo>
                  <a:pt x="0" y="8895090"/>
                </a:lnTo>
                <a:lnTo>
                  <a:pt x="0" y="0"/>
                </a:lnTo>
                <a:close/>
              </a:path>
            </a:pathLst>
          </a:custGeom>
          <a:blipFill>
            <a:blip r:embed="rId3"/>
            <a:stretch>
              <a:fillRect/>
            </a:stretch>
          </a:blipFill>
        </p:spPr>
        <p:txBody>
          <a:bodyPr/>
          <a:lstStyle/>
          <a:p>
            <a:endParaRPr lang="fr-SN"/>
          </a:p>
        </p:txBody>
      </p:sp>
      <p:sp>
        <p:nvSpPr>
          <p:cNvPr id="5" name="TextBox 5"/>
          <p:cNvSpPr txBox="1"/>
          <p:nvPr/>
        </p:nvSpPr>
        <p:spPr>
          <a:xfrm>
            <a:off x="2852454" y="483052"/>
            <a:ext cx="11823072" cy="769441"/>
          </a:xfrm>
          <a:prstGeom prst="rect">
            <a:avLst/>
          </a:prstGeom>
        </p:spPr>
        <p:txBody>
          <a:bodyPr lIns="0" tIns="0" rIns="0" bIns="0" rtlCol="0" anchor="t">
            <a:spAutoFit/>
          </a:bodyPr>
          <a:lstStyle/>
          <a:p>
            <a:pPr algn="ctr">
              <a:lnSpc>
                <a:spcPts val="6000"/>
              </a:lnSpc>
            </a:pPr>
            <a:r>
              <a:rPr lang="en-US" sz="5400" dirty="0">
                <a:solidFill>
                  <a:srgbClr val="0070C0"/>
                </a:solidFill>
                <a:latin typeface="Arial Black" panose="020B0A04020102020204" pitchFamily="34" charset="0"/>
                <a:ea typeface="Arimo Bold"/>
                <a:cs typeface="Arimo Bold"/>
                <a:sym typeface="Arimo Bold"/>
              </a:rPr>
              <a:t>MODÉLISATION</a:t>
            </a:r>
            <a:endParaRPr lang="en-US" sz="5400" dirty="0">
              <a:solidFill>
                <a:srgbClr val="0070C0"/>
              </a:solidFill>
              <a:latin typeface="Arimo Bold"/>
              <a:ea typeface="Arimo Bold"/>
              <a:cs typeface="Arimo Bold"/>
              <a:sym typeface="Arimo Bold"/>
            </a:endParaRPr>
          </a:p>
        </p:txBody>
      </p:sp>
      <p:sp>
        <p:nvSpPr>
          <p:cNvPr id="6" name="TextBox 6"/>
          <p:cNvSpPr txBox="1"/>
          <p:nvPr/>
        </p:nvSpPr>
        <p:spPr>
          <a:xfrm>
            <a:off x="1780570" y="1963599"/>
            <a:ext cx="4754067" cy="1541145"/>
          </a:xfrm>
          <a:prstGeom prst="rect">
            <a:avLst/>
          </a:prstGeom>
        </p:spPr>
        <p:txBody>
          <a:bodyPr lIns="0" tIns="0" rIns="0" bIns="0" rtlCol="0" anchor="t">
            <a:spAutoFit/>
          </a:bodyPr>
          <a:lstStyle/>
          <a:p>
            <a:pPr algn="l">
              <a:lnSpc>
                <a:spcPts val="6000"/>
              </a:lnSpc>
            </a:pPr>
            <a:r>
              <a:rPr lang="en-US" sz="4800">
                <a:solidFill>
                  <a:srgbClr val="000000"/>
                </a:solidFill>
                <a:latin typeface="Arimo Bold"/>
                <a:ea typeface="Arimo Bold"/>
                <a:cs typeface="Arimo Bold"/>
                <a:sym typeface="Arimo Bold"/>
              </a:rPr>
              <a:t>Diagramme des classes</a:t>
            </a:r>
          </a:p>
        </p:txBody>
      </p:sp>
      <p:sp>
        <p:nvSpPr>
          <p:cNvPr id="7" name="TextBox 20">
            <a:extLst>
              <a:ext uri="{FF2B5EF4-FFF2-40B4-BE49-F238E27FC236}">
                <a16:creationId xmlns:a16="http://schemas.microsoft.com/office/drawing/2014/main" id="{DE9FAD1C-98F5-0D13-3C7E-E2EAB52A3C8A}"/>
              </a:ext>
            </a:extLst>
          </p:cNvPr>
          <p:cNvSpPr txBox="1"/>
          <p:nvPr/>
        </p:nvSpPr>
        <p:spPr>
          <a:xfrm>
            <a:off x="17127734" y="9791700"/>
            <a:ext cx="855466" cy="245260"/>
          </a:xfrm>
          <a:prstGeom prst="rect">
            <a:avLst/>
          </a:prstGeom>
        </p:spPr>
        <p:txBody>
          <a:bodyPr wrap="square" lIns="0" tIns="0" rIns="0" bIns="0" rtlCol="0" anchor="t">
            <a:spAutoFit/>
          </a:bodyPr>
          <a:lstStyle/>
          <a:p>
            <a:pPr algn="ctr">
              <a:lnSpc>
                <a:spcPts val="1980"/>
              </a:lnSpc>
            </a:pPr>
            <a:r>
              <a:rPr lang="en-US" sz="1650" spc="15" dirty="0">
                <a:solidFill>
                  <a:srgbClr val="0070C0"/>
                </a:solidFill>
                <a:latin typeface="TT Rounds Condensed"/>
                <a:ea typeface="TT Rounds Condensed"/>
                <a:cs typeface="TT Rounds Condensed"/>
                <a:sym typeface="TT Rounds Condensed"/>
              </a:rPr>
              <a:t>24 | </a:t>
            </a:r>
            <a:r>
              <a:rPr lang="en-US" sz="1650" spc="15" dirty="0">
                <a:solidFill>
                  <a:srgbClr val="0070C0"/>
                </a:solidFill>
                <a:latin typeface="Arial Black" panose="020B0A04020102020204" pitchFamily="34" charset="0"/>
                <a:ea typeface="TT Rounds Condensed"/>
                <a:cs typeface="TT Rounds Condensed"/>
                <a:sym typeface="TT Rounds Condensed"/>
              </a:rPr>
              <a:t>33</a:t>
            </a:r>
            <a:endParaRPr lang="en-US" sz="1650" spc="15" dirty="0">
              <a:solidFill>
                <a:srgbClr val="0070C0"/>
              </a:solidFill>
              <a:latin typeface="Arial Black" panose="020B0A04020102020204" pitchFamily="34" charset="0"/>
              <a:ea typeface="TT Rounds Condensed Bold"/>
              <a:cs typeface="TT Rounds Condensed Bold"/>
              <a:sym typeface="TT Rounds Condensed Bo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fr-SN"/>
          </a:p>
        </p:txBody>
      </p:sp>
      <p:sp>
        <p:nvSpPr>
          <p:cNvPr id="3" name="Freeform 3"/>
          <p:cNvSpPr/>
          <p:nvPr/>
        </p:nvSpPr>
        <p:spPr>
          <a:xfrm>
            <a:off x="3981472" y="6630168"/>
            <a:ext cx="1531280" cy="1589107"/>
          </a:xfrm>
          <a:custGeom>
            <a:avLst/>
            <a:gdLst/>
            <a:ahLst/>
            <a:cxnLst/>
            <a:rect l="l" t="t" r="r" b="b"/>
            <a:pathLst>
              <a:path w="1531280" h="1589107">
                <a:moveTo>
                  <a:pt x="0" y="0"/>
                </a:moveTo>
                <a:lnTo>
                  <a:pt x="1531281" y="0"/>
                </a:lnTo>
                <a:lnTo>
                  <a:pt x="1531281" y="1589107"/>
                </a:lnTo>
                <a:lnTo>
                  <a:pt x="0" y="1589107"/>
                </a:lnTo>
                <a:lnTo>
                  <a:pt x="0" y="0"/>
                </a:lnTo>
                <a:close/>
              </a:path>
            </a:pathLst>
          </a:custGeom>
          <a:blipFill>
            <a:blip r:embed="rId4"/>
            <a:stretch>
              <a:fillRect l="-18433" r="-19828"/>
            </a:stretch>
          </a:blipFill>
        </p:spPr>
        <p:txBody>
          <a:bodyPr/>
          <a:lstStyle/>
          <a:p>
            <a:endParaRPr lang="fr-SN"/>
          </a:p>
        </p:txBody>
      </p:sp>
      <p:sp>
        <p:nvSpPr>
          <p:cNvPr id="4" name="Freeform 4"/>
          <p:cNvSpPr/>
          <p:nvPr/>
        </p:nvSpPr>
        <p:spPr>
          <a:xfrm>
            <a:off x="10289658" y="3511370"/>
            <a:ext cx="1747767" cy="1398214"/>
          </a:xfrm>
          <a:custGeom>
            <a:avLst/>
            <a:gdLst/>
            <a:ahLst/>
            <a:cxnLst/>
            <a:rect l="l" t="t" r="r" b="b"/>
            <a:pathLst>
              <a:path w="1747767" h="1398214">
                <a:moveTo>
                  <a:pt x="0" y="0"/>
                </a:moveTo>
                <a:lnTo>
                  <a:pt x="1747767" y="0"/>
                </a:lnTo>
                <a:lnTo>
                  <a:pt x="1747767" y="1398213"/>
                </a:lnTo>
                <a:lnTo>
                  <a:pt x="0" y="1398213"/>
                </a:lnTo>
                <a:lnTo>
                  <a:pt x="0" y="0"/>
                </a:lnTo>
                <a:close/>
              </a:path>
            </a:pathLst>
          </a:custGeom>
          <a:blipFill>
            <a:blip r:embed="rId5"/>
            <a:stretch>
              <a:fillRect t="-12500" b="-12499"/>
            </a:stretch>
          </a:blipFill>
        </p:spPr>
        <p:txBody>
          <a:bodyPr/>
          <a:lstStyle/>
          <a:p>
            <a:endParaRPr lang="fr-SN"/>
          </a:p>
        </p:txBody>
      </p:sp>
      <p:sp>
        <p:nvSpPr>
          <p:cNvPr id="5" name="Freeform 5"/>
          <p:cNvSpPr/>
          <p:nvPr/>
        </p:nvSpPr>
        <p:spPr>
          <a:xfrm>
            <a:off x="6618526" y="3466198"/>
            <a:ext cx="1804232" cy="1443386"/>
          </a:xfrm>
          <a:custGeom>
            <a:avLst/>
            <a:gdLst/>
            <a:ahLst/>
            <a:cxnLst/>
            <a:rect l="l" t="t" r="r" b="b"/>
            <a:pathLst>
              <a:path w="1804232" h="1443386">
                <a:moveTo>
                  <a:pt x="0" y="0"/>
                </a:moveTo>
                <a:lnTo>
                  <a:pt x="1804232" y="0"/>
                </a:lnTo>
                <a:lnTo>
                  <a:pt x="1804232" y="1443385"/>
                </a:lnTo>
                <a:lnTo>
                  <a:pt x="0" y="1443385"/>
                </a:lnTo>
                <a:lnTo>
                  <a:pt x="0" y="0"/>
                </a:lnTo>
                <a:close/>
              </a:path>
            </a:pathLst>
          </a:custGeom>
          <a:blipFill>
            <a:blip r:embed="rId6"/>
            <a:stretch>
              <a:fillRect t="-12499" b="-12499"/>
            </a:stretch>
          </a:blipFill>
        </p:spPr>
        <p:txBody>
          <a:bodyPr/>
          <a:lstStyle/>
          <a:p>
            <a:endParaRPr lang="fr-SN"/>
          </a:p>
        </p:txBody>
      </p:sp>
      <p:sp>
        <p:nvSpPr>
          <p:cNvPr id="7" name="Freeform 7"/>
          <p:cNvSpPr/>
          <p:nvPr/>
        </p:nvSpPr>
        <p:spPr>
          <a:xfrm>
            <a:off x="3215832" y="3466198"/>
            <a:ext cx="1531280" cy="1452464"/>
          </a:xfrm>
          <a:custGeom>
            <a:avLst/>
            <a:gdLst/>
            <a:ahLst/>
            <a:cxnLst/>
            <a:rect l="l" t="t" r="r" b="b"/>
            <a:pathLst>
              <a:path w="1531280" h="1452464">
                <a:moveTo>
                  <a:pt x="0" y="0"/>
                </a:moveTo>
                <a:lnTo>
                  <a:pt x="1531281" y="0"/>
                </a:lnTo>
                <a:lnTo>
                  <a:pt x="1531281" y="1452464"/>
                </a:lnTo>
                <a:lnTo>
                  <a:pt x="0" y="1452464"/>
                </a:lnTo>
                <a:lnTo>
                  <a:pt x="0" y="0"/>
                </a:lnTo>
                <a:close/>
              </a:path>
            </a:pathLst>
          </a:custGeom>
          <a:blipFill>
            <a:blip r:embed="rId7"/>
            <a:stretch>
              <a:fillRect/>
            </a:stretch>
          </a:blipFill>
        </p:spPr>
        <p:txBody>
          <a:bodyPr/>
          <a:lstStyle/>
          <a:p>
            <a:endParaRPr lang="fr-SN"/>
          </a:p>
        </p:txBody>
      </p:sp>
      <p:sp>
        <p:nvSpPr>
          <p:cNvPr id="8" name="Freeform 8"/>
          <p:cNvSpPr/>
          <p:nvPr/>
        </p:nvSpPr>
        <p:spPr>
          <a:xfrm>
            <a:off x="13905674" y="3457119"/>
            <a:ext cx="1366830" cy="1366830"/>
          </a:xfrm>
          <a:custGeom>
            <a:avLst/>
            <a:gdLst/>
            <a:ahLst/>
            <a:cxnLst/>
            <a:rect l="l" t="t" r="r" b="b"/>
            <a:pathLst>
              <a:path w="1366830" h="1366830">
                <a:moveTo>
                  <a:pt x="0" y="0"/>
                </a:moveTo>
                <a:lnTo>
                  <a:pt x="1366831" y="0"/>
                </a:lnTo>
                <a:lnTo>
                  <a:pt x="1366831" y="1366830"/>
                </a:lnTo>
                <a:lnTo>
                  <a:pt x="0" y="1366830"/>
                </a:lnTo>
                <a:lnTo>
                  <a:pt x="0" y="0"/>
                </a:lnTo>
                <a:close/>
              </a:path>
            </a:pathLst>
          </a:custGeom>
          <a:blipFill>
            <a:blip r:embed="rId8"/>
            <a:stretch>
              <a:fillRect/>
            </a:stretch>
          </a:blipFill>
        </p:spPr>
        <p:txBody>
          <a:bodyPr/>
          <a:lstStyle/>
          <a:p>
            <a:endParaRPr lang="fr-SN"/>
          </a:p>
        </p:txBody>
      </p:sp>
      <p:sp>
        <p:nvSpPr>
          <p:cNvPr id="9" name="Freeform 9"/>
          <p:cNvSpPr/>
          <p:nvPr/>
        </p:nvSpPr>
        <p:spPr>
          <a:xfrm>
            <a:off x="7893234" y="6358214"/>
            <a:ext cx="1741512" cy="1741512"/>
          </a:xfrm>
          <a:custGeom>
            <a:avLst/>
            <a:gdLst/>
            <a:ahLst/>
            <a:cxnLst/>
            <a:rect l="l" t="t" r="r" b="b"/>
            <a:pathLst>
              <a:path w="1741512" h="1741512">
                <a:moveTo>
                  <a:pt x="0" y="0"/>
                </a:moveTo>
                <a:lnTo>
                  <a:pt x="1741512" y="0"/>
                </a:lnTo>
                <a:lnTo>
                  <a:pt x="1741512" y="1741512"/>
                </a:lnTo>
                <a:lnTo>
                  <a:pt x="0" y="1741512"/>
                </a:lnTo>
                <a:lnTo>
                  <a:pt x="0" y="0"/>
                </a:lnTo>
                <a:close/>
              </a:path>
            </a:pathLst>
          </a:custGeom>
          <a:blipFill>
            <a:blip r:embed="rId9"/>
            <a:stretch>
              <a:fillRect/>
            </a:stretch>
          </a:blipFill>
        </p:spPr>
        <p:txBody>
          <a:bodyPr/>
          <a:lstStyle/>
          <a:p>
            <a:endParaRPr lang="fr-SN"/>
          </a:p>
        </p:txBody>
      </p:sp>
      <p:sp>
        <p:nvSpPr>
          <p:cNvPr id="11" name="TextBox 11"/>
          <p:cNvSpPr txBox="1"/>
          <p:nvPr/>
        </p:nvSpPr>
        <p:spPr>
          <a:xfrm>
            <a:off x="2852454" y="483052"/>
            <a:ext cx="11823072" cy="769441"/>
          </a:xfrm>
          <a:prstGeom prst="rect">
            <a:avLst/>
          </a:prstGeom>
        </p:spPr>
        <p:txBody>
          <a:bodyPr lIns="0" tIns="0" rIns="0" bIns="0" rtlCol="0" anchor="t">
            <a:spAutoFit/>
          </a:bodyPr>
          <a:lstStyle/>
          <a:p>
            <a:pPr algn="ctr">
              <a:lnSpc>
                <a:spcPts val="6000"/>
              </a:lnSpc>
            </a:pPr>
            <a:r>
              <a:rPr lang="en-US" sz="5400" dirty="0">
                <a:solidFill>
                  <a:srgbClr val="0070C0"/>
                </a:solidFill>
                <a:latin typeface="Arial Black" panose="020B0A04020102020204" pitchFamily="34" charset="0"/>
                <a:ea typeface="Arimo Bold"/>
                <a:cs typeface="Arimo Bold"/>
                <a:sym typeface="Arimo Bold"/>
              </a:rPr>
              <a:t>OUTILS ET TECHNOS UTILISÉS</a:t>
            </a:r>
          </a:p>
        </p:txBody>
      </p:sp>
      <p:sp>
        <p:nvSpPr>
          <p:cNvPr id="12" name="TextBox 12"/>
          <p:cNvSpPr txBox="1"/>
          <p:nvPr/>
        </p:nvSpPr>
        <p:spPr>
          <a:xfrm>
            <a:off x="1780570" y="1963599"/>
            <a:ext cx="8703575" cy="779145"/>
          </a:xfrm>
          <a:prstGeom prst="rect">
            <a:avLst/>
          </a:prstGeom>
        </p:spPr>
        <p:txBody>
          <a:bodyPr lIns="0" tIns="0" rIns="0" bIns="0" rtlCol="0" anchor="t">
            <a:spAutoFit/>
          </a:bodyPr>
          <a:lstStyle/>
          <a:p>
            <a:pPr algn="l">
              <a:lnSpc>
                <a:spcPts val="6000"/>
              </a:lnSpc>
            </a:pPr>
            <a:r>
              <a:rPr lang="en-US" sz="4800">
                <a:solidFill>
                  <a:srgbClr val="000000"/>
                </a:solidFill>
                <a:latin typeface="Arimo Bold"/>
                <a:ea typeface="Arimo Bold"/>
                <a:cs typeface="Arimo Bold"/>
                <a:sym typeface="Arimo Bold"/>
              </a:rPr>
              <a:t>Outils</a:t>
            </a:r>
          </a:p>
        </p:txBody>
      </p:sp>
      <p:pic>
        <p:nvPicPr>
          <p:cNvPr id="9218" name="Picture 2" descr="GitHub | San Francisco CA">
            <a:extLst>
              <a:ext uri="{FF2B5EF4-FFF2-40B4-BE49-F238E27FC236}">
                <a16:creationId xmlns:a16="http://schemas.microsoft.com/office/drawing/2014/main" id="{2DA014B2-5507-C790-4F56-78A580EE85B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172928" y="6244118"/>
            <a:ext cx="2133600" cy="213360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20">
            <a:extLst>
              <a:ext uri="{FF2B5EF4-FFF2-40B4-BE49-F238E27FC236}">
                <a16:creationId xmlns:a16="http://schemas.microsoft.com/office/drawing/2014/main" id="{6C878D2B-D984-7171-7D8C-97E255B73918}"/>
              </a:ext>
            </a:extLst>
          </p:cNvPr>
          <p:cNvSpPr txBox="1"/>
          <p:nvPr/>
        </p:nvSpPr>
        <p:spPr>
          <a:xfrm>
            <a:off x="17127734" y="9791700"/>
            <a:ext cx="855466" cy="245260"/>
          </a:xfrm>
          <a:prstGeom prst="rect">
            <a:avLst/>
          </a:prstGeom>
        </p:spPr>
        <p:txBody>
          <a:bodyPr wrap="square" lIns="0" tIns="0" rIns="0" bIns="0" rtlCol="0" anchor="t">
            <a:spAutoFit/>
          </a:bodyPr>
          <a:lstStyle/>
          <a:p>
            <a:pPr algn="ctr">
              <a:lnSpc>
                <a:spcPts val="1980"/>
              </a:lnSpc>
            </a:pPr>
            <a:r>
              <a:rPr lang="en-US" sz="1650" spc="15" dirty="0">
                <a:solidFill>
                  <a:srgbClr val="0070C0"/>
                </a:solidFill>
                <a:latin typeface="TT Rounds Condensed"/>
                <a:ea typeface="TT Rounds Condensed"/>
                <a:cs typeface="TT Rounds Condensed"/>
                <a:sym typeface="TT Rounds Condensed"/>
              </a:rPr>
              <a:t>25 | </a:t>
            </a:r>
            <a:r>
              <a:rPr lang="en-US" sz="1650" spc="15" dirty="0">
                <a:solidFill>
                  <a:srgbClr val="0070C0"/>
                </a:solidFill>
                <a:latin typeface="Arial Black" panose="020B0A04020102020204" pitchFamily="34" charset="0"/>
                <a:ea typeface="TT Rounds Condensed"/>
                <a:cs typeface="TT Rounds Condensed"/>
                <a:sym typeface="TT Rounds Condensed"/>
              </a:rPr>
              <a:t>33</a:t>
            </a:r>
            <a:endParaRPr lang="en-US" sz="1650" spc="15" dirty="0">
              <a:solidFill>
                <a:srgbClr val="0070C0"/>
              </a:solidFill>
              <a:latin typeface="Arial Black" panose="020B0A04020102020204" pitchFamily="34" charset="0"/>
              <a:ea typeface="TT Rounds Condensed Bold"/>
              <a:cs typeface="TT Rounds Condensed Bold"/>
              <a:sym typeface="TT Rounds Condensed Bo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fr-SN"/>
          </a:p>
        </p:txBody>
      </p:sp>
      <p:sp>
        <p:nvSpPr>
          <p:cNvPr id="11" name="TextBox 11"/>
          <p:cNvSpPr txBox="1"/>
          <p:nvPr/>
        </p:nvSpPr>
        <p:spPr>
          <a:xfrm>
            <a:off x="2852454" y="483052"/>
            <a:ext cx="11823072" cy="769441"/>
          </a:xfrm>
          <a:prstGeom prst="rect">
            <a:avLst/>
          </a:prstGeom>
        </p:spPr>
        <p:txBody>
          <a:bodyPr lIns="0" tIns="0" rIns="0" bIns="0" rtlCol="0" anchor="t">
            <a:spAutoFit/>
          </a:bodyPr>
          <a:lstStyle/>
          <a:p>
            <a:pPr algn="ctr">
              <a:lnSpc>
                <a:spcPts val="6000"/>
              </a:lnSpc>
            </a:pPr>
            <a:r>
              <a:rPr lang="en-US" sz="5400" dirty="0">
                <a:solidFill>
                  <a:srgbClr val="0070C0"/>
                </a:solidFill>
                <a:latin typeface="Arial Black" panose="020B0A04020102020204" pitchFamily="34" charset="0"/>
                <a:ea typeface="Arimo Bold"/>
                <a:cs typeface="Arimo Bold"/>
                <a:sym typeface="Arimo Bold"/>
              </a:rPr>
              <a:t>OUTILS ET TECHNOS UTILISÉS</a:t>
            </a:r>
          </a:p>
        </p:txBody>
      </p:sp>
      <p:sp>
        <p:nvSpPr>
          <p:cNvPr id="12" name="TextBox 12"/>
          <p:cNvSpPr txBox="1"/>
          <p:nvPr/>
        </p:nvSpPr>
        <p:spPr>
          <a:xfrm>
            <a:off x="1780570" y="1963599"/>
            <a:ext cx="8703575" cy="717184"/>
          </a:xfrm>
          <a:prstGeom prst="rect">
            <a:avLst/>
          </a:prstGeom>
        </p:spPr>
        <p:txBody>
          <a:bodyPr lIns="0" tIns="0" rIns="0" bIns="0" rtlCol="0" anchor="t">
            <a:spAutoFit/>
          </a:bodyPr>
          <a:lstStyle/>
          <a:p>
            <a:pPr algn="l">
              <a:lnSpc>
                <a:spcPts val="6000"/>
              </a:lnSpc>
            </a:pPr>
            <a:r>
              <a:rPr lang="en-US" sz="4800" dirty="0" err="1">
                <a:solidFill>
                  <a:srgbClr val="000000"/>
                </a:solidFill>
                <a:latin typeface="Arimo Bold"/>
                <a:ea typeface="Arimo Bold"/>
                <a:cs typeface="Arimo Bold"/>
                <a:sym typeface="Arimo Bold"/>
              </a:rPr>
              <a:t>Technos</a:t>
            </a:r>
            <a:endParaRPr lang="en-US" sz="4800" dirty="0">
              <a:solidFill>
                <a:srgbClr val="000000"/>
              </a:solidFill>
              <a:latin typeface="Arimo Bold"/>
              <a:ea typeface="Arimo Bold"/>
              <a:cs typeface="Arimo Bold"/>
              <a:sym typeface="Arimo Bold"/>
            </a:endParaRPr>
          </a:p>
        </p:txBody>
      </p:sp>
      <p:pic>
        <p:nvPicPr>
          <p:cNvPr id="8194" name="Picture 2">
            <a:extLst>
              <a:ext uri="{FF2B5EF4-FFF2-40B4-BE49-F238E27FC236}">
                <a16:creationId xmlns:a16="http://schemas.microsoft.com/office/drawing/2014/main" id="{E683034F-21EA-86EE-30B0-1A84E22DDA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33800" y="2733405"/>
            <a:ext cx="3645842" cy="3068584"/>
          </a:xfrm>
          <a:prstGeom prst="rect">
            <a:avLst/>
          </a:prstGeom>
          <a:noFill/>
          <a:extLst>
            <a:ext uri="{909E8E84-426E-40DD-AFC4-6F175D3DCCD1}">
              <a14:hiddenFill xmlns:a14="http://schemas.microsoft.com/office/drawing/2010/main">
                <a:solidFill>
                  <a:srgbClr val="FFFFFF"/>
                </a:solidFill>
              </a14:hiddenFill>
            </a:ext>
          </a:extLst>
        </p:spPr>
      </p:pic>
      <p:pic>
        <p:nvPicPr>
          <p:cNvPr id="8202" name="Picture 10" descr="Flutter – Medium">
            <a:extLst>
              <a:ext uri="{FF2B5EF4-FFF2-40B4-BE49-F238E27FC236}">
                <a16:creationId xmlns:a16="http://schemas.microsoft.com/office/drawing/2014/main" id="{DE3D0498-D117-A759-503C-08C725AB298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201400" y="6086075"/>
            <a:ext cx="3037652" cy="3037652"/>
          </a:xfrm>
          <a:prstGeom prst="rect">
            <a:avLst/>
          </a:prstGeom>
          <a:noFill/>
          <a:extLst>
            <a:ext uri="{909E8E84-426E-40DD-AFC4-6F175D3DCCD1}">
              <a14:hiddenFill xmlns:a14="http://schemas.microsoft.com/office/drawing/2010/main">
                <a:solidFill>
                  <a:srgbClr val="FFFFFF"/>
                </a:solidFill>
              </a14:hiddenFill>
            </a:ext>
          </a:extLst>
        </p:spPr>
      </p:pic>
      <p:pic>
        <p:nvPicPr>
          <p:cNvPr id="8206" name="Picture 14" descr="postgresql introduction. PostgreSQL (pronounced as… | by Uciha Madara |  Medium">
            <a:extLst>
              <a:ext uri="{FF2B5EF4-FFF2-40B4-BE49-F238E27FC236}">
                <a16:creationId xmlns:a16="http://schemas.microsoft.com/office/drawing/2014/main" id="{CE872742-05B5-AEB7-EC9C-8732582036F6}"/>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6857" r="20286" b="24400"/>
          <a:stretch/>
        </p:blipFill>
        <p:spPr bwMode="auto">
          <a:xfrm>
            <a:off x="8861548" y="3028911"/>
            <a:ext cx="3549945" cy="3049725"/>
          </a:xfrm>
          <a:prstGeom prst="rect">
            <a:avLst/>
          </a:prstGeom>
          <a:noFill/>
          <a:extLst>
            <a:ext uri="{909E8E84-426E-40DD-AFC4-6F175D3DCCD1}">
              <a14:hiddenFill xmlns:a14="http://schemas.microsoft.com/office/drawing/2010/main">
                <a:solidFill>
                  <a:srgbClr val="FFFFFF"/>
                </a:solidFill>
              </a14:hiddenFill>
            </a:ext>
          </a:extLst>
        </p:spPr>
      </p:pic>
      <p:pic>
        <p:nvPicPr>
          <p:cNvPr id="8208" name="Picture 16" descr="Spring Boot (@springboot) / X">
            <a:extLst>
              <a:ext uri="{FF2B5EF4-FFF2-40B4-BE49-F238E27FC236}">
                <a16:creationId xmlns:a16="http://schemas.microsoft.com/office/drawing/2014/main" id="{A606C6E4-55D7-DD5F-C3DE-B0C5B671BDC6}"/>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9317" t="7634" r="10955" b="12637"/>
          <a:stretch/>
        </p:blipFill>
        <p:spPr bwMode="auto">
          <a:xfrm>
            <a:off x="5257800" y="6086075"/>
            <a:ext cx="3037652" cy="3037652"/>
          </a:xfrm>
          <a:prstGeom prst="rect">
            <a:avLst/>
          </a:prstGeom>
          <a:noFill/>
          <a:extLst>
            <a:ext uri="{909E8E84-426E-40DD-AFC4-6F175D3DCCD1}">
              <a14:hiddenFill xmlns:a14="http://schemas.microsoft.com/office/drawing/2010/main">
                <a:solidFill>
                  <a:srgbClr val="FFFFFF"/>
                </a:solidFill>
              </a14:hiddenFill>
            </a:ext>
          </a:extLst>
        </p:spPr>
      </p:pic>
      <p:pic>
        <p:nvPicPr>
          <p:cNvPr id="8210" name="Picture 18" descr="Git · GitHub">
            <a:extLst>
              <a:ext uri="{FF2B5EF4-FFF2-40B4-BE49-F238E27FC236}">
                <a16:creationId xmlns:a16="http://schemas.microsoft.com/office/drawing/2014/main" id="{5E394D59-830A-B4FA-C9A8-7D96230F372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591876" y="2934197"/>
            <a:ext cx="2667000" cy="266700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20">
            <a:extLst>
              <a:ext uri="{FF2B5EF4-FFF2-40B4-BE49-F238E27FC236}">
                <a16:creationId xmlns:a16="http://schemas.microsoft.com/office/drawing/2014/main" id="{6ACAECB0-FAF5-E98E-6278-E7E8D0EA6E44}"/>
              </a:ext>
            </a:extLst>
          </p:cNvPr>
          <p:cNvSpPr txBox="1"/>
          <p:nvPr/>
        </p:nvSpPr>
        <p:spPr>
          <a:xfrm>
            <a:off x="17127734" y="9791700"/>
            <a:ext cx="855466" cy="245260"/>
          </a:xfrm>
          <a:prstGeom prst="rect">
            <a:avLst/>
          </a:prstGeom>
        </p:spPr>
        <p:txBody>
          <a:bodyPr wrap="square" lIns="0" tIns="0" rIns="0" bIns="0" rtlCol="0" anchor="t">
            <a:spAutoFit/>
          </a:bodyPr>
          <a:lstStyle/>
          <a:p>
            <a:pPr algn="ctr">
              <a:lnSpc>
                <a:spcPts val="1980"/>
              </a:lnSpc>
            </a:pPr>
            <a:r>
              <a:rPr lang="en-US" sz="1650" spc="15" dirty="0">
                <a:solidFill>
                  <a:srgbClr val="0070C0"/>
                </a:solidFill>
                <a:latin typeface="TT Rounds Condensed"/>
                <a:ea typeface="TT Rounds Condensed"/>
                <a:cs typeface="TT Rounds Condensed"/>
                <a:sym typeface="TT Rounds Condensed"/>
              </a:rPr>
              <a:t>26 | </a:t>
            </a:r>
            <a:r>
              <a:rPr lang="en-US" sz="1650" spc="15" dirty="0">
                <a:solidFill>
                  <a:srgbClr val="0070C0"/>
                </a:solidFill>
                <a:latin typeface="Arial Black" panose="020B0A04020102020204" pitchFamily="34" charset="0"/>
                <a:ea typeface="TT Rounds Condensed"/>
                <a:cs typeface="TT Rounds Condensed"/>
                <a:sym typeface="TT Rounds Condensed"/>
              </a:rPr>
              <a:t>33</a:t>
            </a:r>
            <a:endParaRPr lang="en-US" sz="1650" spc="15" dirty="0">
              <a:solidFill>
                <a:srgbClr val="0070C0"/>
              </a:solidFill>
              <a:latin typeface="Arial Black" panose="020B0A04020102020204" pitchFamily="34" charset="0"/>
              <a:ea typeface="TT Rounds Condensed Bold"/>
              <a:cs typeface="TT Rounds Condensed Bold"/>
              <a:sym typeface="TT Rounds Condensed Bold"/>
            </a:endParaRPr>
          </a:p>
        </p:txBody>
      </p:sp>
    </p:spTree>
    <p:extLst>
      <p:ext uri="{BB962C8B-B14F-4D97-AF65-F5344CB8AC3E}">
        <p14:creationId xmlns:p14="http://schemas.microsoft.com/office/powerpoint/2010/main" val="28355449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fr-SN"/>
          </a:p>
        </p:txBody>
      </p:sp>
      <p:sp>
        <p:nvSpPr>
          <p:cNvPr id="3" name="TextBox 3"/>
          <p:cNvSpPr txBox="1"/>
          <p:nvPr/>
        </p:nvSpPr>
        <p:spPr>
          <a:xfrm>
            <a:off x="3506385" y="3692994"/>
            <a:ext cx="11823072" cy="779765"/>
          </a:xfrm>
          <a:prstGeom prst="rect">
            <a:avLst/>
          </a:prstGeom>
        </p:spPr>
        <p:txBody>
          <a:bodyPr lIns="0" tIns="0" rIns="0" bIns="0" rtlCol="0" anchor="t">
            <a:spAutoFit/>
          </a:bodyPr>
          <a:lstStyle/>
          <a:p>
            <a:pPr algn="ctr">
              <a:lnSpc>
                <a:spcPts val="6000"/>
              </a:lnSpc>
            </a:pPr>
            <a:r>
              <a:rPr lang="en-US" sz="6000" dirty="0">
                <a:solidFill>
                  <a:srgbClr val="FFFFFF"/>
                </a:solidFill>
                <a:latin typeface="Arial Black" panose="020B0A04020102020204" pitchFamily="34" charset="0"/>
                <a:ea typeface="Arimo Bold"/>
                <a:cs typeface="Arimo Bold"/>
                <a:sym typeface="Arimo Bold"/>
              </a:rPr>
              <a:t>RÉALISATION</a:t>
            </a:r>
          </a:p>
        </p:txBody>
      </p:sp>
      <p:sp>
        <p:nvSpPr>
          <p:cNvPr id="5" name="TextBox 20">
            <a:extLst>
              <a:ext uri="{FF2B5EF4-FFF2-40B4-BE49-F238E27FC236}">
                <a16:creationId xmlns:a16="http://schemas.microsoft.com/office/drawing/2014/main" id="{80543CD9-0D4F-3E66-5917-742F61A12AA2}"/>
              </a:ext>
            </a:extLst>
          </p:cNvPr>
          <p:cNvSpPr txBox="1"/>
          <p:nvPr/>
        </p:nvSpPr>
        <p:spPr>
          <a:xfrm>
            <a:off x="17127734" y="9791700"/>
            <a:ext cx="855466" cy="245260"/>
          </a:xfrm>
          <a:prstGeom prst="rect">
            <a:avLst/>
          </a:prstGeom>
        </p:spPr>
        <p:txBody>
          <a:bodyPr wrap="square" lIns="0" tIns="0" rIns="0" bIns="0" rtlCol="0" anchor="t">
            <a:spAutoFit/>
          </a:bodyPr>
          <a:lstStyle/>
          <a:p>
            <a:pPr algn="ctr">
              <a:lnSpc>
                <a:spcPts val="1980"/>
              </a:lnSpc>
            </a:pPr>
            <a:r>
              <a:rPr lang="en-US" sz="1650" spc="15" dirty="0">
                <a:solidFill>
                  <a:schemeClr val="bg1"/>
                </a:solidFill>
                <a:latin typeface="TT Rounds Condensed"/>
                <a:ea typeface="TT Rounds Condensed"/>
                <a:cs typeface="TT Rounds Condensed"/>
                <a:sym typeface="TT Rounds Condensed"/>
              </a:rPr>
              <a:t>27 | </a:t>
            </a:r>
            <a:r>
              <a:rPr lang="en-US" sz="1650" spc="15" dirty="0">
                <a:solidFill>
                  <a:schemeClr val="bg1"/>
                </a:solidFill>
                <a:latin typeface="Arial Black" panose="020B0A04020102020204" pitchFamily="34" charset="0"/>
                <a:ea typeface="TT Rounds Condensed"/>
                <a:cs typeface="TT Rounds Condensed"/>
                <a:sym typeface="TT Rounds Condensed"/>
              </a:rPr>
              <a:t>33</a:t>
            </a:r>
            <a:endParaRPr lang="en-US" sz="1650" spc="15" dirty="0">
              <a:solidFill>
                <a:schemeClr val="bg1"/>
              </a:solidFill>
              <a:latin typeface="Arial Black" panose="020B0A04020102020204" pitchFamily="34" charset="0"/>
              <a:ea typeface="TT Rounds Condensed Bold"/>
              <a:cs typeface="TT Rounds Condensed Bold"/>
              <a:sym typeface="TT Rounds Condensed Bo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fr-SN"/>
          </a:p>
        </p:txBody>
      </p:sp>
      <p:sp>
        <p:nvSpPr>
          <p:cNvPr id="5" name="TextBox 5"/>
          <p:cNvSpPr txBox="1"/>
          <p:nvPr/>
        </p:nvSpPr>
        <p:spPr>
          <a:xfrm>
            <a:off x="2852454" y="483052"/>
            <a:ext cx="11823072" cy="769441"/>
          </a:xfrm>
          <a:prstGeom prst="rect">
            <a:avLst/>
          </a:prstGeom>
        </p:spPr>
        <p:txBody>
          <a:bodyPr lIns="0" tIns="0" rIns="0" bIns="0" rtlCol="0" anchor="t">
            <a:spAutoFit/>
          </a:bodyPr>
          <a:lstStyle/>
          <a:p>
            <a:pPr algn="ctr">
              <a:lnSpc>
                <a:spcPts val="6000"/>
              </a:lnSpc>
            </a:pPr>
            <a:r>
              <a:rPr lang="en-US" sz="5400" dirty="0" err="1">
                <a:solidFill>
                  <a:srgbClr val="0070C0"/>
                </a:solidFill>
                <a:latin typeface="Arial Black" panose="020B0A04020102020204" pitchFamily="34" charset="0"/>
                <a:ea typeface="Arimo Bold"/>
                <a:cs typeface="Arimo Bold"/>
                <a:sym typeface="Arimo Bold"/>
              </a:rPr>
              <a:t>Réalisation</a:t>
            </a:r>
            <a:endParaRPr lang="en-US" sz="5400" dirty="0">
              <a:solidFill>
                <a:srgbClr val="0070C0"/>
              </a:solidFill>
              <a:latin typeface="Arial Black" panose="020B0A04020102020204" pitchFamily="34" charset="0"/>
              <a:ea typeface="Arimo Bold"/>
              <a:cs typeface="Arimo Bold"/>
              <a:sym typeface="Arimo Bold"/>
            </a:endParaRPr>
          </a:p>
        </p:txBody>
      </p:sp>
      <p:pic>
        <p:nvPicPr>
          <p:cNvPr id="8" name="Image 7">
            <a:extLst>
              <a:ext uri="{FF2B5EF4-FFF2-40B4-BE49-F238E27FC236}">
                <a16:creationId xmlns:a16="http://schemas.microsoft.com/office/drawing/2014/main" id="{43CA82D7-9FFA-A331-11F2-EE924872BCB3}"/>
              </a:ext>
            </a:extLst>
          </p:cNvPr>
          <p:cNvPicPr>
            <a:picLocks noChangeAspect="1"/>
          </p:cNvPicPr>
          <p:nvPr/>
        </p:nvPicPr>
        <p:blipFill>
          <a:blip r:embed="rId3"/>
          <a:stretch>
            <a:fillRect/>
          </a:stretch>
        </p:blipFill>
        <p:spPr>
          <a:xfrm>
            <a:off x="142555" y="1562100"/>
            <a:ext cx="10025057" cy="4495800"/>
          </a:xfrm>
          <a:prstGeom prst="rect">
            <a:avLst/>
          </a:prstGeom>
        </p:spPr>
      </p:pic>
      <p:sp>
        <p:nvSpPr>
          <p:cNvPr id="6" name="Freeform 6"/>
          <p:cNvSpPr/>
          <p:nvPr/>
        </p:nvSpPr>
        <p:spPr>
          <a:xfrm>
            <a:off x="10310167" y="2095500"/>
            <a:ext cx="7602228" cy="4495800"/>
          </a:xfrm>
          <a:custGeom>
            <a:avLst/>
            <a:gdLst/>
            <a:ahLst/>
            <a:cxnLst/>
            <a:rect l="l" t="t" r="r" b="b"/>
            <a:pathLst>
              <a:path w="9067237" h="5362176">
                <a:moveTo>
                  <a:pt x="0" y="0"/>
                </a:moveTo>
                <a:lnTo>
                  <a:pt x="9067237" y="0"/>
                </a:lnTo>
                <a:lnTo>
                  <a:pt x="9067237" y="5362176"/>
                </a:lnTo>
                <a:lnTo>
                  <a:pt x="0" y="5362176"/>
                </a:lnTo>
                <a:lnTo>
                  <a:pt x="0" y="0"/>
                </a:lnTo>
                <a:close/>
              </a:path>
            </a:pathLst>
          </a:custGeom>
          <a:blipFill>
            <a:blip r:embed="rId4"/>
            <a:stretch>
              <a:fillRect/>
            </a:stretch>
          </a:blipFill>
        </p:spPr>
        <p:txBody>
          <a:bodyPr/>
          <a:lstStyle/>
          <a:p>
            <a:endParaRPr lang="fr-SN"/>
          </a:p>
        </p:txBody>
      </p:sp>
      <p:pic>
        <p:nvPicPr>
          <p:cNvPr id="10" name="Image 9">
            <a:extLst>
              <a:ext uri="{FF2B5EF4-FFF2-40B4-BE49-F238E27FC236}">
                <a16:creationId xmlns:a16="http://schemas.microsoft.com/office/drawing/2014/main" id="{BBDA61F7-938B-3126-DAFC-3100835A2943}"/>
              </a:ext>
            </a:extLst>
          </p:cNvPr>
          <p:cNvPicPr>
            <a:picLocks noChangeAspect="1"/>
          </p:cNvPicPr>
          <p:nvPr/>
        </p:nvPicPr>
        <p:blipFill>
          <a:blip r:embed="rId5"/>
          <a:stretch>
            <a:fillRect/>
          </a:stretch>
        </p:blipFill>
        <p:spPr>
          <a:xfrm>
            <a:off x="1447800" y="6153150"/>
            <a:ext cx="11664614" cy="4495800"/>
          </a:xfrm>
          <a:prstGeom prst="rect">
            <a:avLst/>
          </a:prstGeom>
        </p:spPr>
      </p:pic>
      <p:sp>
        <p:nvSpPr>
          <p:cNvPr id="11" name="TextBox 20">
            <a:extLst>
              <a:ext uri="{FF2B5EF4-FFF2-40B4-BE49-F238E27FC236}">
                <a16:creationId xmlns:a16="http://schemas.microsoft.com/office/drawing/2014/main" id="{480EAC32-8770-F1F8-BB4A-4072CA5A4136}"/>
              </a:ext>
            </a:extLst>
          </p:cNvPr>
          <p:cNvSpPr txBox="1"/>
          <p:nvPr/>
        </p:nvSpPr>
        <p:spPr>
          <a:xfrm>
            <a:off x="17127734" y="9791700"/>
            <a:ext cx="855466" cy="245260"/>
          </a:xfrm>
          <a:prstGeom prst="rect">
            <a:avLst/>
          </a:prstGeom>
        </p:spPr>
        <p:txBody>
          <a:bodyPr wrap="square" lIns="0" tIns="0" rIns="0" bIns="0" rtlCol="0" anchor="t">
            <a:spAutoFit/>
          </a:bodyPr>
          <a:lstStyle/>
          <a:p>
            <a:pPr algn="ctr">
              <a:lnSpc>
                <a:spcPts val="1980"/>
              </a:lnSpc>
            </a:pPr>
            <a:r>
              <a:rPr lang="en-US" sz="1650" spc="15" dirty="0">
                <a:solidFill>
                  <a:srgbClr val="0070C0"/>
                </a:solidFill>
                <a:latin typeface="TT Rounds Condensed"/>
                <a:ea typeface="TT Rounds Condensed"/>
                <a:cs typeface="TT Rounds Condensed"/>
                <a:sym typeface="TT Rounds Condensed"/>
              </a:rPr>
              <a:t>28 | </a:t>
            </a:r>
            <a:r>
              <a:rPr lang="en-US" sz="1650" spc="15" dirty="0">
                <a:solidFill>
                  <a:srgbClr val="0070C0"/>
                </a:solidFill>
                <a:latin typeface="Arial Black" panose="020B0A04020102020204" pitchFamily="34" charset="0"/>
                <a:ea typeface="TT Rounds Condensed"/>
                <a:cs typeface="TT Rounds Condensed"/>
                <a:sym typeface="TT Rounds Condensed"/>
              </a:rPr>
              <a:t>33</a:t>
            </a:r>
            <a:endParaRPr lang="en-US" sz="1650" spc="15" dirty="0">
              <a:solidFill>
                <a:srgbClr val="0070C0"/>
              </a:solidFill>
              <a:latin typeface="Arial Black" panose="020B0A04020102020204" pitchFamily="34" charset="0"/>
              <a:ea typeface="TT Rounds Condensed Bold"/>
              <a:cs typeface="TT Rounds Condensed Bold"/>
              <a:sym typeface="TT Rounds Condensed Bo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fr-SN"/>
          </a:p>
        </p:txBody>
      </p:sp>
      <p:sp>
        <p:nvSpPr>
          <p:cNvPr id="3" name="Freeform 3"/>
          <p:cNvSpPr/>
          <p:nvPr/>
        </p:nvSpPr>
        <p:spPr>
          <a:xfrm>
            <a:off x="1348777" y="1773598"/>
            <a:ext cx="3374528" cy="5913164"/>
          </a:xfrm>
          <a:custGeom>
            <a:avLst/>
            <a:gdLst/>
            <a:ahLst/>
            <a:cxnLst/>
            <a:rect l="l" t="t" r="r" b="b"/>
            <a:pathLst>
              <a:path w="3374528" h="5913164">
                <a:moveTo>
                  <a:pt x="0" y="0"/>
                </a:moveTo>
                <a:lnTo>
                  <a:pt x="3374527" y="0"/>
                </a:lnTo>
                <a:lnTo>
                  <a:pt x="3374527" y="5913163"/>
                </a:lnTo>
                <a:lnTo>
                  <a:pt x="0" y="5913163"/>
                </a:lnTo>
                <a:lnTo>
                  <a:pt x="0" y="0"/>
                </a:lnTo>
                <a:close/>
              </a:path>
            </a:pathLst>
          </a:custGeom>
          <a:blipFill>
            <a:blip r:embed="rId3"/>
            <a:stretch>
              <a:fillRect/>
            </a:stretch>
          </a:blipFill>
        </p:spPr>
        <p:txBody>
          <a:bodyPr/>
          <a:lstStyle/>
          <a:p>
            <a:endParaRPr lang="fr-SN"/>
          </a:p>
        </p:txBody>
      </p:sp>
      <p:sp>
        <p:nvSpPr>
          <p:cNvPr id="4" name="Freeform 4"/>
          <p:cNvSpPr/>
          <p:nvPr/>
        </p:nvSpPr>
        <p:spPr>
          <a:xfrm>
            <a:off x="7376433" y="2513271"/>
            <a:ext cx="3535135" cy="6041174"/>
          </a:xfrm>
          <a:custGeom>
            <a:avLst/>
            <a:gdLst/>
            <a:ahLst/>
            <a:cxnLst/>
            <a:rect l="l" t="t" r="r" b="b"/>
            <a:pathLst>
              <a:path w="3535135" h="6041174">
                <a:moveTo>
                  <a:pt x="0" y="0"/>
                </a:moveTo>
                <a:lnTo>
                  <a:pt x="3535134" y="0"/>
                </a:lnTo>
                <a:lnTo>
                  <a:pt x="3535134" y="6041174"/>
                </a:lnTo>
                <a:lnTo>
                  <a:pt x="0" y="6041174"/>
                </a:lnTo>
                <a:lnTo>
                  <a:pt x="0" y="0"/>
                </a:lnTo>
                <a:close/>
              </a:path>
            </a:pathLst>
          </a:custGeom>
          <a:blipFill>
            <a:blip r:embed="rId4"/>
            <a:stretch>
              <a:fillRect/>
            </a:stretch>
          </a:blipFill>
        </p:spPr>
        <p:txBody>
          <a:bodyPr/>
          <a:lstStyle/>
          <a:p>
            <a:endParaRPr lang="fr-SN"/>
          </a:p>
        </p:txBody>
      </p:sp>
      <p:sp>
        <p:nvSpPr>
          <p:cNvPr id="5" name="Freeform 5"/>
          <p:cNvSpPr/>
          <p:nvPr/>
        </p:nvSpPr>
        <p:spPr>
          <a:xfrm>
            <a:off x="13569042" y="3223263"/>
            <a:ext cx="3376178" cy="6035037"/>
          </a:xfrm>
          <a:custGeom>
            <a:avLst/>
            <a:gdLst/>
            <a:ahLst/>
            <a:cxnLst/>
            <a:rect l="l" t="t" r="r" b="b"/>
            <a:pathLst>
              <a:path w="3376178" h="6035037">
                <a:moveTo>
                  <a:pt x="0" y="0"/>
                </a:moveTo>
                <a:lnTo>
                  <a:pt x="3376178" y="0"/>
                </a:lnTo>
                <a:lnTo>
                  <a:pt x="3376178" y="6035037"/>
                </a:lnTo>
                <a:lnTo>
                  <a:pt x="0" y="6035037"/>
                </a:lnTo>
                <a:lnTo>
                  <a:pt x="0" y="0"/>
                </a:lnTo>
                <a:close/>
              </a:path>
            </a:pathLst>
          </a:custGeom>
          <a:blipFill>
            <a:blip r:embed="rId5"/>
            <a:stretch>
              <a:fillRect/>
            </a:stretch>
          </a:blipFill>
        </p:spPr>
        <p:txBody>
          <a:bodyPr/>
          <a:lstStyle/>
          <a:p>
            <a:endParaRPr lang="fr-SN"/>
          </a:p>
        </p:txBody>
      </p:sp>
      <p:sp>
        <p:nvSpPr>
          <p:cNvPr id="7" name="TextBox 7"/>
          <p:cNvSpPr txBox="1"/>
          <p:nvPr/>
        </p:nvSpPr>
        <p:spPr>
          <a:xfrm>
            <a:off x="2852454" y="483052"/>
            <a:ext cx="11823072" cy="769441"/>
          </a:xfrm>
          <a:prstGeom prst="rect">
            <a:avLst/>
          </a:prstGeom>
        </p:spPr>
        <p:txBody>
          <a:bodyPr lIns="0" tIns="0" rIns="0" bIns="0" rtlCol="0" anchor="t">
            <a:spAutoFit/>
          </a:bodyPr>
          <a:lstStyle/>
          <a:p>
            <a:pPr algn="ctr">
              <a:lnSpc>
                <a:spcPts val="6000"/>
              </a:lnSpc>
            </a:pPr>
            <a:r>
              <a:rPr lang="en-US" sz="5400" dirty="0">
                <a:solidFill>
                  <a:srgbClr val="0070C0"/>
                </a:solidFill>
                <a:latin typeface="Arial Black" panose="020B0A04020102020204" pitchFamily="34" charset="0"/>
                <a:ea typeface="Arimo Bold"/>
                <a:cs typeface="Arimo Bold"/>
                <a:sym typeface="Arimo Bold"/>
              </a:rPr>
              <a:t>RÉALISATION</a:t>
            </a:r>
          </a:p>
        </p:txBody>
      </p:sp>
      <p:sp>
        <p:nvSpPr>
          <p:cNvPr id="8" name="TextBox 20">
            <a:extLst>
              <a:ext uri="{FF2B5EF4-FFF2-40B4-BE49-F238E27FC236}">
                <a16:creationId xmlns:a16="http://schemas.microsoft.com/office/drawing/2014/main" id="{1CAE727D-4215-1C81-BC71-B6003E7756B4}"/>
              </a:ext>
            </a:extLst>
          </p:cNvPr>
          <p:cNvSpPr txBox="1"/>
          <p:nvPr/>
        </p:nvSpPr>
        <p:spPr>
          <a:xfrm>
            <a:off x="17127734" y="9791700"/>
            <a:ext cx="855466" cy="245260"/>
          </a:xfrm>
          <a:prstGeom prst="rect">
            <a:avLst/>
          </a:prstGeom>
        </p:spPr>
        <p:txBody>
          <a:bodyPr wrap="square" lIns="0" tIns="0" rIns="0" bIns="0" rtlCol="0" anchor="t">
            <a:spAutoFit/>
          </a:bodyPr>
          <a:lstStyle/>
          <a:p>
            <a:pPr algn="ctr">
              <a:lnSpc>
                <a:spcPts val="1980"/>
              </a:lnSpc>
            </a:pPr>
            <a:r>
              <a:rPr lang="en-US" sz="1650" spc="15" dirty="0">
                <a:solidFill>
                  <a:srgbClr val="0070C0"/>
                </a:solidFill>
                <a:latin typeface="TT Rounds Condensed"/>
                <a:ea typeface="TT Rounds Condensed"/>
                <a:cs typeface="TT Rounds Condensed"/>
                <a:sym typeface="TT Rounds Condensed"/>
              </a:rPr>
              <a:t>29 | </a:t>
            </a:r>
            <a:r>
              <a:rPr lang="en-US" sz="1650" spc="15" dirty="0">
                <a:solidFill>
                  <a:srgbClr val="0070C0"/>
                </a:solidFill>
                <a:latin typeface="Arial Black" panose="020B0A04020102020204" pitchFamily="34" charset="0"/>
                <a:ea typeface="TT Rounds Condensed"/>
                <a:cs typeface="TT Rounds Condensed"/>
                <a:sym typeface="TT Rounds Condensed"/>
              </a:rPr>
              <a:t>33</a:t>
            </a:r>
            <a:endParaRPr lang="en-US" sz="1650" spc="15" dirty="0">
              <a:solidFill>
                <a:srgbClr val="0070C0"/>
              </a:solidFill>
              <a:latin typeface="Arial Black" panose="020B0A04020102020204" pitchFamily="34" charset="0"/>
              <a:ea typeface="TT Rounds Condensed Bold"/>
              <a:cs typeface="TT Rounds Condensed Bold"/>
              <a:sym typeface="TT Rounds Condensed Bo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fr-SN"/>
          </a:p>
        </p:txBody>
      </p:sp>
      <p:sp>
        <p:nvSpPr>
          <p:cNvPr id="3" name="TextBox 3"/>
          <p:cNvSpPr txBox="1"/>
          <p:nvPr/>
        </p:nvSpPr>
        <p:spPr>
          <a:xfrm>
            <a:off x="3506385" y="3692994"/>
            <a:ext cx="11823072" cy="779765"/>
          </a:xfrm>
          <a:prstGeom prst="rect">
            <a:avLst/>
          </a:prstGeom>
        </p:spPr>
        <p:txBody>
          <a:bodyPr lIns="0" tIns="0" rIns="0" bIns="0" rtlCol="0" anchor="t">
            <a:spAutoFit/>
          </a:bodyPr>
          <a:lstStyle/>
          <a:p>
            <a:pPr algn="ctr">
              <a:lnSpc>
                <a:spcPts val="6000"/>
              </a:lnSpc>
            </a:pPr>
            <a:r>
              <a:rPr lang="en-US" sz="6000" dirty="0">
                <a:solidFill>
                  <a:srgbClr val="FFFFFF"/>
                </a:solidFill>
                <a:latin typeface="Arial Black" panose="020B0A04020102020204" pitchFamily="34" charset="0"/>
                <a:ea typeface="Arimo Bold"/>
                <a:cs typeface="Arimo Bold"/>
                <a:sym typeface="Arimo Bold"/>
              </a:rPr>
              <a:t>DÉMONSTRATION</a:t>
            </a:r>
          </a:p>
        </p:txBody>
      </p:sp>
      <p:sp>
        <p:nvSpPr>
          <p:cNvPr id="5" name="TextBox 20">
            <a:extLst>
              <a:ext uri="{FF2B5EF4-FFF2-40B4-BE49-F238E27FC236}">
                <a16:creationId xmlns:a16="http://schemas.microsoft.com/office/drawing/2014/main" id="{FF4F5DAB-E06F-B5C4-4F1E-4109DBC7DC26}"/>
              </a:ext>
            </a:extLst>
          </p:cNvPr>
          <p:cNvSpPr txBox="1"/>
          <p:nvPr/>
        </p:nvSpPr>
        <p:spPr>
          <a:xfrm>
            <a:off x="17127734" y="9791700"/>
            <a:ext cx="855466" cy="245260"/>
          </a:xfrm>
          <a:prstGeom prst="rect">
            <a:avLst/>
          </a:prstGeom>
        </p:spPr>
        <p:txBody>
          <a:bodyPr wrap="square" lIns="0" tIns="0" rIns="0" bIns="0" rtlCol="0" anchor="t">
            <a:spAutoFit/>
          </a:bodyPr>
          <a:lstStyle/>
          <a:p>
            <a:pPr algn="ctr">
              <a:lnSpc>
                <a:spcPts val="1980"/>
              </a:lnSpc>
            </a:pPr>
            <a:r>
              <a:rPr lang="en-US" sz="1650" spc="15" dirty="0">
                <a:solidFill>
                  <a:schemeClr val="bg1"/>
                </a:solidFill>
                <a:latin typeface="TT Rounds Condensed"/>
                <a:ea typeface="TT Rounds Condensed"/>
                <a:cs typeface="TT Rounds Condensed"/>
                <a:sym typeface="TT Rounds Condensed"/>
              </a:rPr>
              <a:t>30 | </a:t>
            </a:r>
            <a:r>
              <a:rPr lang="en-US" sz="1650" spc="15" dirty="0">
                <a:solidFill>
                  <a:schemeClr val="bg1"/>
                </a:solidFill>
                <a:latin typeface="Arial Black" panose="020B0A04020102020204" pitchFamily="34" charset="0"/>
                <a:ea typeface="TT Rounds Condensed"/>
                <a:cs typeface="TT Rounds Condensed"/>
                <a:sym typeface="TT Rounds Condensed"/>
              </a:rPr>
              <a:t>33</a:t>
            </a:r>
            <a:endParaRPr lang="en-US" sz="1650" spc="15" dirty="0">
              <a:solidFill>
                <a:schemeClr val="bg1"/>
              </a:solidFill>
              <a:latin typeface="Arial Black" panose="020B0A04020102020204" pitchFamily="34" charset="0"/>
              <a:ea typeface="TT Rounds Condensed Bold"/>
              <a:cs typeface="TT Rounds Condensed Bold"/>
              <a:sym typeface="TT Rounds Condensed Bo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fr-SN"/>
          </a:p>
        </p:txBody>
      </p:sp>
      <p:sp>
        <p:nvSpPr>
          <p:cNvPr id="3" name="TextBox 3"/>
          <p:cNvSpPr txBox="1"/>
          <p:nvPr/>
        </p:nvSpPr>
        <p:spPr>
          <a:xfrm>
            <a:off x="3506385" y="3692994"/>
            <a:ext cx="11823072" cy="828675"/>
          </a:xfrm>
          <a:prstGeom prst="rect">
            <a:avLst/>
          </a:prstGeom>
        </p:spPr>
        <p:txBody>
          <a:bodyPr lIns="0" tIns="0" rIns="0" bIns="0" rtlCol="0" anchor="t">
            <a:spAutoFit/>
          </a:bodyPr>
          <a:lstStyle/>
          <a:p>
            <a:pPr algn="ctr">
              <a:lnSpc>
                <a:spcPts val="6000"/>
              </a:lnSpc>
            </a:pPr>
            <a:r>
              <a:rPr lang="en-US" sz="6000">
                <a:solidFill>
                  <a:srgbClr val="FFFFFF"/>
                </a:solidFill>
                <a:latin typeface="Arimo Bold"/>
                <a:ea typeface="Arimo Bold"/>
                <a:cs typeface="Arimo Bold"/>
                <a:sym typeface="Arimo Bold"/>
              </a:rPr>
              <a:t>Conclusion </a:t>
            </a:r>
          </a:p>
        </p:txBody>
      </p:sp>
      <p:sp>
        <p:nvSpPr>
          <p:cNvPr id="5" name="TextBox 20">
            <a:extLst>
              <a:ext uri="{FF2B5EF4-FFF2-40B4-BE49-F238E27FC236}">
                <a16:creationId xmlns:a16="http://schemas.microsoft.com/office/drawing/2014/main" id="{1B562A0A-8CB8-27AC-EA6E-3ACB4E3F465D}"/>
              </a:ext>
            </a:extLst>
          </p:cNvPr>
          <p:cNvSpPr txBox="1"/>
          <p:nvPr/>
        </p:nvSpPr>
        <p:spPr>
          <a:xfrm>
            <a:off x="17127734" y="9791700"/>
            <a:ext cx="855466" cy="245260"/>
          </a:xfrm>
          <a:prstGeom prst="rect">
            <a:avLst/>
          </a:prstGeom>
        </p:spPr>
        <p:txBody>
          <a:bodyPr wrap="square" lIns="0" tIns="0" rIns="0" bIns="0" rtlCol="0" anchor="t">
            <a:spAutoFit/>
          </a:bodyPr>
          <a:lstStyle/>
          <a:p>
            <a:pPr algn="ctr">
              <a:lnSpc>
                <a:spcPts val="1980"/>
              </a:lnSpc>
            </a:pPr>
            <a:r>
              <a:rPr lang="en-US" sz="1650" spc="15" dirty="0">
                <a:solidFill>
                  <a:schemeClr val="bg1"/>
                </a:solidFill>
                <a:latin typeface="TT Rounds Condensed"/>
                <a:ea typeface="TT Rounds Condensed"/>
                <a:cs typeface="TT Rounds Condensed"/>
                <a:sym typeface="TT Rounds Condensed"/>
              </a:rPr>
              <a:t>31 | </a:t>
            </a:r>
            <a:r>
              <a:rPr lang="en-US" sz="1650" spc="15" dirty="0">
                <a:solidFill>
                  <a:schemeClr val="bg1"/>
                </a:solidFill>
                <a:latin typeface="Arial Black" panose="020B0A04020102020204" pitchFamily="34" charset="0"/>
                <a:ea typeface="TT Rounds Condensed"/>
                <a:cs typeface="TT Rounds Condensed"/>
                <a:sym typeface="TT Rounds Condensed"/>
              </a:rPr>
              <a:t>33</a:t>
            </a:r>
            <a:endParaRPr lang="en-US" sz="1650" spc="15" dirty="0">
              <a:solidFill>
                <a:schemeClr val="bg1"/>
              </a:solidFill>
              <a:latin typeface="Arial Black" panose="020B0A04020102020204" pitchFamily="34" charset="0"/>
              <a:ea typeface="TT Rounds Condensed Bold"/>
              <a:cs typeface="TT Rounds Condensed Bold"/>
              <a:sym typeface="TT Rounds Condensed Bo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fr-SN"/>
          </a:p>
        </p:txBody>
      </p:sp>
      <p:sp>
        <p:nvSpPr>
          <p:cNvPr id="3" name="TextBox 3"/>
          <p:cNvSpPr txBox="1"/>
          <p:nvPr/>
        </p:nvSpPr>
        <p:spPr>
          <a:xfrm>
            <a:off x="2852454" y="483052"/>
            <a:ext cx="11823072" cy="813435"/>
          </a:xfrm>
          <a:prstGeom prst="rect">
            <a:avLst/>
          </a:prstGeom>
        </p:spPr>
        <p:txBody>
          <a:bodyPr lIns="0" tIns="0" rIns="0" bIns="0" rtlCol="0" anchor="t">
            <a:spAutoFit/>
          </a:bodyPr>
          <a:lstStyle/>
          <a:p>
            <a:pPr algn="ctr">
              <a:lnSpc>
                <a:spcPts val="6000"/>
              </a:lnSpc>
            </a:pPr>
            <a:r>
              <a:rPr lang="en-US" sz="5400">
                <a:solidFill>
                  <a:srgbClr val="0070C0"/>
                </a:solidFill>
                <a:latin typeface="Arimo Bold"/>
                <a:ea typeface="Arimo Bold"/>
                <a:cs typeface="Arimo Bold"/>
                <a:sym typeface="Arimo Bold"/>
              </a:rPr>
              <a:t>Conclusion</a:t>
            </a:r>
          </a:p>
        </p:txBody>
      </p:sp>
      <p:grpSp>
        <p:nvGrpSpPr>
          <p:cNvPr id="5" name="Group 5"/>
          <p:cNvGrpSpPr/>
          <p:nvPr/>
        </p:nvGrpSpPr>
        <p:grpSpPr>
          <a:xfrm>
            <a:off x="1890611" y="2628900"/>
            <a:ext cx="6739441" cy="5242240"/>
            <a:chOff x="0" y="0"/>
            <a:chExt cx="1993944" cy="1550979"/>
          </a:xfrm>
        </p:grpSpPr>
        <p:sp>
          <p:nvSpPr>
            <p:cNvPr id="6" name="Freeform 6"/>
            <p:cNvSpPr/>
            <p:nvPr/>
          </p:nvSpPr>
          <p:spPr>
            <a:xfrm>
              <a:off x="0" y="0"/>
              <a:ext cx="1993944" cy="1550979"/>
            </a:xfrm>
            <a:custGeom>
              <a:avLst/>
              <a:gdLst/>
              <a:ahLst/>
              <a:cxnLst/>
              <a:rect l="l" t="t" r="r" b="b"/>
              <a:pathLst>
                <a:path w="1993944" h="1550979">
                  <a:moveTo>
                    <a:pt x="18380" y="0"/>
                  </a:moveTo>
                  <a:lnTo>
                    <a:pt x="1975564" y="0"/>
                  </a:lnTo>
                  <a:cubicBezTo>
                    <a:pt x="1980438" y="0"/>
                    <a:pt x="1985114" y="1936"/>
                    <a:pt x="1988560" y="5383"/>
                  </a:cubicBezTo>
                  <a:cubicBezTo>
                    <a:pt x="1992007" y="8830"/>
                    <a:pt x="1993944" y="13505"/>
                    <a:pt x="1993944" y="18380"/>
                  </a:cubicBezTo>
                  <a:lnTo>
                    <a:pt x="1993944" y="1532599"/>
                  </a:lnTo>
                  <a:cubicBezTo>
                    <a:pt x="1993944" y="1542750"/>
                    <a:pt x="1985715" y="1550979"/>
                    <a:pt x="1975564" y="1550979"/>
                  </a:cubicBezTo>
                  <a:lnTo>
                    <a:pt x="18380" y="1550979"/>
                  </a:lnTo>
                  <a:cubicBezTo>
                    <a:pt x="8229" y="1550979"/>
                    <a:pt x="0" y="1542750"/>
                    <a:pt x="0" y="1532599"/>
                  </a:cubicBezTo>
                  <a:lnTo>
                    <a:pt x="0" y="18380"/>
                  </a:lnTo>
                  <a:cubicBezTo>
                    <a:pt x="0" y="8229"/>
                    <a:pt x="8229" y="0"/>
                    <a:pt x="18380" y="0"/>
                  </a:cubicBezTo>
                  <a:close/>
                </a:path>
              </a:pathLst>
            </a:custGeom>
            <a:solidFill>
              <a:srgbClr val="1970A7"/>
            </a:solidFill>
            <a:ln cap="sq">
              <a:noFill/>
              <a:prstDash val="solid"/>
              <a:miter/>
            </a:ln>
          </p:spPr>
          <p:txBody>
            <a:bodyPr/>
            <a:lstStyle/>
            <a:p>
              <a:endParaRPr lang="fr-SN"/>
            </a:p>
          </p:txBody>
        </p:sp>
        <p:sp>
          <p:nvSpPr>
            <p:cNvPr id="7" name="TextBox 7"/>
            <p:cNvSpPr txBox="1"/>
            <p:nvPr/>
          </p:nvSpPr>
          <p:spPr>
            <a:xfrm>
              <a:off x="0" y="-38100"/>
              <a:ext cx="1993944" cy="1589079"/>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8" name="Group 8"/>
          <p:cNvGrpSpPr/>
          <p:nvPr/>
        </p:nvGrpSpPr>
        <p:grpSpPr>
          <a:xfrm>
            <a:off x="9525000" y="2628900"/>
            <a:ext cx="6660714" cy="5242240"/>
            <a:chOff x="0" y="0"/>
            <a:chExt cx="1970651" cy="1550979"/>
          </a:xfrm>
        </p:grpSpPr>
        <p:sp>
          <p:nvSpPr>
            <p:cNvPr id="9" name="Freeform 9"/>
            <p:cNvSpPr/>
            <p:nvPr/>
          </p:nvSpPr>
          <p:spPr>
            <a:xfrm>
              <a:off x="0" y="0"/>
              <a:ext cx="1970651" cy="1550979"/>
            </a:xfrm>
            <a:custGeom>
              <a:avLst/>
              <a:gdLst/>
              <a:ahLst/>
              <a:cxnLst/>
              <a:rect l="l" t="t" r="r" b="b"/>
              <a:pathLst>
                <a:path w="1970651" h="1550979">
                  <a:moveTo>
                    <a:pt x="18597" y="0"/>
                  </a:moveTo>
                  <a:lnTo>
                    <a:pt x="1952054" y="0"/>
                  </a:lnTo>
                  <a:cubicBezTo>
                    <a:pt x="1956987" y="0"/>
                    <a:pt x="1961717" y="1959"/>
                    <a:pt x="1965204" y="5447"/>
                  </a:cubicBezTo>
                  <a:cubicBezTo>
                    <a:pt x="1968692" y="8935"/>
                    <a:pt x="1970651" y="13665"/>
                    <a:pt x="1970651" y="18597"/>
                  </a:cubicBezTo>
                  <a:lnTo>
                    <a:pt x="1970651" y="1532382"/>
                  </a:lnTo>
                  <a:cubicBezTo>
                    <a:pt x="1970651" y="1537314"/>
                    <a:pt x="1968692" y="1542044"/>
                    <a:pt x="1965204" y="1545532"/>
                  </a:cubicBezTo>
                  <a:cubicBezTo>
                    <a:pt x="1961717" y="1549020"/>
                    <a:pt x="1956987" y="1550979"/>
                    <a:pt x="1952054" y="1550979"/>
                  </a:cubicBezTo>
                  <a:lnTo>
                    <a:pt x="18597" y="1550979"/>
                  </a:lnTo>
                  <a:cubicBezTo>
                    <a:pt x="13665" y="1550979"/>
                    <a:pt x="8935" y="1549020"/>
                    <a:pt x="5447" y="1545532"/>
                  </a:cubicBezTo>
                  <a:cubicBezTo>
                    <a:pt x="1959" y="1542044"/>
                    <a:pt x="0" y="1537314"/>
                    <a:pt x="0" y="1532382"/>
                  </a:cubicBezTo>
                  <a:lnTo>
                    <a:pt x="0" y="18597"/>
                  </a:lnTo>
                  <a:cubicBezTo>
                    <a:pt x="0" y="13665"/>
                    <a:pt x="1959" y="8935"/>
                    <a:pt x="5447" y="5447"/>
                  </a:cubicBezTo>
                  <a:cubicBezTo>
                    <a:pt x="8935" y="1959"/>
                    <a:pt x="13665" y="0"/>
                    <a:pt x="18597" y="0"/>
                  </a:cubicBezTo>
                  <a:close/>
                </a:path>
              </a:pathLst>
            </a:custGeom>
            <a:solidFill>
              <a:srgbClr val="1970A7"/>
            </a:solidFill>
            <a:ln cap="sq">
              <a:noFill/>
              <a:prstDash val="solid"/>
              <a:miter/>
            </a:ln>
          </p:spPr>
          <p:txBody>
            <a:bodyPr/>
            <a:lstStyle/>
            <a:p>
              <a:endParaRPr lang="fr-SN"/>
            </a:p>
          </p:txBody>
        </p:sp>
        <p:sp>
          <p:nvSpPr>
            <p:cNvPr id="10" name="TextBox 10"/>
            <p:cNvSpPr txBox="1"/>
            <p:nvPr/>
          </p:nvSpPr>
          <p:spPr>
            <a:xfrm>
              <a:off x="0" y="-38100"/>
              <a:ext cx="1970651" cy="1589079"/>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1" name="TextBox 11"/>
          <p:cNvSpPr txBox="1"/>
          <p:nvPr/>
        </p:nvSpPr>
        <p:spPr>
          <a:xfrm>
            <a:off x="4558030" y="3238500"/>
            <a:ext cx="1184787" cy="514350"/>
          </a:xfrm>
          <a:prstGeom prst="rect">
            <a:avLst/>
          </a:prstGeom>
        </p:spPr>
        <p:txBody>
          <a:bodyPr lIns="0" tIns="0" rIns="0" bIns="0" rtlCol="0" anchor="t">
            <a:spAutoFit/>
          </a:bodyPr>
          <a:lstStyle/>
          <a:p>
            <a:pPr algn="l">
              <a:lnSpc>
                <a:spcPts val="4200"/>
              </a:lnSpc>
            </a:pPr>
            <a:r>
              <a:rPr lang="en-US" sz="3000" dirty="0">
                <a:solidFill>
                  <a:srgbClr val="FFFFFF"/>
                </a:solidFill>
                <a:latin typeface="Open Sans Bold"/>
                <a:ea typeface="Open Sans Bold"/>
                <a:cs typeface="Open Sans Bold"/>
                <a:sym typeface="Open Sans Bold"/>
              </a:rPr>
              <a:t>BILAN</a:t>
            </a:r>
          </a:p>
        </p:txBody>
      </p:sp>
      <p:sp>
        <p:nvSpPr>
          <p:cNvPr id="12" name="TextBox 12"/>
          <p:cNvSpPr txBox="1"/>
          <p:nvPr/>
        </p:nvSpPr>
        <p:spPr>
          <a:xfrm>
            <a:off x="11342022" y="3152277"/>
            <a:ext cx="2542508" cy="514350"/>
          </a:xfrm>
          <a:prstGeom prst="rect">
            <a:avLst/>
          </a:prstGeom>
        </p:spPr>
        <p:txBody>
          <a:bodyPr lIns="0" tIns="0" rIns="0" bIns="0" rtlCol="0" anchor="t">
            <a:spAutoFit/>
          </a:bodyPr>
          <a:lstStyle/>
          <a:p>
            <a:pPr algn="l">
              <a:lnSpc>
                <a:spcPts val="4200"/>
              </a:lnSpc>
            </a:pPr>
            <a:r>
              <a:rPr lang="en-US" sz="3000" dirty="0">
                <a:solidFill>
                  <a:srgbClr val="FFFFFF"/>
                </a:solidFill>
                <a:latin typeface="Open Sans Bold"/>
                <a:ea typeface="Open Sans Bold"/>
                <a:cs typeface="Open Sans Bold"/>
                <a:sym typeface="Open Sans Bold"/>
              </a:rPr>
              <a:t>PERSPECTIVE</a:t>
            </a:r>
          </a:p>
        </p:txBody>
      </p:sp>
      <p:sp>
        <p:nvSpPr>
          <p:cNvPr id="13" name="TextBox 13"/>
          <p:cNvSpPr txBox="1"/>
          <p:nvPr/>
        </p:nvSpPr>
        <p:spPr>
          <a:xfrm>
            <a:off x="2393541" y="4268272"/>
            <a:ext cx="5733583" cy="3187155"/>
          </a:xfrm>
          <a:prstGeom prst="rect">
            <a:avLst/>
          </a:prstGeom>
        </p:spPr>
        <p:txBody>
          <a:bodyPr lIns="0" tIns="0" rIns="0" bIns="0" rtlCol="0" anchor="t">
            <a:spAutoFit/>
          </a:bodyPr>
          <a:lstStyle/>
          <a:p>
            <a:pPr marL="457200" indent="-457200" algn="l">
              <a:lnSpc>
                <a:spcPts val="4200"/>
              </a:lnSpc>
              <a:buFont typeface="Times New Roman" panose="02020603050405020304" pitchFamily="18" charset="0"/>
              <a:buChar char="⁃"/>
            </a:pPr>
            <a:r>
              <a:rPr lang="en-US" sz="3000" dirty="0">
                <a:solidFill>
                  <a:srgbClr val="FFFFFF"/>
                </a:solidFill>
                <a:latin typeface="Times New Roman"/>
                <a:ea typeface="Times New Roman"/>
                <a:cs typeface="Times New Roman"/>
                <a:sym typeface="Times New Roman"/>
              </a:rPr>
              <a:t>Authentication </a:t>
            </a:r>
          </a:p>
          <a:p>
            <a:pPr marL="457200" indent="-457200" algn="l">
              <a:lnSpc>
                <a:spcPts val="4200"/>
              </a:lnSpc>
              <a:buFont typeface="Times New Roman" panose="02020603050405020304" pitchFamily="18" charset="0"/>
              <a:buChar char="⁃"/>
            </a:pPr>
            <a:r>
              <a:rPr lang="en-US" sz="3000" dirty="0">
                <a:solidFill>
                  <a:srgbClr val="FFFFFF"/>
                </a:solidFill>
                <a:latin typeface="Times New Roman"/>
                <a:ea typeface="Times New Roman"/>
                <a:cs typeface="Times New Roman"/>
                <a:sym typeface="Times New Roman"/>
              </a:rPr>
              <a:t>Creation de </a:t>
            </a:r>
            <a:r>
              <a:rPr lang="en-US" sz="3000" dirty="0" err="1">
                <a:solidFill>
                  <a:srgbClr val="FFFFFF"/>
                </a:solidFill>
                <a:latin typeface="Times New Roman"/>
                <a:ea typeface="Times New Roman"/>
                <a:cs typeface="Times New Roman"/>
                <a:sym typeface="Times New Roman"/>
              </a:rPr>
              <a:t>compte</a:t>
            </a:r>
            <a:endParaRPr lang="en-US" sz="3000" dirty="0">
              <a:solidFill>
                <a:srgbClr val="FFFFFF"/>
              </a:solidFill>
              <a:latin typeface="Times New Roman"/>
              <a:ea typeface="Times New Roman"/>
              <a:cs typeface="Times New Roman"/>
              <a:sym typeface="Times New Roman"/>
            </a:endParaRPr>
          </a:p>
          <a:p>
            <a:pPr marL="457200" indent="-457200" algn="l">
              <a:lnSpc>
                <a:spcPts val="4200"/>
              </a:lnSpc>
              <a:buFont typeface="Times New Roman" panose="02020603050405020304" pitchFamily="18" charset="0"/>
              <a:buChar char="⁃"/>
            </a:pPr>
            <a:r>
              <a:rPr lang="en-US" sz="3000" dirty="0" err="1">
                <a:solidFill>
                  <a:srgbClr val="FFFFFF"/>
                </a:solidFill>
                <a:latin typeface="Times New Roman"/>
                <a:ea typeface="Times New Roman"/>
                <a:cs typeface="Times New Roman"/>
                <a:sym typeface="Times New Roman"/>
              </a:rPr>
              <a:t>Ajout</a:t>
            </a:r>
            <a:r>
              <a:rPr lang="en-US" sz="3000" dirty="0">
                <a:solidFill>
                  <a:srgbClr val="FFFFFF"/>
                </a:solidFill>
                <a:latin typeface="Times New Roman"/>
                <a:ea typeface="Times New Roman"/>
                <a:cs typeface="Times New Roman"/>
                <a:sym typeface="Times New Roman"/>
              </a:rPr>
              <a:t> Alert</a:t>
            </a:r>
          </a:p>
          <a:p>
            <a:pPr marL="457200" indent="-457200" algn="l">
              <a:lnSpc>
                <a:spcPts val="4200"/>
              </a:lnSpc>
              <a:buFont typeface="Times New Roman" panose="02020603050405020304" pitchFamily="18" charset="0"/>
              <a:buChar char="⁃"/>
            </a:pPr>
            <a:r>
              <a:rPr lang="en-US" sz="3000" dirty="0" err="1">
                <a:solidFill>
                  <a:srgbClr val="FFFFFF"/>
                </a:solidFill>
                <a:latin typeface="Times New Roman"/>
                <a:ea typeface="Times New Roman"/>
                <a:cs typeface="Times New Roman"/>
                <a:sym typeface="Times New Roman"/>
              </a:rPr>
              <a:t>Cartographie</a:t>
            </a:r>
            <a:endParaRPr lang="en-US" sz="3000" dirty="0">
              <a:solidFill>
                <a:srgbClr val="FFFFFF"/>
              </a:solidFill>
              <a:latin typeface="Times New Roman"/>
              <a:ea typeface="Times New Roman"/>
              <a:cs typeface="Times New Roman"/>
              <a:sym typeface="Times New Roman"/>
            </a:endParaRPr>
          </a:p>
          <a:p>
            <a:pPr marL="457200" indent="-457200" algn="l">
              <a:lnSpc>
                <a:spcPts val="4200"/>
              </a:lnSpc>
              <a:buFont typeface="Times New Roman" panose="02020603050405020304" pitchFamily="18" charset="0"/>
              <a:buChar char="⁃"/>
            </a:pPr>
            <a:r>
              <a:rPr lang="en-US" sz="3000" dirty="0" err="1">
                <a:solidFill>
                  <a:srgbClr val="FFFFFF"/>
                </a:solidFill>
                <a:latin typeface="Times New Roman"/>
                <a:ea typeface="Times New Roman"/>
                <a:cs typeface="Times New Roman"/>
                <a:sym typeface="Times New Roman"/>
              </a:rPr>
              <a:t>Ajout</a:t>
            </a:r>
            <a:r>
              <a:rPr lang="en-US" sz="3000" dirty="0">
                <a:solidFill>
                  <a:srgbClr val="FFFFFF"/>
                </a:solidFill>
                <a:latin typeface="Times New Roman"/>
                <a:ea typeface="Times New Roman"/>
                <a:cs typeface="Times New Roman"/>
                <a:sym typeface="Times New Roman"/>
              </a:rPr>
              <a:t> </a:t>
            </a:r>
            <a:r>
              <a:rPr lang="en-US" sz="3000" dirty="0" err="1">
                <a:solidFill>
                  <a:srgbClr val="FFFFFF"/>
                </a:solidFill>
                <a:latin typeface="Times New Roman"/>
                <a:ea typeface="Times New Roman"/>
                <a:cs typeface="Times New Roman"/>
                <a:sym typeface="Times New Roman"/>
              </a:rPr>
              <a:t>dépôtoir</a:t>
            </a:r>
            <a:r>
              <a:rPr lang="en-US" sz="3000" dirty="0">
                <a:solidFill>
                  <a:srgbClr val="FFFFFF"/>
                </a:solidFill>
                <a:latin typeface="Times New Roman"/>
                <a:ea typeface="Times New Roman"/>
                <a:cs typeface="Times New Roman"/>
                <a:sym typeface="Times New Roman"/>
              </a:rPr>
              <a:t> …</a:t>
            </a:r>
          </a:p>
          <a:p>
            <a:pPr marL="457200" indent="-457200" algn="l">
              <a:lnSpc>
                <a:spcPts val="4200"/>
              </a:lnSpc>
              <a:buFontTx/>
              <a:buChar char="-"/>
            </a:pPr>
            <a:endParaRPr lang="en-US" sz="3000" dirty="0">
              <a:solidFill>
                <a:srgbClr val="FFFFFF"/>
              </a:solidFill>
              <a:latin typeface="Times New Roman"/>
              <a:ea typeface="Times New Roman"/>
              <a:cs typeface="Times New Roman"/>
              <a:sym typeface="Times New Roman"/>
            </a:endParaRPr>
          </a:p>
        </p:txBody>
      </p:sp>
      <p:sp>
        <p:nvSpPr>
          <p:cNvPr id="14" name="TextBox 13">
            <a:extLst>
              <a:ext uri="{FF2B5EF4-FFF2-40B4-BE49-F238E27FC236}">
                <a16:creationId xmlns:a16="http://schemas.microsoft.com/office/drawing/2014/main" id="{12E821E4-385F-1DCE-76CB-E57415A369C4}"/>
              </a:ext>
            </a:extLst>
          </p:cNvPr>
          <p:cNvSpPr txBox="1"/>
          <p:nvPr/>
        </p:nvSpPr>
        <p:spPr>
          <a:xfrm>
            <a:off x="10058400" y="4171354"/>
            <a:ext cx="5733583" cy="3187155"/>
          </a:xfrm>
          <a:prstGeom prst="rect">
            <a:avLst/>
          </a:prstGeom>
        </p:spPr>
        <p:txBody>
          <a:bodyPr lIns="0" tIns="0" rIns="0" bIns="0" rtlCol="0" anchor="t">
            <a:spAutoFit/>
          </a:bodyPr>
          <a:lstStyle/>
          <a:p>
            <a:pPr marL="457200" indent="-457200" algn="l">
              <a:lnSpc>
                <a:spcPts val="4200"/>
              </a:lnSpc>
              <a:buFont typeface="Times New Roman" panose="02020603050405020304" pitchFamily="18" charset="0"/>
              <a:buChar char="⁃"/>
            </a:pPr>
            <a:r>
              <a:rPr lang="en-US" sz="3000" dirty="0" err="1">
                <a:solidFill>
                  <a:srgbClr val="FFFFFF"/>
                </a:solidFill>
                <a:latin typeface="Times New Roman"/>
                <a:cs typeface="Times New Roman"/>
                <a:sym typeface="Times New Roman"/>
              </a:rPr>
              <a:t>Finaliser</a:t>
            </a:r>
            <a:r>
              <a:rPr lang="en-US" sz="3000" dirty="0">
                <a:solidFill>
                  <a:srgbClr val="FFFFFF"/>
                </a:solidFill>
                <a:latin typeface="Times New Roman"/>
                <a:ea typeface="Times New Roman"/>
                <a:cs typeface="Times New Roman"/>
                <a:sym typeface="Times New Roman"/>
              </a:rPr>
              <a:t> la version 1 de </a:t>
            </a:r>
            <a:r>
              <a:rPr lang="en-US" sz="3000" dirty="0" err="1">
                <a:solidFill>
                  <a:srgbClr val="FFFFFF"/>
                </a:solidFill>
                <a:latin typeface="Times New Roman"/>
                <a:ea typeface="Times New Roman"/>
                <a:cs typeface="Times New Roman"/>
                <a:sym typeface="Times New Roman"/>
              </a:rPr>
              <a:t>l’application</a:t>
            </a:r>
            <a:endParaRPr lang="en-US" sz="3000" dirty="0">
              <a:solidFill>
                <a:srgbClr val="FFFFFF"/>
              </a:solidFill>
              <a:latin typeface="Times New Roman"/>
              <a:ea typeface="Times New Roman"/>
              <a:cs typeface="Times New Roman"/>
              <a:sym typeface="Times New Roman"/>
            </a:endParaRPr>
          </a:p>
          <a:p>
            <a:pPr marL="457200" indent="-457200" algn="l">
              <a:lnSpc>
                <a:spcPts val="4200"/>
              </a:lnSpc>
              <a:buFont typeface="Times New Roman" panose="02020603050405020304" pitchFamily="18" charset="0"/>
              <a:buChar char="⁃"/>
            </a:pPr>
            <a:r>
              <a:rPr lang="en-US" sz="3000" dirty="0" err="1">
                <a:solidFill>
                  <a:srgbClr val="FFFFFF"/>
                </a:solidFill>
                <a:latin typeface="Times New Roman"/>
                <a:ea typeface="Times New Roman"/>
                <a:cs typeface="Times New Roman"/>
                <a:sym typeface="Times New Roman"/>
              </a:rPr>
              <a:t>Intégrer</a:t>
            </a:r>
            <a:r>
              <a:rPr lang="en-US" sz="3000" dirty="0">
                <a:solidFill>
                  <a:srgbClr val="FFFFFF"/>
                </a:solidFill>
                <a:latin typeface="Times New Roman"/>
                <a:ea typeface="Times New Roman"/>
                <a:cs typeface="Times New Roman"/>
                <a:sym typeface="Times New Roman"/>
              </a:rPr>
              <a:t> la </a:t>
            </a:r>
            <a:r>
              <a:rPr lang="en-US" sz="3000" dirty="0" err="1">
                <a:solidFill>
                  <a:srgbClr val="FFFFFF"/>
                </a:solidFill>
                <a:latin typeface="Times New Roman"/>
                <a:ea typeface="Times New Roman"/>
                <a:cs typeface="Times New Roman"/>
                <a:sym typeface="Times New Roman"/>
              </a:rPr>
              <a:t>partie</a:t>
            </a:r>
            <a:r>
              <a:rPr lang="en-US" sz="3000" dirty="0">
                <a:solidFill>
                  <a:srgbClr val="FFFFFF"/>
                </a:solidFill>
                <a:latin typeface="Times New Roman"/>
                <a:ea typeface="Times New Roman"/>
                <a:cs typeface="Times New Roman"/>
                <a:sym typeface="Times New Roman"/>
              </a:rPr>
              <a:t> </a:t>
            </a:r>
            <a:r>
              <a:rPr lang="en-US" sz="3000" dirty="0" err="1">
                <a:solidFill>
                  <a:srgbClr val="FFFFFF"/>
                </a:solidFill>
                <a:latin typeface="Times New Roman"/>
                <a:ea typeface="Times New Roman"/>
                <a:cs typeface="Times New Roman"/>
                <a:sym typeface="Times New Roman"/>
              </a:rPr>
              <a:t>IdO</a:t>
            </a:r>
            <a:endParaRPr lang="en-US" sz="3000" dirty="0">
              <a:solidFill>
                <a:srgbClr val="FFFFFF"/>
              </a:solidFill>
              <a:latin typeface="Times New Roman"/>
              <a:ea typeface="Times New Roman"/>
              <a:cs typeface="Times New Roman"/>
              <a:sym typeface="Times New Roman"/>
            </a:endParaRPr>
          </a:p>
          <a:p>
            <a:pPr marL="457200" indent="-457200" algn="l">
              <a:lnSpc>
                <a:spcPts val="4200"/>
              </a:lnSpc>
              <a:buFont typeface="Times New Roman" panose="02020603050405020304" pitchFamily="18" charset="0"/>
              <a:buChar char="⁃"/>
            </a:pPr>
            <a:r>
              <a:rPr lang="en-US" sz="3000" dirty="0" err="1">
                <a:solidFill>
                  <a:srgbClr val="FFFFFF"/>
                </a:solidFill>
                <a:latin typeface="Times New Roman"/>
                <a:ea typeface="Times New Roman"/>
                <a:cs typeface="Times New Roman"/>
                <a:sym typeface="Times New Roman"/>
              </a:rPr>
              <a:t>Finaler</a:t>
            </a:r>
            <a:r>
              <a:rPr lang="en-US" sz="3000" dirty="0">
                <a:solidFill>
                  <a:srgbClr val="FFFFFF"/>
                </a:solidFill>
                <a:latin typeface="Times New Roman"/>
                <a:ea typeface="Times New Roman"/>
                <a:cs typeface="Times New Roman"/>
                <a:sym typeface="Times New Roman"/>
              </a:rPr>
              <a:t> le </a:t>
            </a:r>
            <a:r>
              <a:rPr lang="en-US" sz="3000" dirty="0" err="1">
                <a:solidFill>
                  <a:srgbClr val="FFFFFF"/>
                </a:solidFill>
                <a:latin typeface="Times New Roman"/>
                <a:ea typeface="Times New Roman"/>
                <a:cs typeface="Times New Roman"/>
                <a:sym typeface="Times New Roman"/>
              </a:rPr>
              <a:t>prototypage</a:t>
            </a:r>
            <a:r>
              <a:rPr lang="en-US" sz="3000" dirty="0">
                <a:solidFill>
                  <a:srgbClr val="FFFFFF"/>
                </a:solidFill>
                <a:latin typeface="Times New Roman"/>
                <a:ea typeface="Times New Roman"/>
                <a:cs typeface="Times New Roman"/>
                <a:sym typeface="Times New Roman"/>
              </a:rPr>
              <a:t> d’un </a:t>
            </a:r>
            <a:r>
              <a:rPr lang="en-US" sz="3000" dirty="0" err="1">
                <a:solidFill>
                  <a:srgbClr val="FFFFFF"/>
                </a:solidFill>
                <a:latin typeface="Times New Roman"/>
                <a:ea typeface="Times New Roman"/>
                <a:cs typeface="Times New Roman"/>
                <a:sym typeface="Times New Roman"/>
              </a:rPr>
              <a:t>poubelle</a:t>
            </a:r>
            <a:r>
              <a:rPr lang="en-US" sz="3000" dirty="0">
                <a:solidFill>
                  <a:srgbClr val="FFFFFF"/>
                </a:solidFill>
                <a:latin typeface="Times New Roman"/>
                <a:ea typeface="Times New Roman"/>
                <a:cs typeface="Times New Roman"/>
                <a:sym typeface="Times New Roman"/>
              </a:rPr>
              <a:t> </a:t>
            </a:r>
            <a:r>
              <a:rPr lang="en-US" sz="3000" dirty="0" err="1">
                <a:solidFill>
                  <a:srgbClr val="FFFFFF"/>
                </a:solidFill>
                <a:latin typeface="Times New Roman"/>
                <a:ea typeface="Times New Roman"/>
                <a:cs typeface="Times New Roman"/>
                <a:sym typeface="Times New Roman"/>
              </a:rPr>
              <a:t>intelligente</a:t>
            </a:r>
            <a:endParaRPr lang="en-US" sz="3000" dirty="0">
              <a:solidFill>
                <a:srgbClr val="FFFFFF"/>
              </a:solidFill>
              <a:latin typeface="Times New Roman"/>
              <a:ea typeface="Times New Roman"/>
              <a:cs typeface="Times New Roman"/>
              <a:sym typeface="Times New Roman"/>
            </a:endParaRPr>
          </a:p>
          <a:p>
            <a:pPr marL="457200" indent="-457200" algn="l">
              <a:lnSpc>
                <a:spcPts val="4200"/>
              </a:lnSpc>
              <a:buFont typeface="Times New Roman" panose="02020603050405020304" pitchFamily="18" charset="0"/>
              <a:buChar char="⁃"/>
            </a:pPr>
            <a:r>
              <a:rPr lang="en-US" sz="3000" dirty="0" err="1">
                <a:solidFill>
                  <a:srgbClr val="FFFFFF"/>
                </a:solidFill>
                <a:latin typeface="Times New Roman"/>
                <a:ea typeface="Times New Roman"/>
                <a:cs typeface="Times New Roman"/>
                <a:sym typeface="Times New Roman"/>
              </a:rPr>
              <a:t>Ajouter</a:t>
            </a:r>
            <a:r>
              <a:rPr lang="en-US" sz="3000" dirty="0">
                <a:solidFill>
                  <a:srgbClr val="FFFFFF"/>
                </a:solidFill>
                <a:latin typeface="Times New Roman"/>
                <a:ea typeface="Times New Roman"/>
                <a:cs typeface="Times New Roman"/>
                <a:sym typeface="Times New Roman"/>
              </a:rPr>
              <a:t> </a:t>
            </a:r>
            <a:r>
              <a:rPr lang="en-US" sz="3000" dirty="0" err="1">
                <a:solidFill>
                  <a:srgbClr val="FFFFFF"/>
                </a:solidFill>
                <a:latin typeface="Times New Roman"/>
                <a:ea typeface="Times New Roman"/>
                <a:cs typeface="Times New Roman"/>
                <a:sym typeface="Times New Roman"/>
              </a:rPr>
              <a:t>keycloack</a:t>
            </a:r>
            <a:r>
              <a:rPr lang="en-US" sz="3000" dirty="0">
                <a:solidFill>
                  <a:srgbClr val="FFFFFF"/>
                </a:solidFill>
                <a:latin typeface="Times New Roman"/>
                <a:ea typeface="Times New Roman"/>
                <a:cs typeface="Times New Roman"/>
                <a:sym typeface="Times New Roman"/>
              </a:rPr>
              <a:t> </a:t>
            </a:r>
          </a:p>
        </p:txBody>
      </p:sp>
      <p:sp>
        <p:nvSpPr>
          <p:cNvPr id="15" name="TextBox 20">
            <a:extLst>
              <a:ext uri="{FF2B5EF4-FFF2-40B4-BE49-F238E27FC236}">
                <a16:creationId xmlns:a16="http://schemas.microsoft.com/office/drawing/2014/main" id="{1B1D1314-F7C6-7629-B406-19960BE7E79B}"/>
              </a:ext>
            </a:extLst>
          </p:cNvPr>
          <p:cNvSpPr txBox="1"/>
          <p:nvPr/>
        </p:nvSpPr>
        <p:spPr>
          <a:xfrm>
            <a:off x="17127734" y="9791700"/>
            <a:ext cx="855466" cy="245260"/>
          </a:xfrm>
          <a:prstGeom prst="rect">
            <a:avLst/>
          </a:prstGeom>
        </p:spPr>
        <p:txBody>
          <a:bodyPr wrap="square" lIns="0" tIns="0" rIns="0" bIns="0" rtlCol="0" anchor="t">
            <a:spAutoFit/>
          </a:bodyPr>
          <a:lstStyle/>
          <a:p>
            <a:pPr algn="ctr">
              <a:lnSpc>
                <a:spcPts val="1980"/>
              </a:lnSpc>
            </a:pPr>
            <a:r>
              <a:rPr lang="en-US" sz="1650" spc="15" dirty="0">
                <a:solidFill>
                  <a:srgbClr val="0070C0"/>
                </a:solidFill>
                <a:latin typeface="TT Rounds Condensed"/>
                <a:ea typeface="TT Rounds Condensed"/>
                <a:cs typeface="TT Rounds Condensed"/>
                <a:sym typeface="TT Rounds Condensed"/>
              </a:rPr>
              <a:t>32 | </a:t>
            </a:r>
            <a:r>
              <a:rPr lang="en-US" sz="1650" spc="15" dirty="0">
                <a:solidFill>
                  <a:srgbClr val="0070C0"/>
                </a:solidFill>
                <a:latin typeface="Arial Black" panose="020B0A04020102020204" pitchFamily="34" charset="0"/>
                <a:ea typeface="TT Rounds Condensed"/>
                <a:cs typeface="TT Rounds Condensed"/>
                <a:sym typeface="TT Rounds Condensed"/>
              </a:rPr>
              <a:t>33</a:t>
            </a:r>
            <a:endParaRPr lang="en-US" sz="1650" spc="15" dirty="0">
              <a:solidFill>
                <a:srgbClr val="0070C0"/>
              </a:solidFill>
              <a:latin typeface="Arial Black" panose="020B0A04020102020204" pitchFamily="34" charset="0"/>
              <a:ea typeface="TT Rounds Condensed Bold"/>
              <a:cs typeface="TT Rounds Condensed Bold"/>
              <a:sym typeface="TT Rounds Condensed Bo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fr-SN"/>
          </a:p>
        </p:txBody>
      </p:sp>
      <p:sp>
        <p:nvSpPr>
          <p:cNvPr id="3" name="TextBox 3"/>
          <p:cNvSpPr txBox="1"/>
          <p:nvPr/>
        </p:nvSpPr>
        <p:spPr>
          <a:xfrm>
            <a:off x="9035292" y="4290078"/>
            <a:ext cx="6313170" cy="2087910"/>
          </a:xfrm>
          <a:prstGeom prst="rect">
            <a:avLst/>
          </a:prstGeom>
        </p:spPr>
        <p:txBody>
          <a:bodyPr lIns="0" tIns="0" rIns="0" bIns="0" rtlCol="0" anchor="t">
            <a:spAutoFit/>
          </a:bodyPr>
          <a:lstStyle/>
          <a:p>
            <a:pPr algn="l">
              <a:lnSpc>
                <a:spcPts val="15840"/>
              </a:lnSpc>
            </a:pPr>
            <a:r>
              <a:rPr lang="en-US" sz="13200" spc="-326" dirty="0">
                <a:solidFill>
                  <a:srgbClr val="FFFFFF"/>
                </a:solidFill>
                <a:latin typeface="TT Rounds Condensed"/>
                <a:ea typeface="TT Rounds Condensed"/>
                <a:cs typeface="TT Rounds Condensed"/>
                <a:sym typeface="TT Rounds Condensed"/>
              </a:rPr>
              <a:t>MERCI</a:t>
            </a:r>
          </a:p>
        </p:txBody>
      </p:sp>
      <p:sp>
        <p:nvSpPr>
          <p:cNvPr id="4" name="Freeform 4"/>
          <p:cNvSpPr/>
          <p:nvPr/>
        </p:nvSpPr>
        <p:spPr>
          <a:xfrm>
            <a:off x="15781736" y="1483993"/>
            <a:ext cx="1202271" cy="2446824"/>
          </a:xfrm>
          <a:custGeom>
            <a:avLst/>
            <a:gdLst/>
            <a:ahLst/>
            <a:cxnLst/>
            <a:rect l="l" t="t" r="r" b="b"/>
            <a:pathLst>
              <a:path w="1202271" h="2446824">
                <a:moveTo>
                  <a:pt x="0" y="0"/>
                </a:moveTo>
                <a:lnTo>
                  <a:pt x="1202270" y="0"/>
                </a:lnTo>
                <a:lnTo>
                  <a:pt x="1202270" y="2446824"/>
                </a:lnTo>
                <a:lnTo>
                  <a:pt x="0" y="244682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fr-S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CA15E12C9654546B120E917877BDE54" ma:contentTypeVersion="15" ma:contentTypeDescription="Create a new document." ma:contentTypeScope="" ma:versionID="9acdcb45c913a0a66865a8d85fc7a606">
  <xsd:schema xmlns:xsd="http://www.w3.org/2001/XMLSchema" xmlns:xs="http://www.w3.org/2001/XMLSchema" xmlns:p="http://schemas.microsoft.com/office/2006/metadata/properties" xmlns:ns3="2a4b2cef-b424-4c6b-86d7-b2f983816789" xmlns:ns4="17f1ae22-86f4-4de6-ab86-07a8a5399a17" targetNamespace="http://schemas.microsoft.com/office/2006/metadata/properties" ma:root="true" ma:fieldsID="6f7ea622cc467647d5dc3dcb253c7098" ns3:_="" ns4:_="">
    <xsd:import namespace="2a4b2cef-b424-4c6b-86d7-b2f983816789"/>
    <xsd:import namespace="17f1ae22-86f4-4de6-ab86-07a8a5399a17"/>
    <xsd:element name="properties">
      <xsd:complexType>
        <xsd:sequence>
          <xsd:element name="documentManagement">
            <xsd:complexType>
              <xsd:all>
                <xsd:element ref="ns3:MediaServiceMetadata" minOccurs="0"/>
                <xsd:element ref="ns3:MediaServiceFastMetadata" minOccurs="0"/>
                <xsd:element ref="ns3:_activity" minOccurs="0"/>
                <xsd:element ref="ns4:SharedWithUsers" minOccurs="0"/>
                <xsd:element ref="ns4:SharedWithDetails" minOccurs="0"/>
                <xsd:element ref="ns4:SharingHintHash" minOccurs="0"/>
                <xsd:element ref="ns3:MediaServiceObjectDetectorVersions" minOccurs="0"/>
                <xsd:element ref="ns3:MediaServiceAutoTags" minOccurs="0"/>
                <xsd:element ref="ns3:MediaServiceGenerationTime" minOccurs="0"/>
                <xsd:element ref="ns3:MediaServiceEventHashCode" minOccurs="0"/>
                <xsd:element ref="ns3:MediaServiceOCR" minOccurs="0"/>
                <xsd:element ref="ns3:MediaServiceSystemTags" minOccurs="0"/>
                <xsd:element ref="ns3:MediaServiceDateTaken" minOccurs="0"/>
                <xsd:element ref="ns3:MediaServiceSearchPropertie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a4b2cef-b424-4c6b-86d7-b2f9838167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0" nillable="true" ma:displayName="_activity" ma:hidden="true" ma:internalName="_activity">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SystemTags" ma:index="19" nillable="true" ma:displayName="MediaServiceSystemTags" ma:hidden="true" ma:internalName="MediaServiceSystemTag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17f1ae22-86f4-4de6-ab86-07a8a5399a17"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SharingHintHash" ma:index="13"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2a4b2cef-b424-4c6b-86d7-b2f983816789" xsi:nil="true"/>
  </documentManagement>
</p:properties>
</file>

<file path=customXml/itemProps1.xml><?xml version="1.0" encoding="utf-8"?>
<ds:datastoreItem xmlns:ds="http://schemas.openxmlformats.org/officeDocument/2006/customXml" ds:itemID="{81C29632-7DA2-424F-8205-F1DC7B4427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a4b2cef-b424-4c6b-86d7-b2f983816789"/>
    <ds:schemaRef ds:uri="17f1ae22-86f4-4de6-ab86-07a8a5399a1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67C32B9-DF69-4DF1-A90B-E07E43F6B907}">
  <ds:schemaRefs>
    <ds:schemaRef ds:uri="http://schemas.microsoft.com/sharepoint/v3/contenttype/forms"/>
  </ds:schemaRefs>
</ds:datastoreItem>
</file>

<file path=customXml/itemProps3.xml><?xml version="1.0" encoding="utf-8"?>
<ds:datastoreItem xmlns:ds="http://schemas.openxmlformats.org/officeDocument/2006/customXml" ds:itemID="{9B102DB1-A820-41B0-AB7D-598B9865913E}">
  <ds:schemaRefs>
    <ds:schemaRef ds:uri="2a4b2cef-b424-4c6b-86d7-b2f983816789"/>
    <ds:schemaRef ds:uri="17f1ae22-86f4-4de6-ab86-07a8a5399a17"/>
    <ds:schemaRef ds:uri="http://purl.org/dc/elements/1.1/"/>
    <ds:schemaRef ds:uri="http://purl.org/dc/dcmitype/"/>
    <ds:schemaRef ds:uri="http://schemas.microsoft.com/office/2006/documentManagement/types"/>
    <ds:schemaRef ds:uri="http://schemas.microsoft.com/office/2006/metadata/properties"/>
    <ds:schemaRef ds:uri="http://purl.org/dc/term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2874</TotalTime>
  <Words>864</Words>
  <Application>Microsoft Office PowerPoint</Application>
  <PresentationFormat>Personnalisé</PresentationFormat>
  <Paragraphs>164</Paragraphs>
  <Slides>33</Slides>
  <Notes>3</Notes>
  <HiddenSlides>0</HiddenSlides>
  <MMClips>0</MMClips>
  <ScaleCrop>false</ScaleCrop>
  <HeadingPairs>
    <vt:vector size="6" baseType="variant">
      <vt:variant>
        <vt:lpstr>Polices utilisées</vt:lpstr>
      </vt:variant>
      <vt:variant>
        <vt:i4>15</vt:i4>
      </vt:variant>
      <vt:variant>
        <vt:lpstr>Thème</vt:lpstr>
      </vt:variant>
      <vt:variant>
        <vt:i4>1</vt:i4>
      </vt:variant>
      <vt:variant>
        <vt:lpstr>Titres des diapositives</vt:lpstr>
      </vt:variant>
      <vt:variant>
        <vt:i4>33</vt:i4>
      </vt:variant>
    </vt:vector>
  </HeadingPairs>
  <TitlesOfParts>
    <vt:vector size="49" baseType="lpstr">
      <vt:lpstr>TT Rounds Condensed Bold</vt:lpstr>
      <vt:lpstr>Aileron Ultra-Bold</vt:lpstr>
      <vt:lpstr>Arimo</vt:lpstr>
      <vt:lpstr>Aileron Heavy</vt:lpstr>
      <vt:lpstr>Courier New</vt:lpstr>
      <vt:lpstr>Open Sans Bold</vt:lpstr>
      <vt:lpstr>Aileron</vt:lpstr>
      <vt:lpstr>Wingdings</vt:lpstr>
      <vt:lpstr>Arial Black</vt:lpstr>
      <vt:lpstr>Arial</vt:lpstr>
      <vt:lpstr>Arimo Bold</vt:lpstr>
      <vt:lpstr>TT Rounds Condensed</vt:lpstr>
      <vt:lpstr>Calibri</vt:lpstr>
      <vt:lpstr>Times New Roman</vt:lpstr>
      <vt:lpstr>Arial </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Presentation-memoire-master</dc:title>
  <dc:creator>Lenovo</dc:creator>
  <cp:lastModifiedBy>Abdou Aziz KANE</cp:lastModifiedBy>
  <cp:revision>11</cp:revision>
  <dcterms:created xsi:type="dcterms:W3CDTF">2006-08-16T00:00:00Z</dcterms:created>
  <dcterms:modified xsi:type="dcterms:W3CDTF">2024-07-26T02:56:02Z</dcterms:modified>
  <dc:identifier>DAGIs4HYURs</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463cba9-5f6c-478d-9329-7b2295e4e8ed_Enabled">
    <vt:lpwstr>true</vt:lpwstr>
  </property>
  <property fmtid="{D5CDD505-2E9C-101B-9397-08002B2CF9AE}" pid="3" name="MSIP_Label_e463cba9-5f6c-478d-9329-7b2295e4e8ed_SetDate">
    <vt:lpwstr>2024-07-24T12:50:06Z</vt:lpwstr>
  </property>
  <property fmtid="{D5CDD505-2E9C-101B-9397-08002B2CF9AE}" pid="4" name="MSIP_Label_e463cba9-5f6c-478d-9329-7b2295e4e8ed_Method">
    <vt:lpwstr>Standard</vt:lpwstr>
  </property>
  <property fmtid="{D5CDD505-2E9C-101B-9397-08002B2CF9AE}" pid="5" name="MSIP_Label_e463cba9-5f6c-478d-9329-7b2295e4e8ed_Name">
    <vt:lpwstr>All Employees_2</vt:lpwstr>
  </property>
  <property fmtid="{D5CDD505-2E9C-101B-9397-08002B2CF9AE}" pid="6" name="MSIP_Label_e463cba9-5f6c-478d-9329-7b2295e4e8ed_SiteId">
    <vt:lpwstr>33440fc6-b7c7-412c-bb73-0e70b0198d5a</vt:lpwstr>
  </property>
  <property fmtid="{D5CDD505-2E9C-101B-9397-08002B2CF9AE}" pid="7" name="MSIP_Label_e463cba9-5f6c-478d-9329-7b2295e4e8ed_ActionId">
    <vt:lpwstr>5634435c-6deb-4184-93da-2ada19d260fd</vt:lpwstr>
  </property>
  <property fmtid="{D5CDD505-2E9C-101B-9397-08002B2CF9AE}" pid="8" name="MSIP_Label_e463cba9-5f6c-478d-9329-7b2295e4e8ed_ContentBits">
    <vt:lpwstr>0</vt:lpwstr>
  </property>
  <property fmtid="{D5CDD505-2E9C-101B-9397-08002B2CF9AE}" pid="9" name="ContentTypeId">
    <vt:lpwstr>0x010100CCA15E12C9654546B120E917877BDE54</vt:lpwstr>
  </property>
</Properties>
</file>